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CFBE8-A494-EFD2-972A-D119415E5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B0DE1-1F7B-91E7-2AD4-241728C22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06B43-B48B-9BB2-7091-56AB09E3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538C4-36E5-4F8C-9DB5-DB8001B7712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C4B84-3663-F1CC-2E2D-4F21639B0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45804-6DC0-3293-F736-542DCD355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C9D-F006-4F2B-93A5-7DA4B797C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590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659E1-6DD4-B153-725D-8371411AC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37050-6FF1-3B6C-AE98-EA2B058C6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1BA2A-B5E1-F597-AAB7-4B42BDD64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538C4-36E5-4F8C-9DB5-DB8001B7712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20264-662F-E3E8-9D33-04E777BE6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D90CF-AE2C-9431-A738-562D46D2C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C9D-F006-4F2B-93A5-7DA4B797C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949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433AD-ADF9-B9A0-9DBA-3CD7AD2D7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222A9-FB77-C97E-2078-366E892DC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31FAC-3F7F-9E24-989C-CEA27A0F2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538C4-36E5-4F8C-9DB5-DB8001B7712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5CEC0-0F48-8C02-03D0-D91FFD5BE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CF9D8-B02D-DA5C-8C9C-CA301A8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C9D-F006-4F2B-93A5-7DA4B797C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185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3A981-0843-2937-765B-54958DF8C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65AB0-B53E-38C4-878C-E20786A75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11AE2-1668-09F7-065F-D65249C6A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7801F-86F3-A7DF-46B0-41D00959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538C4-36E5-4F8C-9DB5-DB8001B7712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8FDAA-4E42-D9B9-8801-913E0035F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10C3B-052F-A3F2-6158-0BD3DF81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C9D-F006-4F2B-93A5-7DA4B797C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52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A825A-8380-06D2-4BB4-D3AAB5402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AA4BA-3043-368B-6E8A-BC2E84212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889E6-E679-A2A7-20F3-2EFD141BB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022BD1-E6B1-6AB2-CA93-639D0B012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6149B-21FC-29F0-1EAE-0E614532A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64DA40-2CF2-A625-97EF-2169E05D3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538C4-36E5-4F8C-9DB5-DB8001B7712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4D3B2E-7555-A76C-8C1C-EAAA2BB25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93E9E9-59C4-43C8-EE07-DC12D3735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C9D-F006-4F2B-93A5-7DA4B797C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369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B9FED-D682-8C12-244D-0B735AF08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DBA5AD-DA7E-52C2-58CE-ABDB4A89F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538C4-36E5-4F8C-9DB5-DB8001B7712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7DC74-2DEC-6222-2181-E84D54365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2797A-3D41-EFD3-F367-C469CFCB5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C9D-F006-4F2B-93A5-7DA4B797C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652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27FF81-89DE-1E00-88BC-E6CD78213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538C4-36E5-4F8C-9DB5-DB8001B7712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5CABBC-A662-50A2-FF16-401D8E03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82323-2441-B2DC-A5A4-C67BBEFF2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C9D-F006-4F2B-93A5-7DA4B797C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473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81C7-3394-FBFA-F231-A9CBD74A1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CD0A3-6000-8120-7273-8DA2ED08B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0FDFA-5162-BE1E-C997-60B00179B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F6EF4-412E-3A84-5933-8F0D298D7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538C4-36E5-4F8C-9DB5-DB8001B7712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020E7-CF88-9FEB-0BE2-5BAF72ECB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1600E-3B60-9425-6998-5347CF805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C9D-F006-4F2B-93A5-7DA4B797C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095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2F86-0AC1-3766-ADF5-4AB6689DB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6D7435-0323-F0CF-5982-A183644DD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870BF-645B-0785-0831-CF20E692F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6BCA8-A9FD-834E-9FD9-5A0E60DBA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538C4-36E5-4F8C-9DB5-DB8001B7712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4F22C-77BC-ACD2-749E-F34974C9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93351-CE73-9574-8B68-66F18A07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C9D-F006-4F2B-93A5-7DA4B797C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125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43EB0-0CEC-78A2-F99D-80DEE1D2D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074EE-ACBC-7729-13ED-0C0214770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1FB19-1BA5-7551-0AF1-9633B057D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538C4-36E5-4F8C-9DB5-DB8001B7712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9C2EA-25B6-EF25-5EF7-4AFED9659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2D4A2-0D8B-0C3A-36A2-006AC5C86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C9D-F006-4F2B-93A5-7DA4B797C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181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930307-FE3D-A1E2-6F6B-30206C43E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95F9E-92A3-03EE-B2B2-D41440772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2A9A6-77CC-BD2B-F0D8-EBE4D9C58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538C4-36E5-4F8C-9DB5-DB8001B7712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01811-8477-2CAC-0E12-CF8E2A491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34B10-7958-42ED-FFEF-6C50F923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C9D-F006-4F2B-93A5-7DA4B797C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671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66F030-55EB-C4D7-DDED-ABA78E8E3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066E6-9E38-5BBF-B52E-5BDC9D99C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3027B-2CAA-BD03-F63E-E60091840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538C4-36E5-4F8C-9DB5-DB8001B7712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DAA23-349E-58F9-CFED-58F770EA37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42778-9B5E-07E4-5F29-DB682D647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A2C9D-F006-4F2B-93A5-7DA4B797C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892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67809-1484-E08B-C6F8-01120711E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919" y="276412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Dataflow Optimization &amp; Performance</a:t>
            </a:r>
            <a:br>
              <a:rPr lang="en-US" b="1" dirty="0"/>
            </a:br>
            <a:r>
              <a:rPr lang="en-US" b="1" dirty="0"/>
              <a:t>Microsoft Fabric – Dataflows Gen2</a:t>
            </a:r>
            <a:br>
              <a:rPr lang="en-US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876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9AD99-CEB5-12BE-7EBF-A6CB6F9F0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Optimization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Dataflow performance is optimized by preserving query folding, reducing data early, and using incremental refresh.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Incremental Refresh: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Incremental refresh processes only new or changed data to improve performance and reduce cost.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5413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6CAD7-CFB2-A4FA-5C4E-88BB8534D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1️⃣ Query Optimization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2E079-6E1F-07FE-08DC-69AA16F68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654" y="1162843"/>
            <a:ext cx="10515600" cy="551851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🔹 Enable &amp; Preserve Query Folding</a:t>
            </a:r>
          </a:p>
          <a:p>
            <a:r>
              <a:rPr lang="en-US" dirty="0"/>
              <a:t>Push transformations to the source system</a:t>
            </a:r>
          </a:p>
          <a:p>
            <a:r>
              <a:rPr lang="en-US" dirty="0"/>
              <a:t>Use filters, selects, and joins early</a:t>
            </a:r>
          </a:p>
          <a:p>
            <a:r>
              <a:rPr lang="en-US" dirty="0"/>
              <a:t>✅ Supported:</a:t>
            </a:r>
          </a:p>
          <a:p>
            <a:r>
              <a:rPr lang="en-US" dirty="0"/>
              <a:t>Filter rows</a:t>
            </a:r>
          </a:p>
          <a:p>
            <a:r>
              <a:rPr lang="en-US" dirty="0"/>
              <a:t>Select columns</a:t>
            </a:r>
          </a:p>
          <a:p>
            <a:r>
              <a:rPr lang="en-US" dirty="0"/>
              <a:t>Group by (source-dependent)</a:t>
            </a:r>
          </a:p>
          <a:p>
            <a:r>
              <a:rPr lang="en-US" dirty="0"/>
              <a:t>❌ Breaks folding:</a:t>
            </a:r>
          </a:p>
          <a:p>
            <a:r>
              <a:rPr lang="en-US" dirty="0"/>
              <a:t>Custom M functions</a:t>
            </a:r>
          </a:p>
          <a:p>
            <a:r>
              <a:rPr lang="en-US" dirty="0"/>
              <a:t>Row-by-row logic</a:t>
            </a:r>
          </a:p>
          <a:p>
            <a:r>
              <a:rPr lang="en-US" dirty="0"/>
              <a:t>Regex operations (sometimes)</a:t>
            </a:r>
          </a:p>
          <a:p>
            <a:endParaRPr lang="en-US" dirty="0"/>
          </a:p>
          <a:p>
            <a:r>
              <a:rPr lang="en-US" b="1" dirty="0"/>
              <a:t>🔹 Reduce Data Early</a:t>
            </a:r>
          </a:p>
          <a:p>
            <a:r>
              <a:rPr lang="en-US" dirty="0"/>
              <a:t>Filter rows at source</a:t>
            </a:r>
          </a:p>
          <a:p>
            <a:r>
              <a:rPr lang="en-US" dirty="0"/>
              <a:t>Remove unused columns</a:t>
            </a:r>
          </a:p>
          <a:p>
            <a:r>
              <a:rPr lang="en-US" dirty="0"/>
              <a:t>📌 Less data = faster refresh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61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F0894-6DA9-206F-58B2-09AAE7C12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00100"/>
          </a:xfrm>
        </p:spPr>
        <p:txBody>
          <a:bodyPr/>
          <a:lstStyle/>
          <a:p>
            <a:r>
              <a:rPr lang="en-IN" dirty="0"/>
              <a:t>🔹 Optimize Transform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F7537-2815-07FD-CF52-A78654C46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Filter → Select → Join → Transform → Calculate</a:t>
            </a:r>
          </a:p>
        </p:txBody>
      </p:sp>
    </p:spTree>
    <p:extLst>
      <p:ext uri="{BB962C8B-B14F-4D97-AF65-F5344CB8AC3E}">
        <p14:creationId xmlns:p14="http://schemas.microsoft.com/office/powerpoint/2010/main" val="3943339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72263-DABC-7BB4-DE0E-27B160AEB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/>
          <a:lstStyle/>
          <a:p>
            <a:r>
              <a:rPr lang="en-IN" dirty="0"/>
              <a:t>2️⃣ Incremental Refresh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9FE87-DF31-F0FF-6086-02337E8F7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🔹 What is Incremental Refresh?</a:t>
            </a:r>
          </a:p>
          <a:p>
            <a:r>
              <a:rPr lang="en-IN" dirty="0"/>
              <a:t>Only processes </a:t>
            </a:r>
            <a:r>
              <a:rPr lang="en-IN" b="1" dirty="0"/>
              <a:t>new or changed data</a:t>
            </a:r>
            <a:r>
              <a:rPr lang="en-IN" dirty="0"/>
              <a:t> instead of full reload.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🔹 Benefits</a:t>
            </a:r>
          </a:p>
          <a:p>
            <a:r>
              <a:rPr lang="en-IN" dirty="0"/>
              <a:t>✔️ Faster refresh</a:t>
            </a:r>
            <a:br>
              <a:rPr lang="en-IN" dirty="0"/>
            </a:br>
            <a:r>
              <a:rPr lang="en-IN" dirty="0"/>
              <a:t>✔️ Lower capacity usage</a:t>
            </a:r>
            <a:br>
              <a:rPr lang="en-IN" dirty="0"/>
            </a:br>
            <a:r>
              <a:rPr lang="en-IN" dirty="0"/>
              <a:t>✔️ Scales for large datasets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🔹 Typical Setup</a:t>
            </a:r>
          </a:p>
          <a:p>
            <a:r>
              <a:rPr lang="en-IN" dirty="0"/>
              <a:t>Date/time column (e.g., </a:t>
            </a:r>
            <a:r>
              <a:rPr lang="en-IN" dirty="0" err="1"/>
              <a:t>OrderDate</a:t>
            </a:r>
            <a:r>
              <a:rPr lang="en-IN" dirty="0"/>
              <a:t>)</a:t>
            </a:r>
          </a:p>
          <a:p>
            <a:r>
              <a:rPr lang="en-IN" dirty="0"/>
              <a:t>Retention policy (e.g., 3 years)</a:t>
            </a:r>
          </a:p>
          <a:p>
            <a:r>
              <a:rPr lang="en-IN" dirty="0"/>
              <a:t>Refresh window (e.g., last 7 days)</a:t>
            </a:r>
          </a:p>
          <a:p>
            <a:r>
              <a:rPr lang="en-IN" dirty="0"/>
              <a:t>📌 Destination-dependent (Warehouse/Lakehouse)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7267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F8375-3318-A0D0-6492-C8285DF79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18255"/>
            <a:ext cx="12379036" cy="823409"/>
          </a:xfrm>
        </p:spPr>
        <p:txBody>
          <a:bodyPr/>
          <a:lstStyle/>
          <a:p>
            <a:r>
              <a:rPr lang="en-US" dirty="0"/>
              <a:t>3️⃣ Memory Management &amp; Resource Allocation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4CDFA-623A-9BC0-FC9C-AC44CEC21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🔹 Fabric Capacity Impact</a:t>
            </a:r>
          </a:p>
          <a:p>
            <a:r>
              <a:rPr lang="en-IN" dirty="0"/>
              <a:t>Dataflows consume </a:t>
            </a:r>
            <a:r>
              <a:rPr lang="en-IN" b="1" dirty="0"/>
              <a:t>capacity units (CU)</a:t>
            </a:r>
            <a:endParaRPr lang="en-IN" dirty="0"/>
          </a:p>
          <a:p>
            <a:r>
              <a:rPr lang="en-IN" dirty="0"/>
              <a:t>Large transformations = higher memory usage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🔹 Best Practices</a:t>
            </a:r>
          </a:p>
          <a:p>
            <a:r>
              <a:rPr lang="en-IN" dirty="0"/>
              <a:t>✔️ Split large dataflows</a:t>
            </a:r>
            <a:br>
              <a:rPr lang="en-IN" dirty="0"/>
            </a:br>
            <a:r>
              <a:rPr lang="en-IN" dirty="0"/>
              <a:t>✔️ Avoid wide tables</a:t>
            </a:r>
            <a:br>
              <a:rPr lang="en-IN" dirty="0"/>
            </a:br>
            <a:r>
              <a:rPr lang="en-IN" dirty="0"/>
              <a:t>✔️ Use reference queries</a:t>
            </a:r>
            <a:br>
              <a:rPr lang="en-IN" dirty="0"/>
            </a:br>
            <a:r>
              <a:rPr lang="en-IN" dirty="0"/>
              <a:t>✔️ Reduce cardinality early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6178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6C828-62D5-51B7-FC7C-5D0BA672F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/>
              <a:t>4️⃣ Parallel Processing &amp; Partitioning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CC87C-7D7B-2888-28AC-2C3B09CD4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🔹 Parallel Processing</a:t>
            </a:r>
          </a:p>
          <a:p>
            <a:r>
              <a:rPr lang="en-IN" dirty="0"/>
              <a:t>Fabric executes independent queries in parallel</a:t>
            </a:r>
          </a:p>
          <a:p>
            <a:r>
              <a:rPr lang="en-IN" dirty="0"/>
              <a:t>Improves throughput</a:t>
            </a:r>
          </a:p>
          <a:p>
            <a:r>
              <a:rPr lang="en-IN" dirty="0"/>
              <a:t>📌 Design independent dataflows where possible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🔹 Partitioning</a:t>
            </a:r>
          </a:p>
          <a:p>
            <a:r>
              <a:rPr lang="en-IN" dirty="0"/>
              <a:t>Split data by date, region, or category</a:t>
            </a:r>
          </a:p>
          <a:p>
            <a:r>
              <a:rPr lang="en-IN" dirty="0"/>
              <a:t>Used with incremental refresh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Sales_2024</a:t>
            </a:r>
          </a:p>
          <a:p>
            <a:r>
              <a:rPr lang="en-IN" dirty="0"/>
              <a:t>Sales_2025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697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114B-CEB9-4718-001A-F76AFD244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IN" dirty="0"/>
              <a:t>5️⃣ Monitoring Dataflow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4DF64-3BF9-E679-49B0-B1546B10D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🔹 Monitoring Tools</a:t>
            </a:r>
          </a:p>
          <a:p>
            <a:r>
              <a:rPr lang="en-US" dirty="0"/>
              <a:t>Fabric Monitoring Hub</a:t>
            </a:r>
          </a:p>
          <a:p>
            <a:r>
              <a:rPr lang="en-US" dirty="0"/>
              <a:t>Capacity Metrics App</a:t>
            </a:r>
          </a:p>
          <a:p>
            <a:r>
              <a:rPr lang="en-US" dirty="0"/>
              <a:t>Refresh history</a:t>
            </a:r>
          </a:p>
          <a:p>
            <a:endParaRPr lang="en-IN" dirty="0"/>
          </a:p>
          <a:p>
            <a:r>
              <a:rPr lang="en-IN" dirty="0"/>
              <a:t>Key Metrics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290121-D1F2-FDCB-E6B8-BBD3744B5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395888"/>
              </p:ext>
            </p:extLst>
          </p:nvPr>
        </p:nvGraphicFramePr>
        <p:xfrm>
          <a:off x="4218708" y="4157158"/>
          <a:ext cx="6982692" cy="1828800"/>
        </p:xfrm>
        <a:graphic>
          <a:graphicData uri="http://schemas.openxmlformats.org/drawingml/2006/table">
            <a:tbl>
              <a:tblPr/>
              <a:tblGrid>
                <a:gridCol w="3491346">
                  <a:extLst>
                    <a:ext uri="{9D8B030D-6E8A-4147-A177-3AD203B41FA5}">
                      <a16:colId xmlns:a16="http://schemas.microsoft.com/office/drawing/2014/main" val="1168323034"/>
                    </a:ext>
                  </a:extLst>
                </a:gridCol>
                <a:gridCol w="3491346">
                  <a:extLst>
                    <a:ext uri="{9D8B030D-6E8A-4147-A177-3AD203B41FA5}">
                      <a16:colId xmlns:a16="http://schemas.microsoft.com/office/drawing/2014/main" val="25600823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911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Refresh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151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645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 trends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958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Throughput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Efficiency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68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525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ED5AA-B354-6353-DFAF-C5260994A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6️⃣ Common Performance Issues &amp; Fixes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3A33DE-A91F-FBB4-A6D9-ADC35DBDD8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9878975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756236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65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 refresh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Enable folding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844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 errors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Split dataflow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084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356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CU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Incremental refresh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699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639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EACD7-EE35-465C-0FA7-5C783F7AD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7️⃣ Real-World Optimization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7AFD0-8B38-79C1-D5F5-48BF58627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Problem:</a:t>
            </a:r>
            <a:endParaRPr lang="en-IN" dirty="0"/>
          </a:p>
          <a:p>
            <a:r>
              <a:rPr lang="en-IN" dirty="0"/>
              <a:t>Daily 200M records refresh takes 6 hours</a:t>
            </a:r>
          </a:p>
          <a:p>
            <a:r>
              <a:rPr lang="en-IN" b="1" dirty="0"/>
              <a:t>Solution:</a:t>
            </a:r>
            <a:br>
              <a:rPr lang="en-IN" dirty="0"/>
            </a:br>
            <a:r>
              <a:rPr lang="en-IN" dirty="0"/>
              <a:t>✔️ Incremental refresh</a:t>
            </a:r>
            <a:br>
              <a:rPr lang="en-IN" dirty="0"/>
            </a:br>
            <a:r>
              <a:rPr lang="en-IN" dirty="0"/>
              <a:t>✔️ Filter at source</a:t>
            </a:r>
            <a:br>
              <a:rPr lang="en-IN" dirty="0"/>
            </a:br>
            <a:r>
              <a:rPr lang="en-IN" dirty="0"/>
              <a:t>✔️ Partition by date</a:t>
            </a:r>
            <a:br>
              <a:rPr lang="en-IN" dirty="0"/>
            </a:br>
            <a:r>
              <a:rPr lang="en-IN" dirty="0"/>
              <a:t>✔️ Reference master tables</a:t>
            </a:r>
          </a:p>
          <a:p>
            <a:r>
              <a:rPr lang="en-IN" b="1" dirty="0"/>
              <a:t>Result:</a:t>
            </a:r>
            <a:br>
              <a:rPr lang="en-IN" dirty="0"/>
            </a:br>
            <a:r>
              <a:rPr lang="en-IN" dirty="0"/>
              <a:t>🚀 Refresh time reduced to 20 minutes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5853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Dataflow Optimization &amp; Performance Microsoft Fabric – Dataflows Gen2 </vt:lpstr>
      <vt:lpstr>PowerPoint Presentation</vt:lpstr>
      <vt:lpstr>1️⃣ Query Optimization Techniques</vt:lpstr>
      <vt:lpstr>🔹 Optimize Transform Order</vt:lpstr>
      <vt:lpstr>2️⃣ Incremental Refresh Configuration</vt:lpstr>
      <vt:lpstr>3️⃣ Memory Management &amp; Resource Allocation</vt:lpstr>
      <vt:lpstr>4️⃣ Parallel Processing &amp; Partitioning</vt:lpstr>
      <vt:lpstr>5️⃣ Monitoring Dataflow Performance</vt:lpstr>
      <vt:lpstr>6️⃣ Common Performance Issues &amp; Fixes</vt:lpstr>
      <vt:lpstr>7️⃣ Real-World Optimization Scenario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D</dc:creator>
  <cp:lastModifiedBy>Rajesh D</cp:lastModifiedBy>
  <cp:revision>1</cp:revision>
  <dcterms:created xsi:type="dcterms:W3CDTF">2026-01-07T08:20:26Z</dcterms:created>
  <dcterms:modified xsi:type="dcterms:W3CDTF">2026-01-07T08:20:26Z</dcterms:modified>
</cp:coreProperties>
</file>