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CE84-9A47-8ECC-D030-5A24F3DAD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128A4A-F8DD-D3CD-466F-DDC811DF2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23630-08EE-F07F-CF01-CED57C65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A4FE-4942-492F-8903-3EE7E307C02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8966B-3F16-ACB7-400B-615C9966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FCBD2-79B9-C37D-AA9E-AAEFD4F41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BC46-F850-46AE-824D-83C0163D9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55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AC09-59D7-1E0A-641F-3BCE8A1B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645F0-AD24-6871-4EA6-1731200AB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C84D5-0316-83A9-BBEC-C640F362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A4FE-4942-492F-8903-3EE7E307C02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DDCB4-1A62-6D06-25DC-76C5924AC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BC6C4-C14C-11A4-1057-DF28AA53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BC46-F850-46AE-824D-83C0163D9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25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394AB-12A4-6309-3CB2-EDF801CDD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89A35-FD84-F967-BDCE-FEDDA8652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6FD75-090E-D892-B76E-7BAAEB06E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A4FE-4942-492F-8903-3EE7E307C02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B05EA-AA88-93F4-C7DF-85FDFDB32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785C2-231D-3290-A7F3-FB0FB982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BC46-F850-46AE-824D-83C0163D9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957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53393-A68A-D73D-F140-56898D5D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32956-3055-CD1E-603D-29F41D8D1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CAD6D-7D4E-F4F3-7737-F93146E2F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90F0-8C91-4EB5-A857-BA3071BA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A4FE-4942-492F-8903-3EE7E307C02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B064E-4AFF-992A-72F9-608704528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C09A5-CBE6-B1DB-B1FB-DFCC0D86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BC46-F850-46AE-824D-83C0163D9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3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EB54C-0B56-C129-B39F-B96C4BFF8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0E089-2D7E-6987-6A58-879037180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1A2BD-EE26-D2B1-3F3A-29DD136BE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D4F60-8D4F-A71A-A88E-3E18E80CB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D5DAD-3A4C-A0DC-B171-78D8023B2B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16F533-BD2A-DA8C-2B3F-A466C02F2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A4FE-4942-492F-8903-3EE7E307C02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F7307-9567-66E3-2870-2AB31BB81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E259BE-1C2D-8BF6-9F97-590EEE3F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BC46-F850-46AE-824D-83C0163D9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313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6E09-52C7-77B9-BB29-2EAD5E291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75930-3E54-85BB-D7ED-959210FD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A4FE-4942-492F-8903-3EE7E307C02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EE618-965F-F30B-5C2E-3BF70AD5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37905-3E5F-C22E-4DDC-99B853BB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BC46-F850-46AE-824D-83C0163D9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418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7505CD-BFA2-49B1-CA78-9F2F0D7AD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A4FE-4942-492F-8903-3EE7E307C02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237517-60C2-0589-9FA5-8789F635A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9BB58-350B-35C6-9B2A-AE5172D0E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BC46-F850-46AE-824D-83C0163D9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12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6C32-7802-77E7-B050-A9F6BB61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36712-7A08-0FF9-3418-D3BC9B3BA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325461-306E-327F-F40A-AD4853D5E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EA36D-C5C5-06F8-0B71-9304B4BC2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A4FE-4942-492F-8903-3EE7E307C02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668D6-E655-95C0-0E5A-FF74C269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EEF42-2C0B-75F3-ECE9-6C21A3BD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BC46-F850-46AE-824D-83C0163D9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950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7F26F-3394-C2B4-F493-2B8A8DFD3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8BF90-E839-D324-182A-34CDD2A27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D010F-3655-0CF2-D2D0-E5FB69D89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57AAD-9525-9D6D-B005-A36197D1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A4FE-4942-492F-8903-3EE7E307C02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1ED97-C71D-913E-8DFA-398A69C8B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73A75-1929-0F68-DF89-F783F69E6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BC46-F850-46AE-824D-83C0163D9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86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A888-C3D1-BCE0-7DA3-037268D7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B5427-5AF8-6ECA-B50C-86FF2BB00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25CAE-4B1A-D453-EEED-A13EBC12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A4FE-4942-492F-8903-3EE7E307C02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20FFB-F778-E506-B036-83EEDE5BF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91AD2-2C0C-D1E0-5858-3A9AB0DB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BC46-F850-46AE-824D-83C0163D9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26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AD3732-BA3B-71F0-64AC-3999C50A6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BD32E-5D90-E2FF-BB10-831BF0868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3AC2E-C111-6573-2A12-B792999C0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A4FE-4942-492F-8903-3EE7E307C02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BD4EC-494C-AE31-CACC-D57CCD11A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0EFA1-3828-F7A7-DA00-FECBBEAA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BC46-F850-46AE-824D-83C0163D9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73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8CA990-104E-1C4E-9184-4052A90C6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E1C83-0BCC-EEB9-FAC8-19E585B3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D704A-6219-F707-240D-168212D8B6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3A4FE-4942-492F-8903-3EE7E307C02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A993D-F29E-8B0C-5CF0-2637E8362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5B4FC-BE5D-9B82-54F1-62EA24D97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BBC46-F850-46AE-824D-83C0163D9F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787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328F-1D55-A2A8-2C2E-4DF6E127E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22" y="2015981"/>
            <a:ext cx="12015355" cy="2387600"/>
          </a:xfrm>
        </p:spPr>
        <p:txBody>
          <a:bodyPr>
            <a:normAutofit/>
          </a:bodyPr>
          <a:lstStyle/>
          <a:p>
            <a:r>
              <a:rPr lang="en-US" b="1" dirty="0"/>
              <a:t>Dataflows Gen2 – Overview &amp; Power Query (Microsoft Fabric)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29267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B6AD-3C24-5C3E-244A-FEB75ED14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1️⃣ What is Dataflows Gen2?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A6A72-9E12-856D-24C8-791D300F1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36" y="1607416"/>
            <a:ext cx="10515600" cy="4351338"/>
          </a:xfrm>
        </p:spPr>
        <p:txBody>
          <a:bodyPr/>
          <a:lstStyle/>
          <a:p>
            <a:r>
              <a:rPr lang="en-US" b="1" dirty="0"/>
              <a:t>Dataflows Gen2</a:t>
            </a:r>
            <a:r>
              <a:rPr lang="en-US" dirty="0"/>
              <a:t> is the </a:t>
            </a:r>
            <a:r>
              <a:rPr lang="en-US" b="1" dirty="0"/>
              <a:t>next-generation ETL tool in Microsoft Fabric</a:t>
            </a:r>
            <a:r>
              <a:rPr lang="en-US" dirty="0"/>
              <a:t> that uses </a:t>
            </a:r>
            <a:r>
              <a:rPr lang="en-US" b="1" dirty="0"/>
              <a:t>Power Query</a:t>
            </a:r>
            <a:r>
              <a:rPr lang="en-US" dirty="0"/>
              <a:t> to ingest, transform, and load data into:</a:t>
            </a:r>
          </a:p>
          <a:p>
            <a:r>
              <a:rPr lang="en-US" dirty="0"/>
              <a:t>Lakehouse</a:t>
            </a:r>
          </a:p>
          <a:p>
            <a:r>
              <a:rPr lang="en-US" dirty="0"/>
              <a:t>Warehouse</a:t>
            </a:r>
          </a:p>
          <a:p>
            <a:r>
              <a:rPr lang="en-US" dirty="0"/>
              <a:t>Semantic models</a:t>
            </a:r>
          </a:p>
          <a:p>
            <a:r>
              <a:rPr lang="en-US" dirty="0"/>
              <a:t>👉 It is </a:t>
            </a:r>
            <a:r>
              <a:rPr lang="en-US" b="1" dirty="0"/>
              <a:t>cloud-native</a:t>
            </a:r>
            <a:r>
              <a:rPr lang="en-US" dirty="0"/>
              <a:t>, scalable, and tightly integrated with Fabric.</a:t>
            </a:r>
          </a:p>
          <a:p>
            <a:endParaRPr lang="en-US" dirty="0"/>
          </a:p>
          <a:p>
            <a:r>
              <a:rPr lang="en-US" b="1" dirty="0"/>
              <a:t>Dataflows Gen2 = Power Query + </a:t>
            </a:r>
            <a:r>
              <a:rPr lang="en-US" b="1" dirty="0" err="1"/>
              <a:t>OneLake</a:t>
            </a:r>
            <a:r>
              <a:rPr lang="en-US" b="1" dirty="0"/>
              <a:t> + Fabric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06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EBBF5-C853-E1EC-808C-AA0007F7E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64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2️⃣ Dataflows Gen1 vs Gen2 (Comparison)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E20074-646F-DD35-19C1-ECEBCA8A4A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7499737"/>
              </p:ext>
            </p:extLst>
          </p:nvPr>
        </p:nvGraphicFramePr>
        <p:xfrm>
          <a:off x="214746" y="1349533"/>
          <a:ext cx="10515600" cy="4562894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510124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633456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40222596"/>
                    </a:ext>
                  </a:extLst>
                </a:gridCol>
              </a:tblGrid>
              <a:tr h="65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highlight>
                            <a:srgbClr val="FFFF00"/>
                          </a:highlight>
                        </a:rPr>
                        <a:t>Gen1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Gen2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543580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BI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Microsoft Fabric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131109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CDM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OneLake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451241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Destinations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(Lakehouse, Warehouse)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725251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777940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Reusability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626051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Orchestration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Advanced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525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56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1A16E-2E6D-9E95-A68A-58084A3C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3️⃣ Power Query Engine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B1505-53AB-26F0-748B-DE766517E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36" y="993558"/>
            <a:ext cx="10515600" cy="547997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Power Query is the </a:t>
            </a:r>
            <a:r>
              <a:rPr lang="en-IN" b="1" dirty="0"/>
              <a:t>data transformation engine</a:t>
            </a:r>
            <a:r>
              <a:rPr lang="en-IN" dirty="0"/>
              <a:t> behind Dataflows Gen2.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 Used in:</a:t>
            </a:r>
          </a:p>
          <a:p>
            <a:r>
              <a:rPr lang="en-IN" dirty="0"/>
              <a:t>Power BI</a:t>
            </a:r>
          </a:p>
          <a:p>
            <a:r>
              <a:rPr lang="en-IN" dirty="0"/>
              <a:t>Excel</a:t>
            </a:r>
          </a:p>
          <a:p>
            <a:r>
              <a:rPr lang="en-IN" dirty="0"/>
              <a:t>Dataflows</a:t>
            </a:r>
          </a:p>
          <a:p>
            <a:r>
              <a:rPr lang="en-IN" dirty="0"/>
              <a:t>Fabric pipelines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Handles:</a:t>
            </a:r>
          </a:p>
          <a:p>
            <a:r>
              <a:rPr lang="en-IN" dirty="0"/>
              <a:t>Data ingestion</a:t>
            </a:r>
          </a:p>
          <a:p>
            <a:r>
              <a:rPr lang="en-IN" dirty="0"/>
              <a:t>Cleaning</a:t>
            </a:r>
          </a:p>
          <a:p>
            <a:r>
              <a:rPr lang="en-IN" dirty="0"/>
              <a:t>Shaping</a:t>
            </a:r>
          </a:p>
          <a:p>
            <a:r>
              <a:rPr lang="en-IN" dirty="0"/>
              <a:t>Enrichment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8936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B97B-9480-48A0-7FD8-CB5777AB0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781845"/>
          </a:xfrm>
        </p:spPr>
        <p:txBody>
          <a:bodyPr/>
          <a:lstStyle/>
          <a:p>
            <a:r>
              <a:rPr lang="en-US" dirty="0"/>
              <a:t>4️⃣ Power Query M Language (Basics)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A5AF9-1BA7-5FDA-487E-7E450E3A5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391" y="1347642"/>
            <a:ext cx="10515600" cy="5396057"/>
          </a:xfrm>
        </p:spPr>
        <p:txBody>
          <a:bodyPr/>
          <a:lstStyle/>
          <a:p>
            <a:r>
              <a:rPr lang="en-IN" b="1" dirty="0"/>
              <a:t>M language</a:t>
            </a:r>
            <a:r>
              <a:rPr lang="en-IN" dirty="0"/>
              <a:t> is a functional language used internally by Power Query.</a:t>
            </a:r>
          </a:p>
          <a:p>
            <a:r>
              <a:rPr lang="en-IN" b="1" dirty="0"/>
              <a:t>🔹 Example M Code</a:t>
            </a:r>
          </a:p>
          <a:p>
            <a:r>
              <a:rPr lang="en-IN" dirty="0"/>
              <a:t>Source = </a:t>
            </a:r>
            <a:r>
              <a:rPr lang="en-IN" dirty="0" err="1"/>
              <a:t>Sql.Database</a:t>
            </a:r>
            <a:r>
              <a:rPr lang="en-IN" dirty="0"/>
              <a:t>("server","</a:t>
            </a:r>
            <a:r>
              <a:rPr lang="en-IN" dirty="0" err="1"/>
              <a:t>db</a:t>
            </a:r>
            <a:r>
              <a:rPr lang="en-IN" dirty="0"/>
              <a:t>"),</a:t>
            </a:r>
          </a:p>
          <a:p>
            <a:r>
              <a:rPr lang="en-IN" dirty="0" err="1"/>
              <a:t>FilteredRows</a:t>
            </a:r>
            <a:r>
              <a:rPr lang="en-IN" dirty="0"/>
              <a:t> = </a:t>
            </a:r>
            <a:r>
              <a:rPr lang="en-IN" dirty="0" err="1"/>
              <a:t>Table.SelectRows</a:t>
            </a:r>
            <a:r>
              <a:rPr lang="en-IN" dirty="0"/>
              <a:t>(Source, each [Amount] &gt; 1000)</a:t>
            </a:r>
          </a:p>
          <a:p>
            <a:r>
              <a:rPr lang="en-IN" dirty="0"/>
              <a:t>📌 Users usually don’t write M manually</a:t>
            </a:r>
            <a:br>
              <a:rPr lang="en-IN" dirty="0"/>
            </a:br>
            <a:r>
              <a:rPr lang="en-IN" dirty="0"/>
              <a:t>📌 Visual UI auto-generates M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831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BF93-BAB1-6C88-1B18-F1368F685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740281"/>
          </a:xfrm>
        </p:spPr>
        <p:txBody>
          <a:bodyPr/>
          <a:lstStyle/>
          <a:p>
            <a:r>
              <a:rPr lang="pt-BR" dirty="0"/>
              <a:t>5️⃣ Visual Data Transformation Interface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1227A-2185-8F04-84B9-94A9170E8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Power Query provides a </a:t>
            </a:r>
            <a:r>
              <a:rPr lang="en-IN" b="1" dirty="0"/>
              <a:t>no-code / low-code UI</a:t>
            </a:r>
            <a:r>
              <a:rPr lang="en-IN" dirty="0"/>
              <a:t>:</a:t>
            </a:r>
          </a:p>
          <a:p>
            <a:r>
              <a:rPr lang="en-IN" dirty="0"/>
              <a:t>✔️ Filter rows</a:t>
            </a:r>
            <a:br>
              <a:rPr lang="en-IN" dirty="0"/>
            </a:br>
            <a:r>
              <a:rPr lang="en-IN" dirty="0"/>
              <a:t>✔️ Remove columns</a:t>
            </a:r>
            <a:br>
              <a:rPr lang="en-IN" dirty="0"/>
            </a:br>
            <a:r>
              <a:rPr lang="en-IN" dirty="0"/>
              <a:t>✔️ Split / merge columns</a:t>
            </a:r>
            <a:br>
              <a:rPr lang="en-IN" dirty="0"/>
            </a:br>
            <a:r>
              <a:rPr lang="en-IN" dirty="0"/>
              <a:t>✔️ Change data types</a:t>
            </a:r>
            <a:br>
              <a:rPr lang="en-IN" dirty="0"/>
            </a:br>
            <a:r>
              <a:rPr lang="en-IN" dirty="0"/>
              <a:t>✔️ Deduplicate data</a:t>
            </a:r>
          </a:p>
          <a:p>
            <a:r>
              <a:rPr lang="en-IN" dirty="0"/>
              <a:t>👉 Every step is recorded and reusable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660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DA0EA-3294-5042-D9B7-DD8A690BE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001500" cy="937709"/>
          </a:xfrm>
        </p:spPr>
        <p:txBody>
          <a:bodyPr/>
          <a:lstStyle/>
          <a:p>
            <a:r>
              <a:rPr lang="en-IN" dirty="0"/>
              <a:t>6️⃣ Data Source Connections &amp;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D3B5D-13C5-00EC-B4AF-AC4B9BE56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🔹 Supported Sources</a:t>
            </a:r>
          </a:p>
          <a:p>
            <a:r>
              <a:rPr lang="en-IN" dirty="0"/>
              <a:t>Azure SQL</a:t>
            </a:r>
          </a:p>
          <a:p>
            <a:r>
              <a:rPr lang="en-IN" dirty="0"/>
              <a:t>SQL Server</a:t>
            </a:r>
          </a:p>
          <a:p>
            <a:r>
              <a:rPr lang="en-IN" dirty="0"/>
              <a:t>MySQL</a:t>
            </a:r>
          </a:p>
          <a:p>
            <a:r>
              <a:rPr lang="en-IN" dirty="0"/>
              <a:t>Oracle</a:t>
            </a:r>
          </a:p>
          <a:p>
            <a:r>
              <a:rPr lang="en-IN" dirty="0"/>
              <a:t>SAP</a:t>
            </a:r>
          </a:p>
          <a:p>
            <a:r>
              <a:rPr lang="en-IN" dirty="0"/>
              <a:t>REST APIs</a:t>
            </a:r>
          </a:p>
          <a:p>
            <a:r>
              <a:rPr lang="en-IN" dirty="0"/>
              <a:t>Files (CSV, Excel, JSON)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169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14532-3980-20F7-D30D-3E3C03DEC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13018"/>
          </a:xfrm>
        </p:spPr>
        <p:txBody>
          <a:bodyPr/>
          <a:lstStyle/>
          <a:p>
            <a:r>
              <a:rPr lang="en-IN" dirty="0"/>
              <a:t>Authentication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3CCD8-3978-4503-799E-2273675763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0442359"/>
              </p:ext>
            </p:extLst>
          </p:nvPr>
        </p:nvGraphicFramePr>
        <p:xfrm>
          <a:off x="349827" y="1625933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391248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70248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highlight>
                            <a:srgbClr val="FFFF00"/>
                          </a:highlight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747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OAuth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SaaS sources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96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Basic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Legacy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300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889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Service Principal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8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Gateway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On-prem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797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7001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1DEA0-ABC6-88A5-02D7-A0BDBC2C8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1" y="1"/>
            <a:ext cx="10515600" cy="872836"/>
          </a:xfrm>
        </p:spPr>
        <p:txBody>
          <a:bodyPr/>
          <a:lstStyle/>
          <a:p>
            <a:r>
              <a:rPr lang="en-US" dirty="0"/>
              <a:t>7️⃣ Query Folding (IMPORTANT CONCEPT)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12CCD-7C8E-9F30-7CF3-5D373D065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" y="1337252"/>
            <a:ext cx="10515600" cy="4351338"/>
          </a:xfrm>
        </p:spPr>
        <p:txBody>
          <a:bodyPr/>
          <a:lstStyle/>
          <a:p>
            <a:r>
              <a:rPr lang="en-US" b="1" dirty="0"/>
              <a:t>🔹 What is Query Folding?</a:t>
            </a:r>
          </a:p>
          <a:p>
            <a:r>
              <a:rPr lang="en-US" dirty="0"/>
              <a:t>Power Query pushes transformations </a:t>
            </a:r>
            <a:r>
              <a:rPr lang="en-US" b="1" dirty="0"/>
              <a:t>back to the source system</a:t>
            </a:r>
            <a:r>
              <a:rPr lang="en-US" dirty="0"/>
              <a:t>.</a:t>
            </a:r>
          </a:p>
          <a:p>
            <a:r>
              <a:rPr lang="en-US" dirty="0"/>
              <a:t>Power Query → SQL Query → 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4289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BF942-932B-807D-5956-1E1CAA82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64" y="18256"/>
            <a:ext cx="10515600" cy="885754"/>
          </a:xfrm>
        </p:spPr>
        <p:txBody>
          <a:bodyPr/>
          <a:lstStyle/>
          <a:p>
            <a:r>
              <a:rPr lang="en-IN" dirty="0"/>
              <a:t>8️⃣ Dataflow Deployment &amp; Refresh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6BC62-2030-8DB3-1172-3D68A0B5A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63" y="1253331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🔹 Deployment</a:t>
            </a:r>
          </a:p>
          <a:p>
            <a:r>
              <a:rPr lang="en-IN" dirty="0"/>
              <a:t>Create in DEV workspace</a:t>
            </a:r>
          </a:p>
          <a:p>
            <a:r>
              <a:rPr lang="en-IN" dirty="0"/>
              <a:t>Deploy to TEST / PROD using pipelines</a:t>
            </a:r>
          </a:p>
          <a:p>
            <a:r>
              <a:rPr lang="en-IN" dirty="0"/>
              <a:t>Reuse logic across environments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🔹 Refresh Options</a:t>
            </a:r>
          </a:p>
          <a:p>
            <a:r>
              <a:rPr lang="en-IN" dirty="0"/>
              <a:t>Manual refresh</a:t>
            </a:r>
          </a:p>
          <a:p>
            <a:r>
              <a:rPr lang="en-IN" dirty="0"/>
              <a:t>Scheduled refresh</a:t>
            </a:r>
          </a:p>
          <a:p>
            <a:r>
              <a:rPr lang="en-IN" dirty="0"/>
              <a:t>Trigger via pipeline</a:t>
            </a:r>
          </a:p>
          <a:p>
            <a:r>
              <a:rPr lang="en-IN" dirty="0"/>
              <a:t>📌 Supports incremental refresh (destination dependent)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9112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CA9B-3C4C-9C83-E5C3-EAE6C584E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9️⃣ Where Dataflows Gen2 Fits in Fabric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9DAF0-DC4B-FBA0-A32D-D29C40FA9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Source Systems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Dataflows Gen2 (ETL)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 err="1"/>
              <a:t>OneLake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Lakehouse / Warehouse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004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Dataflows Gen2 – Overview &amp; Power Query (Microsoft Fabric)</vt:lpstr>
      <vt:lpstr>1️⃣ What is Dataflows Gen2?</vt:lpstr>
      <vt:lpstr>2️⃣ Dataflows Gen1 vs Gen2 (Comparison)</vt:lpstr>
      <vt:lpstr>3️⃣ Power Query Engine Overview</vt:lpstr>
      <vt:lpstr>4️⃣ Power Query M Language (Basics)</vt:lpstr>
      <vt:lpstr>5️⃣ Visual Data Transformation Interface</vt:lpstr>
      <vt:lpstr>6️⃣ Data Source Connections &amp; Authentication</vt:lpstr>
      <vt:lpstr>Authentication Methods</vt:lpstr>
      <vt:lpstr>7️⃣ Query Folding (IMPORTANT CONCEPT)</vt:lpstr>
      <vt:lpstr>8️⃣ Dataflow Deployment &amp; Refresh</vt:lpstr>
      <vt:lpstr>9️⃣ Where Dataflows Gen2 Fits in Fabric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1</cp:revision>
  <dcterms:created xsi:type="dcterms:W3CDTF">2026-01-07T08:01:25Z</dcterms:created>
  <dcterms:modified xsi:type="dcterms:W3CDTF">2026-01-07T08:01:49Z</dcterms:modified>
</cp:coreProperties>
</file>