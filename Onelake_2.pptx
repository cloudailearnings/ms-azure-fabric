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47E51-D8AC-8109-62F4-92829AAEEF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4B6458-1D20-F7A4-1B0A-7FDC8B08C7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5E4F9-D63F-A1FB-7DCC-3FBCB3BCF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51B85-ED95-4A75-A72D-1363C04699BB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2B75F-9083-4DAE-99E1-C767C2761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BC1A91-12E6-9B14-2B78-4456FF17D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9551B-F68B-4BD9-B79A-68C91281B8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0198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FF6C6-01E3-80FF-4F2C-9340929E4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D0CE5-51AC-5485-3848-62FA2E1CC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1886D-358F-3E01-B9E9-65535C7DC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51B85-ED95-4A75-A72D-1363C04699BB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1D660-F9CB-CD79-9713-DDFB2FBCC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F4B47-FB17-7C5E-2D8D-5E9069F2C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9551B-F68B-4BD9-B79A-68C91281B8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477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D6D40-9069-45A8-88D1-71985FA79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E3BA8D-D3E6-564C-E80E-E7D7BD511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01928-3F7B-79A9-B578-01C2197BE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51B85-ED95-4A75-A72D-1363C04699BB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A2877-0198-8327-51B7-939EFBE5A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F2106-12DF-E9D1-D672-591CC224D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9551B-F68B-4BD9-B79A-68C91281B8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5563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FC79A-6989-8553-D06C-8BE65FF58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622B8-E391-1F95-021E-420276FF66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4718AD-6391-E8F3-58C8-342D0BB5A8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CED695-8537-4E11-A2D3-601953A0C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51B85-ED95-4A75-A72D-1363C04699BB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36AC2C-7B63-558C-FA40-352D5E3BE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7C20CF-D89D-A629-431C-BDA9BA9C5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9551B-F68B-4BD9-B79A-68C91281B8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7962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96972-43CB-BFD1-013E-D16283349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B6C938-9177-DD10-E6B1-DC0D3967FF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A4DE51-EF1D-7039-6CD0-042BCDCB8D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18E28D-E363-290F-F6C2-AAEFBE61BE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D96A8D-0B5C-0A63-2B2B-13B7BA5B55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133CD9-59D8-E149-1F5E-8F93E8EED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51B85-ED95-4A75-A72D-1363C04699BB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F0D999-F300-8043-1D16-B438A56D0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029C6B-1F1C-FB19-2CEF-772467DA0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9551B-F68B-4BD9-B79A-68C91281B8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190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9EA73-CD49-8D15-1184-9334D83DA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D2761E-651D-2030-848A-EA1730B9D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51B85-ED95-4A75-A72D-1363C04699BB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F77C53-DC19-416E-D9AB-9CDC916A6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8448D0-5B1F-358F-84F3-3CB014C71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9551B-F68B-4BD9-B79A-68C91281B8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6637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8E0B57-1FA3-B106-4774-2F3A09014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51B85-ED95-4A75-A72D-1363C04699BB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6CA3E3-15CF-1CA3-0484-E4FBDEDDD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D7851B-5FDC-7787-EE90-FACF492FB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9551B-F68B-4BD9-B79A-68C91281B8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5884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38241-F1C8-0108-A021-56D066DA5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A6510-878E-5841-96AB-197929E84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1C060C-25F8-59DA-724C-2267B884A1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100E88-3509-7D96-F054-4C395D609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51B85-ED95-4A75-A72D-1363C04699BB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2D23AC-5211-7272-E0AD-1AB796028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2941EE-4C62-674D-887A-B03E79B5D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9551B-F68B-4BD9-B79A-68C91281B8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2586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F1ED7-F7B9-9609-A198-4BE43A480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861167-3F66-F488-CDC4-26CA7C2C66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D0B766-C65D-B9DD-FE5D-009D6C31E5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1F8F1F-F2E8-06AE-FDB6-7437FF5AB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51B85-ED95-4A75-A72D-1363C04699BB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9FC710-B548-094F-7FE5-C5AB20FED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A6C270-D022-E836-2AE4-3C3D010A8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9551B-F68B-4BD9-B79A-68C91281B8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04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5A41D-D996-6B73-C1D2-39A977243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6885D7-B147-29A3-327A-5681759C62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EC697-43CF-5968-7864-FDF9AB4AA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51B85-ED95-4A75-A72D-1363C04699BB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7A303C-0241-A255-EAA7-F81FFE472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0B511C-8628-0E5E-257F-4AC8EEE88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9551B-F68B-4BD9-B79A-68C91281B8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579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D6CB59-E299-24DA-01E4-4D4ADCEC58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4278D2-8137-B339-5EA1-269B4D5199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45DED-2A86-BB65-D010-6F24AF8C6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51B85-ED95-4A75-A72D-1363C04699BB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ED4CC-BEC1-A42C-FCF0-B7200FF2F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0AD7C-7258-AE6B-3635-06987E52A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9551B-F68B-4BD9-B79A-68C91281B8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6835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3C9FE2-A69A-52CC-22BF-DC25F155D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1B6C8E-10CB-1D83-24DB-64446843BE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3F3E2-C056-71D7-5632-F95347F7BD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51B85-ED95-4A75-A72D-1363C04699BB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2846E-F34E-57C8-035C-043A87980C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885F1-2C25-F856-5C79-EC049D9F53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A9551B-F68B-4BD9-B79A-68C91281B8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0907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2409C-DAD9-EEB5-4177-4D988AF445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err="1"/>
              <a:t>Onelake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626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A92C6-48D4-06C7-A006-013EBA01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457709" cy="831273"/>
          </a:xfrm>
        </p:spPr>
        <p:txBody>
          <a:bodyPr>
            <a:normAutofit/>
          </a:bodyPr>
          <a:lstStyle/>
          <a:p>
            <a:r>
              <a:rPr lang="en-US" sz="3200" b="1" dirty="0" err="1"/>
              <a:t>OneLake</a:t>
            </a:r>
            <a:r>
              <a:rPr lang="en-US" sz="3200" b="1" dirty="0"/>
              <a:t> Architecture &amp; Delta Lake Foundation (Microsoft Fabric)</a:t>
            </a:r>
            <a:endParaRPr lang="en-IN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31E85-375C-5AFF-3386-491C0309E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909" y="1077480"/>
            <a:ext cx="10515600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/>
              <a:t>1️⃣ What is </a:t>
            </a:r>
            <a:r>
              <a:rPr lang="en-IN" b="1" dirty="0" err="1"/>
              <a:t>OneLake</a:t>
            </a:r>
            <a:r>
              <a:rPr lang="en-IN" b="1" dirty="0"/>
              <a:t>?</a:t>
            </a:r>
          </a:p>
          <a:p>
            <a:r>
              <a:rPr lang="en-IN" b="1" dirty="0" err="1"/>
              <a:t>OneLake</a:t>
            </a:r>
            <a:r>
              <a:rPr lang="en-IN" dirty="0"/>
              <a:t> is the </a:t>
            </a:r>
            <a:r>
              <a:rPr lang="en-IN" b="1" dirty="0"/>
              <a:t>single, unified data lake</a:t>
            </a:r>
            <a:r>
              <a:rPr lang="en-IN" dirty="0"/>
              <a:t> for Microsoft Fabric</a:t>
            </a:r>
            <a:br>
              <a:rPr lang="en-IN" dirty="0"/>
            </a:br>
            <a:r>
              <a:rPr lang="en-IN" dirty="0"/>
              <a:t>— often called </a:t>
            </a:r>
            <a:r>
              <a:rPr lang="en-IN" b="1" dirty="0"/>
              <a:t>“OneDrive for Data.”</a:t>
            </a:r>
            <a:endParaRPr lang="en-IN" dirty="0"/>
          </a:p>
          <a:p>
            <a:r>
              <a:rPr lang="en-IN" dirty="0"/>
              <a:t>👉 All Fabric workloads </a:t>
            </a:r>
            <a:r>
              <a:rPr lang="en-IN" b="1" dirty="0"/>
              <a:t>read and write to </a:t>
            </a:r>
            <a:r>
              <a:rPr lang="en-IN" b="1" dirty="0" err="1"/>
              <a:t>OneLake</a:t>
            </a:r>
            <a:endParaRPr lang="en-IN" dirty="0"/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2️⃣ Why </a:t>
            </a:r>
            <a:r>
              <a:rPr lang="en-IN" b="1" dirty="0" err="1"/>
              <a:t>OneLake</a:t>
            </a:r>
            <a:r>
              <a:rPr lang="en-IN" b="1" dirty="0"/>
              <a:t> Was Introduced</a:t>
            </a:r>
          </a:p>
          <a:p>
            <a:r>
              <a:rPr lang="en-IN" dirty="0"/>
              <a:t>Traditional problems:</a:t>
            </a:r>
            <a:br>
              <a:rPr lang="en-IN" dirty="0"/>
            </a:br>
            <a:r>
              <a:rPr lang="en-IN" dirty="0"/>
              <a:t>❌ Multiple ADLS accounts</a:t>
            </a:r>
            <a:br>
              <a:rPr lang="en-IN" dirty="0"/>
            </a:br>
            <a:r>
              <a:rPr lang="en-IN" dirty="0"/>
              <a:t>❌ Data duplication</a:t>
            </a:r>
            <a:br>
              <a:rPr lang="en-IN" dirty="0"/>
            </a:br>
            <a:r>
              <a:rPr lang="en-IN" dirty="0"/>
              <a:t>❌ Complex security</a:t>
            </a:r>
            <a:br>
              <a:rPr lang="en-IN" dirty="0"/>
            </a:br>
            <a:r>
              <a:rPr lang="en-IN" dirty="0"/>
              <a:t>❌ Tool-specific storage</a:t>
            </a:r>
          </a:p>
          <a:p>
            <a:r>
              <a:rPr lang="en-IN" b="1" dirty="0" err="1"/>
              <a:t>OneLake</a:t>
            </a:r>
            <a:r>
              <a:rPr lang="en-IN" b="1" dirty="0"/>
              <a:t> solves this with:</a:t>
            </a:r>
            <a:br>
              <a:rPr lang="en-IN" dirty="0"/>
            </a:br>
            <a:r>
              <a:rPr lang="en-IN" dirty="0"/>
              <a:t>✔️ One copy of data</a:t>
            </a:r>
            <a:br>
              <a:rPr lang="en-IN" dirty="0"/>
            </a:br>
            <a:r>
              <a:rPr lang="en-IN" dirty="0"/>
              <a:t>✔️ One security model</a:t>
            </a:r>
            <a:br>
              <a:rPr lang="en-IN" dirty="0"/>
            </a:br>
            <a:r>
              <a:rPr lang="en-IN" dirty="0"/>
              <a:t>✔️ One governance layer</a:t>
            </a:r>
            <a:br>
              <a:rPr lang="en-IN" dirty="0"/>
            </a:br>
            <a:r>
              <a:rPr lang="en-IN" dirty="0"/>
              <a:t>✔️ One storage platform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3308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611DF-F05C-7181-7347-40795E373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467591"/>
          </a:xfrm>
        </p:spPr>
        <p:txBody>
          <a:bodyPr>
            <a:normAutofit fontScale="90000"/>
          </a:bodyPr>
          <a:lstStyle/>
          <a:p>
            <a:r>
              <a:rPr lang="en-IN" dirty="0"/>
              <a:t>Delta lakes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4C0BB-1D32-BC42-8307-EE772E674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04742"/>
            <a:ext cx="10515600" cy="5853257"/>
          </a:xfrm>
        </p:spPr>
        <p:txBody>
          <a:bodyPr>
            <a:normAutofit fontScale="77500" lnSpcReduction="20000"/>
          </a:bodyPr>
          <a:lstStyle/>
          <a:p>
            <a:r>
              <a:rPr lang="en-IN" dirty="0"/>
              <a:t>What is Delta Lake?</a:t>
            </a:r>
          </a:p>
          <a:p>
            <a:endParaRPr lang="en-IN" dirty="0"/>
          </a:p>
          <a:p>
            <a:r>
              <a:rPr lang="en-IN" b="1" dirty="0"/>
              <a:t>Delta Lake</a:t>
            </a:r>
            <a:r>
              <a:rPr lang="en-IN" dirty="0"/>
              <a:t> is an </a:t>
            </a:r>
            <a:r>
              <a:rPr lang="en-IN" b="1" dirty="0"/>
              <a:t>open-source storage framework</a:t>
            </a:r>
            <a:r>
              <a:rPr lang="en-IN" dirty="0"/>
              <a:t> that adds:</a:t>
            </a:r>
          </a:p>
          <a:p>
            <a:r>
              <a:rPr lang="en-IN" dirty="0"/>
              <a:t>ACID transactions</a:t>
            </a:r>
          </a:p>
          <a:p>
            <a:r>
              <a:rPr lang="en-IN" dirty="0"/>
              <a:t>Schema enforcement</a:t>
            </a:r>
          </a:p>
          <a:p>
            <a:r>
              <a:rPr lang="en-IN" dirty="0"/>
              <a:t>Time travel</a:t>
            </a:r>
          </a:p>
          <a:p>
            <a:r>
              <a:rPr lang="en-IN" dirty="0"/>
              <a:t>Metadata handling</a:t>
            </a:r>
          </a:p>
          <a:p>
            <a:r>
              <a:rPr lang="en-IN" dirty="0"/>
              <a:t>👉 Delta Lake sits </a:t>
            </a:r>
            <a:r>
              <a:rPr lang="en-IN" b="1" dirty="0"/>
              <a:t>on top of Parquet files</a:t>
            </a:r>
          </a:p>
          <a:p>
            <a:endParaRPr lang="en-IN" b="1" dirty="0"/>
          </a:p>
          <a:p>
            <a:r>
              <a:rPr lang="en-IN" b="1" dirty="0"/>
              <a:t>Why Delta Lake is Used in Fabric</a:t>
            </a:r>
          </a:p>
          <a:p>
            <a:r>
              <a:rPr lang="en-IN" dirty="0"/>
              <a:t>Traditional data lakes:</a:t>
            </a:r>
            <a:br>
              <a:rPr lang="en-IN" dirty="0"/>
            </a:br>
            <a:r>
              <a:rPr lang="en-IN" dirty="0"/>
              <a:t>❌ No transactions</a:t>
            </a:r>
            <a:br>
              <a:rPr lang="en-IN" dirty="0"/>
            </a:br>
            <a:r>
              <a:rPr lang="en-IN" dirty="0"/>
              <a:t>❌ Corrupted data</a:t>
            </a:r>
            <a:br>
              <a:rPr lang="en-IN" dirty="0"/>
            </a:br>
            <a:r>
              <a:rPr lang="en-IN" dirty="0"/>
              <a:t>❌ Schema drift</a:t>
            </a:r>
          </a:p>
          <a:p>
            <a:r>
              <a:rPr lang="en-IN" dirty="0"/>
              <a:t>Delta Lake solves this by:</a:t>
            </a:r>
            <a:br>
              <a:rPr lang="en-IN" dirty="0"/>
            </a:br>
            <a:r>
              <a:rPr lang="en-IN" dirty="0"/>
              <a:t>✔️ Reliable writes</a:t>
            </a:r>
            <a:br>
              <a:rPr lang="en-IN" dirty="0"/>
            </a:br>
            <a:r>
              <a:rPr lang="en-IN" dirty="0"/>
              <a:t>✔️ Consistent reads</a:t>
            </a:r>
            <a:br>
              <a:rPr lang="en-IN" dirty="0"/>
            </a:br>
            <a:r>
              <a:rPr lang="en-IN" dirty="0"/>
              <a:t>✔️ Versioned data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5910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1DC47-AA4B-6CDC-3C35-FA4BF709E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Delta Lake Architecture (Inside </a:t>
            </a:r>
            <a:r>
              <a:rPr lang="en-IN" b="1" dirty="0" err="1"/>
              <a:t>OneLake</a:t>
            </a:r>
            <a:r>
              <a:rPr lang="en-IN" b="1" dirty="0"/>
              <a:t>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E57C9-1A9A-F9BA-4E3C-9790B8A05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Delta Table</a:t>
            </a:r>
          </a:p>
          <a:p>
            <a:pPr marL="0" indent="0">
              <a:buNone/>
            </a:pPr>
            <a:r>
              <a:rPr lang="en-IN" dirty="0"/>
              <a:t> ├── Parquet Data Files</a:t>
            </a:r>
          </a:p>
          <a:p>
            <a:pPr marL="0" indent="0">
              <a:buNone/>
            </a:pPr>
            <a:r>
              <a:rPr lang="en-IN" dirty="0"/>
              <a:t> └── _</a:t>
            </a:r>
            <a:r>
              <a:rPr lang="en-IN" dirty="0" err="1"/>
              <a:t>delta_log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├── JSON logs</a:t>
            </a:r>
          </a:p>
          <a:p>
            <a:pPr marL="0" indent="0">
              <a:buNone/>
            </a:pPr>
            <a:r>
              <a:rPr lang="en-IN" dirty="0"/>
              <a:t>       └── Checkpoints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821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348E6-2D0B-655A-1A76-A7534A8CE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758536"/>
          </a:xfrm>
        </p:spPr>
        <p:txBody>
          <a:bodyPr/>
          <a:lstStyle/>
          <a:p>
            <a:r>
              <a:rPr lang="en-US" dirty="0"/>
              <a:t>How </a:t>
            </a:r>
            <a:r>
              <a:rPr lang="en-US" dirty="0" err="1"/>
              <a:t>OneLake</a:t>
            </a:r>
            <a:r>
              <a:rPr lang="en-US" dirty="0"/>
              <a:t> &amp; Delta Lake Work Together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D121E-A2E7-411E-7F4F-612E86B36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👉 </a:t>
            </a:r>
            <a:r>
              <a:rPr lang="en-IN" b="1" dirty="0" err="1"/>
              <a:t>OneLake</a:t>
            </a:r>
            <a:r>
              <a:rPr lang="en-IN" b="1" dirty="0"/>
              <a:t> stores Delta tables</a:t>
            </a:r>
            <a:br>
              <a:rPr lang="en-IN" dirty="0"/>
            </a:br>
            <a:r>
              <a:rPr lang="en-IN" dirty="0"/>
              <a:t>👉 </a:t>
            </a:r>
            <a:r>
              <a:rPr lang="en-IN" b="1" dirty="0"/>
              <a:t>Delta Lake ensures reliability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E819A79-E0EF-179C-998C-6E6971636121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23573936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05792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OneLake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Delta Lake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1633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Storage platform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Storage format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07877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Centralized lake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Transaction layer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52146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Fabric-managed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Open standard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5196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ADLS Gen2 based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Parquet + logs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47368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2311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99CEF-B277-DC9A-A3A6-52B9BDD64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US" dirty="0"/>
              <a:t>Lakehouse vs Warehouse (Microsoft Fabric)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7E652E8-181C-A9C3-8529-3FDB1DD405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4051079"/>
              </p:ext>
            </p:extLst>
          </p:nvPr>
        </p:nvGraphicFramePr>
        <p:xfrm>
          <a:off x="443345" y="1234440"/>
          <a:ext cx="10515600" cy="2693322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50592143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55221781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904540892"/>
                    </a:ext>
                  </a:extLst>
                </a:gridCol>
              </a:tblGrid>
              <a:tr h="4488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i="1">
                          <a:highlight>
                            <a:srgbClr val="FFFF00"/>
                          </a:highlight>
                        </a:rPr>
                        <a:t>Aspect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i="1">
                          <a:highlight>
                            <a:srgbClr val="FFFF00"/>
                          </a:highlight>
                        </a:rPr>
                        <a:t>Lakehouse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i="1" dirty="0">
                          <a:highlight>
                            <a:srgbClr val="FFFF00"/>
                          </a:highlight>
                        </a:rPr>
                        <a:t>Warehouse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7619984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rgbClr val="FF0000"/>
                          </a:solidFill>
                        </a:rPr>
                        <a:t>Engine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Spark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SQL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4489792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FF0000"/>
                          </a:solidFill>
                        </a:rPr>
                        <a:t>Query Language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PySpark / SQL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T-SQL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1808090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rgbClr val="FF0000"/>
                          </a:solidFill>
                        </a:rPr>
                        <a:t>Storage Format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Delta / Parquet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Optimized tables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6849149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rgbClr val="FF0000"/>
                          </a:solidFill>
                        </a:rPr>
                        <a:t>Primary Users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engineers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BI analysts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458949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FF0000"/>
                          </a:solidFill>
                        </a:rPr>
                        <a:t>ML Support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71984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E81BD0B-57D1-1673-46B7-06939F4B4E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0948610"/>
              </p:ext>
            </p:extLst>
          </p:nvPr>
        </p:nvGraphicFramePr>
        <p:xfrm>
          <a:off x="443345" y="4140532"/>
          <a:ext cx="10515600" cy="21945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0534834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21366281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6000514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highlight>
                            <a:srgbClr val="FFFF00"/>
                          </a:highlight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highlight>
                            <a:srgbClr val="FFFF00"/>
                          </a:highlight>
                        </a:rPr>
                        <a:t>Lakehouse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highlight>
                            <a:srgbClr val="FFFF00"/>
                          </a:highlight>
                        </a:rPr>
                        <a:t>Warehouse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6030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rgbClr val="FF0000"/>
                          </a:solidFill>
                        </a:rPr>
                        <a:t>Structured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79965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rgbClr val="FF0000"/>
                          </a:solidFill>
                        </a:rPr>
                        <a:t>Semi-structured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9433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rgbClr val="FF0000"/>
                          </a:solidFill>
                        </a:rPr>
                        <a:t>Streaming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498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rgbClr val="FF0000"/>
                          </a:solidFill>
                        </a:rPr>
                        <a:t>ACID transactions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 (Delta)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768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FF0000"/>
                          </a:solidFill>
                        </a:rPr>
                        <a:t>Schema enforcement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Optional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Strict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4969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5382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6E9F2-7B3D-73FE-474A-0D8A177FD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081" y="2545773"/>
            <a:ext cx="10515600" cy="1325563"/>
          </a:xfrm>
        </p:spPr>
        <p:txBody>
          <a:bodyPr/>
          <a:lstStyle/>
          <a:p>
            <a:r>
              <a:rPr lang="en-IN" dirty="0"/>
              <a:t>🗂️ Data Organization in Microsoft Fabric</a:t>
            </a:r>
          </a:p>
        </p:txBody>
      </p:sp>
    </p:spTree>
    <p:extLst>
      <p:ext uri="{BB962C8B-B14F-4D97-AF65-F5344CB8AC3E}">
        <p14:creationId xmlns:p14="http://schemas.microsoft.com/office/powerpoint/2010/main" val="573067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20115-439E-E72F-2E50-34CB62B86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779318"/>
          </a:xfrm>
        </p:spPr>
        <p:txBody>
          <a:bodyPr/>
          <a:lstStyle/>
          <a:p>
            <a:r>
              <a:rPr lang="en-IN" dirty="0"/>
              <a:t>Domains → Workspaces → Items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60AB6-64B6-A2FA-5BEF-ED44FD8613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354" y="1046307"/>
            <a:ext cx="10515600" cy="581169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🔹 What is a Domain?</a:t>
            </a:r>
          </a:p>
          <a:p>
            <a:r>
              <a:rPr lang="en-US" dirty="0"/>
              <a:t>A </a:t>
            </a:r>
            <a:r>
              <a:rPr lang="en-US" b="1" dirty="0"/>
              <a:t>Domain</a:t>
            </a:r>
            <a:r>
              <a:rPr lang="en-US" dirty="0"/>
              <a:t> represents a </a:t>
            </a:r>
            <a:r>
              <a:rPr lang="en-US" b="1" dirty="0"/>
              <a:t>business area or data domain</a:t>
            </a:r>
            <a:r>
              <a:rPr lang="en-US" dirty="0"/>
              <a:t> in an organization.</a:t>
            </a:r>
          </a:p>
          <a:p>
            <a:pPr marL="0" indent="0">
              <a:buNone/>
            </a:pPr>
            <a:r>
              <a:rPr lang="en-US" dirty="0"/>
              <a:t>👉 Used to </a:t>
            </a:r>
            <a:r>
              <a:rPr lang="en-US" b="1" dirty="0"/>
              <a:t>organize workspaces logically by business function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Examples:</a:t>
            </a:r>
          </a:p>
          <a:p>
            <a:r>
              <a:rPr lang="en-US" dirty="0"/>
              <a:t>Finance</a:t>
            </a:r>
          </a:p>
          <a:p>
            <a:r>
              <a:rPr lang="en-US" dirty="0"/>
              <a:t>Sales</a:t>
            </a:r>
          </a:p>
          <a:p>
            <a:r>
              <a:rPr lang="en-US" dirty="0"/>
              <a:t>HR</a:t>
            </a:r>
          </a:p>
          <a:p>
            <a:r>
              <a:rPr lang="en-US" dirty="0"/>
              <a:t>Marketing</a:t>
            </a:r>
          </a:p>
          <a:p>
            <a:r>
              <a:rPr lang="en-US" dirty="0"/>
              <a:t>Supply Chain</a:t>
            </a:r>
          </a:p>
          <a:p>
            <a:pPr marL="0" indent="0">
              <a:buNone/>
            </a:pPr>
            <a:r>
              <a:rPr lang="en-US" dirty="0"/>
              <a:t>Domain</a:t>
            </a:r>
          </a:p>
          <a:p>
            <a:r>
              <a:rPr lang="en-US" dirty="0"/>
              <a:t> ├── Finance</a:t>
            </a:r>
          </a:p>
          <a:p>
            <a:r>
              <a:rPr lang="en-US" dirty="0"/>
              <a:t> ├── Sales</a:t>
            </a:r>
          </a:p>
          <a:p>
            <a:r>
              <a:rPr lang="en-US" dirty="0"/>
              <a:t> └── HR</a:t>
            </a:r>
          </a:p>
          <a:p>
            <a:pPr marL="0" indent="0">
              <a:buNone/>
            </a:pPr>
            <a:r>
              <a:rPr lang="en-US" b="1" dirty="0"/>
              <a:t>Why Domains?</a:t>
            </a:r>
          </a:p>
          <a:p>
            <a:r>
              <a:rPr lang="en-US" dirty="0"/>
              <a:t>✔️ Business-aligned structure</a:t>
            </a:r>
            <a:br>
              <a:rPr lang="en-US" dirty="0"/>
            </a:br>
            <a:r>
              <a:rPr lang="en-US" dirty="0"/>
              <a:t>✔️ Better governance</a:t>
            </a:r>
            <a:br>
              <a:rPr lang="en-US" dirty="0"/>
            </a:br>
            <a:r>
              <a:rPr lang="en-US" dirty="0"/>
              <a:t>✔️ Clear ownership</a:t>
            </a:r>
            <a:br>
              <a:rPr lang="en-US" dirty="0"/>
            </a:br>
            <a:r>
              <a:rPr lang="en-US" dirty="0"/>
              <a:t>✔️ Enterprise scalability</a:t>
            </a:r>
          </a:p>
          <a:p>
            <a:r>
              <a:rPr lang="en-US" dirty="0"/>
              <a:t>📌 </a:t>
            </a:r>
            <a:r>
              <a:rPr lang="en-US" b="1" dirty="0"/>
              <a:t>Domains do NOT store data</a:t>
            </a:r>
            <a:r>
              <a:rPr lang="en-US" dirty="0"/>
              <a:t> – they organize workspaces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6580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17792-2238-88AF-EED6-010050EE8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68927"/>
          </a:xfrm>
        </p:spPr>
        <p:txBody>
          <a:bodyPr/>
          <a:lstStyle/>
          <a:p>
            <a:r>
              <a:rPr lang="en-US" dirty="0"/>
              <a:t>2️⃣ Workspaces (Project / Team Level)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C80D0-F87D-9961-460A-32FC97ADE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572" y="1253331"/>
            <a:ext cx="10515600" cy="550076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🔹 What is a Workspace?</a:t>
            </a:r>
          </a:p>
          <a:p>
            <a:r>
              <a:rPr lang="en-IN" dirty="0"/>
              <a:t>A </a:t>
            </a:r>
            <a:r>
              <a:rPr lang="en-IN" b="1" dirty="0"/>
              <a:t>Workspace</a:t>
            </a:r>
            <a:r>
              <a:rPr lang="en-IN" dirty="0"/>
              <a:t> is a </a:t>
            </a:r>
            <a:r>
              <a:rPr lang="en-IN" b="1" dirty="0"/>
              <a:t>logical container</a:t>
            </a:r>
            <a:r>
              <a:rPr lang="en-IN" dirty="0"/>
              <a:t> for development, collaboration, and security.</a:t>
            </a:r>
          </a:p>
          <a:p>
            <a:r>
              <a:rPr lang="en-IN" dirty="0"/>
              <a:t>👉 It sits </a:t>
            </a:r>
            <a:r>
              <a:rPr lang="en-IN" b="1" dirty="0"/>
              <a:t>inside a Domain</a:t>
            </a:r>
            <a:endParaRPr lang="en-IN" dirty="0"/>
          </a:p>
          <a:p>
            <a:r>
              <a:rPr lang="en-IN" dirty="0"/>
              <a:t>Domain: Finance</a:t>
            </a:r>
          </a:p>
          <a:p>
            <a:r>
              <a:rPr lang="en-IN" dirty="0"/>
              <a:t> ├── Finance-DEV</a:t>
            </a:r>
          </a:p>
          <a:p>
            <a:r>
              <a:rPr lang="en-IN" dirty="0"/>
              <a:t> ├── Finance-TEST</a:t>
            </a:r>
          </a:p>
          <a:p>
            <a:r>
              <a:rPr lang="en-IN" dirty="0"/>
              <a:t> └── Finance-PROD</a:t>
            </a:r>
          </a:p>
          <a:p>
            <a:pPr marL="0" indent="0">
              <a:buNone/>
            </a:pPr>
            <a:r>
              <a:rPr lang="en-IN" b="1" dirty="0"/>
              <a:t>Workspace Purpose:</a:t>
            </a:r>
          </a:p>
          <a:p>
            <a:r>
              <a:rPr lang="en-IN" dirty="0"/>
              <a:t>Security boundary</a:t>
            </a:r>
          </a:p>
          <a:p>
            <a:r>
              <a:rPr lang="en-IN" dirty="0"/>
              <a:t>Capacity assignment</a:t>
            </a:r>
          </a:p>
          <a:p>
            <a:r>
              <a:rPr lang="en-IN" dirty="0"/>
              <a:t>Collaboration unit</a:t>
            </a:r>
          </a:p>
          <a:p>
            <a:r>
              <a:rPr lang="en-IN" dirty="0"/>
              <a:t>Environment separation (DEV / PROD)</a:t>
            </a:r>
          </a:p>
          <a:p>
            <a:r>
              <a:rPr lang="en-IN" dirty="0"/>
              <a:t>✔️ Workspaces map to </a:t>
            </a:r>
            <a:r>
              <a:rPr lang="en-IN" b="1" dirty="0"/>
              <a:t>folders in </a:t>
            </a:r>
            <a:r>
              <a:rPr lang="en-IN" b="1" dirty="0" err="1"/>
              <a:t>OneLake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6091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ED39C-BC68-5BAC-E174-0B9DCD8DE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3️⃣ Items (Actual Data &amp; Analytics Objects)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A9EC7-91D4-7252-6846-30A155EE8C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746" y="1162843"/>
            <a:ext cx="10515600" cy="58198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🔹 What are Items?</a:t>
            </a:r>
          </a:p>
          <a:p>
            <a:r>
              <a:rPr lang="en-IN" b="1" dirty="0"/>
              <a:t>Items are the actual assets</a:t>
            </a:r>
            <a:r>
              <a:rPr lang="en-IN" dirty="0"/>
              <a:t> created inside a workspace.</a:t>
            </a:r>
          </a:p>
          <a:p>
            <a:pPr marL="0" indent="0">
              <a:buNone/>
            </a:pPr>
            <a:r>
              <a:rPr lang="en-IN" b="1" dirty="0"/>
              <a:t>Common Fabric Items:</a:t>
            </a:r>
          </a:p>
          <a:p>
            <a:r>
              <a:rPr lang="en-IN" dirty="0"/>
              <a:t>Lakehouse</a:t>
            </a:r>
          </a:p>
          <a:p>
            <a:r>
              <a:rPr lang="en-IN" dirty="0"/>
              <a:t>Warehouse</a:t>
            </a:r>
          </a:p>
          <a:p>
            <a:r>
              <a:rPr lang="en-IN" dirty="0"/>
              <a:t>Pipelines</a:t>
            </a:r>
          </a:p>
          <a:p>
            <a:r>
              <a:rPr lang="en-IN" dirty="0"/>
              <a:t>Notebooks</a:t>
            </a:r>
          </a:p>
          <a:p>
            <a:r>
              <a:rPr lang="en-IN" dirty="0"/>
              <a:t>Dataflows Gen2</a:t>
            </a:r>
          </a:p>
          <a:p>
            <a:r>
              <a:rPr lang="en-IN" dirty="0"/>
              <a:t>Real-Time Analytics DB</a:t>
            </a:r>
          </a:p>
          <a:p>
            <a:r>
              <a:rPr lang="en-IN" dirty="0"/>
              <a:t>Semantic Models</a:t>
            </a:r>
          </a:p>
          <a:p>
            <a:r>
              <a:rPr lang="en-IN" dirty="0"/>
              <a:t>Power BI Reports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8112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F1107-E624-35CA-5105-E27DE7A1E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645" y="21503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Workspace: Finance-PROD</a:t>
            </a:r>
          </a:p>
          <a:p>
            <a:r>
              <a:rPr lang="en-IN" dirty="0"/>
              <a:t> ├── Lakehouse</a:t>
            </a:r>
          </a:p>
          <a:p>
            <a:r>
              <a:rPr lang="en-IN" dirty="0"/>
              <a:t> ├── Warehouse</a:t>
            </a:r>
          </a:p>
          <a:p>
            <a:r>
              <a:rPr lang="en-IN" dirty="0"/>
              <a:t> ├── Pipeline</a:t>
            </a:r>
          </a:p>
          <a:p>
            <a:r>
              <a:rPr lang="en-IN" dirty="0"/>
              <a:t> ├── Notebook</a:t>
            </a:r>
          </a:p>
          <a:p>
            <a:r>
              <a:rPr lang="en-IN" dirty="0"/>
              <a:t> └── Power BI Report</a:t>
            </a:r>
          </a:p>
          <a:p>
            <a:pPr marL="0" indent="0">
              <a:buNone/>
            </a:pPr>
            <a:r>
              <a:rPr lang="en-IN" dirty="0"/>
              <a:t>✔️ Items store data in </a:t>
            </a:r>
            <a:r>
              <a:rPr lang="en-IN" b="1" dirty="0" err="1"/>
              <a:t>OneLake</a:t>
            </a:r>
            <a:br>
              <a:rPr lang="en-IN" dirty="0"/>
            </a:br>
            <a:r>
              <a:rPr lang="en-IN" dirty="0"/>
              <a:t>✔️ Items inherit workspace security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A502DD-6B59-1161-EA67-2D27E0FD3C2A}"/>
              </a:ext>
            </a:extLst>
          </p:cNvPr>
          <p:cNvSpPr txBox="1"/>
          <p:nvPr/>
        </p:nvSpPr>
        <p:spPr>
          <a:xfrm>
            <a:off x="3504334" y="4695782"/>
            <a:ext cx="609426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Tenant</a:t>
            </a:r>
          </a:p>
          <a:p>
            <a:r>
              <a:rPr lang="en-IN" dirty="0"/>
              <a:t> └── Domain (Business Area)</a:t>
            </a:r>
          </a:p>
          <a:p>
            <a:r>
              <a:rPr lang="en-IN" dirty="0"/>
              <a:t>      └── Workspace (Project / Env)</a:t>
            </a:r>
          </a:p>
          <a:p>
            <a:r>
              <a:rPr lang="en-IN" dirty="0"/>
              <a:t>           └── Items (Data &amp; Analytics)</a:t>
            </a:r>
          </a:p>
          <a:p>
            <a:r>
              <a:rPr lang="en-IN" dirty="0"/>
              <a:t>                └── </a:t>
            </a:r>
            <a:r>
              <a:rPr lang="en-IN" dirty="0" err="1"/>
              <a:t>OneLake</a:t>
            </a:r>
            <a:r>
              <a:rPr lang="en-IN" dirty="0"/>
              <a:t> (Storage)</a:t>
            </a:r>
          </a:p>
        </p:txBody>
      </p:sp>
    </p:spTree>
    <p:extLst>
      <p:ext uri="{BB962C8B-B14F-4D97-AF65-F5344CB8AC3E}">
        <p14:creationId xmlns:p14="http://schemas.microsoft.com/office/powerpoint/2010/main" val="5582150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D0A0C-49EE-7353-B520-1464BFEC2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5791" y="2495261"/>
            <a:ext cx="10515600" cy="1325563"/>
          </a:xfrm>
        </p:spPr>
        <p:txBody>
          <a:bodyPr/>
          <a:lstStyle/>
          <a:p>
            <a:r>
              <a:rPr lang="en-IN" dirty="0"/>
              <a:t>📁 Folder Structures &amp; Naming Conventions</a:t>
            </a:r>
          </a:p>
        </p:txBody>
      </p:sp>
    </p:spTree>
    <p:extLst>
      <p:ext uri="{BB962C8B-B14F-4D97-AF65-F5344CB8AC3E}">
        <p14:creationId xmlns:p14="http://schemas.microsoft.com/office/powerpoint/2010/main" val="27970157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587BF-9A4D-02BA-526D-21AEA13DF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5247409" cy="3075709"/>
          </a:xfrm>
        </p:spPr>
        <p:txBody>
          <a:bodyPr>
            <a:normAutofit fontScale="70000" lnSpcReduction="20000"/>
          </a:bodyPr>
          <a:lstStyle/>
          <a:p>
            <a:r>
              <a:rPr lang="en-IN" b="1" dirty="0"/>
              <a:t>1️⃣ Why Folder Structure &amp; Naming Matters</a:t>
            </a:r>
          </a:p>
          <a:p>
            <a:r>
              <a:rPr lang="en-IN" dirty="0"/>
              <a:t>✔️ Easy navigation</a:t>
            </a:r>
            <a:br>
              <a:rPr lang="en-IN" dirty="0"/>
            </a:br>
            <a:r>
              <a:rPr lang="en-IN" dirty="0"/>
              <a:t>✔️ Better governance</a:t>
            </a:r>
            <a:br>
              <a:rPr lang="en-IN" dirty="0"/>
            </a:br>
            <a:r>
              <a:rPr lang="en-IN" dirty="0"/>
              <a:t>✔️ Scalable architecture</a:t>
            </a:r>
            <a:br>
              <a:rPr lang="en-IN" dirty="0"/>
            </a:br>
            <a:r>
              <a:rPr lang="en-IN" dirty="0"/>
              <a:t>✔️ Clear ownership</a:t>
            </a:r>
            <a:br>
              <a:rPr lang="en-IN" dirty="0"/>
            </a:br>
            <a:r>
              <a:rPr lang="en-IN" dirty="0"/>
              <a:t>✔️ Interview-friendly design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2️⃣ Enterprise Folder Structure in </a:t>
            </a:r>
            <a:r>
              <a:rPr lang="en-IN" b="1" dirty="0" err="1"/>
              <a:t>OneLake</a:t>
            </a:r>
            <a:r>
              <a:rPr lang="en-IN" b="1" dirty="0"/>
              <a:t> (Lakehouse)</a:t>
            </a:r>
          </a:p>
          <a:p>
            <a:r>
              <a:rPr lang="en-IN" b="1" dirty="0"/>
              <a:t>🔹 Recommended Medallion Architecture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9E3711-7A92-A6C1-DF6D-BCC1460BC295}"/>
              </a:ext>
            </a:extLst>
          </p:cNvPr>
          <p:cNvSpPr txBox="1"/>
          <p:nvPr/>
        </p:nvSpPr>
        <p:spPr>
          <a:xfrm>
            <a:off x="5915025" y="536552"/>
            <a:ext cx="613583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OneLake</a:t>
            </a:r>
            <a:endParaRPr lang="en-IN" dirty="0"/>
          </a:p>
          <a:p>
            <a:r>
              <a:rPr lang="en-IN" dirty="0"/>
              <a:t> └── Finance-DEV (Workspace)</a:t>
            </a:r>
          </a:p>
          <a:p>
            <a:r>
              <a:rPr lang="en-IN" dirty="0"/>
              <a:t>      └── Lakehouse</a:t>
            </a:r>
          </a:p>
          <a:p>
            <a:r>
              <a:rPr lang="en-IN" dirty="0"/>
              <a:t>           ├── Files</a:t>
            </a:r>
          </a:p>
          <a:p>
            <a:r>
              <a:rPr lang="en-IN" dirty="0"/>
              <a:t>           │    ├── bronze</a:t>
            </a:r>
          </a:p>
          <a:p>
            <a:r>
              <a:rPr lang="en-IN" dirty="0"/>
              <a:t>           │    │    ├── source=sap</a:t>
            </a:r>
          </a:p>
          <a:p>
            <a:r>
              <a:rPr lang="en-IN" dirty="0"/>
              <a:t>           │    │    ├── source=</a:t>
            </a:r>
            <a:r>
              <a:rPr lang="en-IN" dirty="0" err="1"/>
              <a:t>crm</a:t>
            </a:r>
            <a:endParaRPr lang="en-IN" dirty="0"/>
          </a:p>
          <a:p>
            <a:r>
              <a:rPr lang="en-IN" dirty="0"/>
              <a:t>           │    │    └── source=csv</a:t>
            </a:r>
          </a:p>
          <a:p>
            <a:r>
              <a:rPr lang="en-IN" dirty="0"/>
              <a:t>           │    ├── silver</a:t>
            </a:r>
          </a:p>
          <a:p>
            <a:r>
              <a:rPr lang="en-IN" dirty="0"/>
              <a:t>           │    │    ├── cleaned</a:t>
            </a:r>
          </a:p>
          <a:p>
            <a:r>
              <a:rPr lang="en-IN" dirty="0"/>
              <a:t>           │    │    └── conformed</a:t>
            </a:r>
          </a:p>
          <a:p>
            <a:r>
              <a:rPr lang="en-IN" dirty="0"/>
              <a:t>           │    └── gold</a:t>
            </a:r>
          </a:p>
          <a:p>
            <a:r>
              <a:rPr lang="en-IN" dirty="0"/>
              <a:t>           │         ├── facts</a:t>
            </a:r>
          </a:p>
          <a:p>
            <a:r>
              <a:rPr lang="en-IN" dirty="0"/>
              <a:t>           │         └── dimensions</a:t>
            </a:r>
          </a:p>
          <a:p>
            <a:r>
              <a:rPr lang="en-IN" dirty="0"/>
              <a:t>           └── Tables</a:t>
            </a:r>
          </a:p>
          <a:p>
            <a:r>
              <a:rPr lang="en-IN" dirty="0"/>
              <a:t>                ├── </a:t>
            </a:r>
            <a:r>
              <a:rPr lang="en-IN" dirty="0" err="1"/>
              <a:t>fact_sales</a:t>
            </a:r>
            <a:endParaRPr lang="en-IN" dirty="0"/>
          </a:p>
          <a:p>
            <a:r>
              <a:rPr lang="en-IN" dirty="0"/>
              <a:t>                ├── </a:t>
            </a:r>
            <a:r>
              <a:rPr lang="en-IN" dirty="0" err="1"/>
              <a:t>dim_customer</a:t>
            </a:r>
            <a:endParaRPr lang="en-IN" dirty="0"/>
          </a:p>
          <a:p>
            <a:r>
              <a:rPr lang="en-IN" dirty="0"/>
              <a:t>                └── </a:t>
            </a:r>
            <a:r>
              <a:rPr lang="en-IN" dirty="0" err="1"/>
              <a:t>dim_product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98632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EB48F-6B15-59A0-B354-DCF8EF9F7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3️⃣ Folder Naming Conventions (Best Practices)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0922E-C693-B839-82AF-2F85AA44E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263" y="116284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🔹 General Rules</a:t>
            </a:r>
          </a:p>
          <a:p>
            <a:r>
              <a:rPr lang="en-IN" dirty="0"/>
              <a:t>✔️ Lowercase only</a:t>
            </a:r>
            <a:br>
              <a:rPr lang="en-IN" dirty="0"/>
            </a:br>
            <a:r>
              <a:rPr lang="en-IN" dirty="0"/>
              <a:t>✔️ No spaces</a:t>
            </a:r>
            <a:br>
              <a:rPr lang="en-IN" dirty="0"/>
            </a:br>
            <a:r>
              <a:rPr lang="en-IN" dirty="0"/>
              <a:t>✔️ Use underscores _</a:t>
            </a:r>
            <a:br>
              <a:rPr lang="en-IN" dirty="0"/>
            </a:br>
            <a:r>
              <a:rPr lang="en-IN" dirty="0"/>
              <a:t>✔️ Meaningful names</a:t>
            </a:r>
            <a:br>
              <a:rPr lang="en-IN" dirty="0"/>
            </a:br>
            <a:r>
              <a:rPr lang="en-IN" dirty="0"/>
              <a:t>✔️ Consistent pattern</a:t>
            </a:r>
          </a:p>
          <a:p>
            <a:r>
              <a:rPr lang="en-IN" dirty="0"/>
              <a:t>❌ Sales Data</a:t>
            </a:r>
            <a:br>
              <a:rPr lang="en-IN" dirty="0"/>
            </a:br>
            <a:r>
              <a:rPr lang="en-IN" dirty="0"/>
              <a:t>✅ </a:t>
            </a:r>
            <a:r>
              <a:rPr lang="en-IN" dirty="0" err="1"/>
              <a:t>sales_data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85158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E70F8-78A9-36F6-0122-4B2BEC454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4️⃣ Workspace Naming Convention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D2433-DB62-A88B-CFEE-80478697D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&lt;domain&gt;-&lt;environment&gt;</a:t>
            </a:r>
          </a:p>
          <a:p>
            <a:pPr marL="0" indent="0">
              <a:buNone/>
            </a:pPr>
            <a:r>
              <a:rPr lang="en-IN" dirty="0"/>
              <a:t>Examples:</a:t>
            </a:r>
          </a:p>
          <a:p>
            <a:r>
              <a:rPr lang="en-IN" dirty="0"/>
              <a:t>finance-dev</a:t>
            </a:r>
          </a:p>
          <a:p>
            <a:endParaRPr lang="en-IN" dirty="0"/>
          </a:p>
          <a:p>
            <a:r>
              <a:rPr lang="en-IN" dirty="0"/>
              <a:t>finance-prod</a:t>
            </a:r>
          </a:p>
          <a:p>
            <a:endParaRPr lang="en-IN" dirty="0"/>
          </a:p>
          <a:p>
            <a:r>
              <a:rPr lang="en-IN" dirty="0"/>
              <a:t>sales-test</a:t>
            </a:r>
          </a:p>
          <a:p>
            <a:endParaRPr lang="en-IN" dirty="0"/>
          </a:p>
          <a:p>
            <a:r>
              <a:rPr lang="en-IN" dirty="0"/>
              <a:t>hr-prod</a:t>
            </a:r>
          </a:p>
        </p:txBody>
      </p:sp>
    </p:spTree>
    <p:extLst>
      <p:ext uri="{BB962C8B-B14F-4D97-AF65-F5344CB8AC3E}">
        <p14:creationId xmlns:p14="http://schemas.microsoft.com/office/powerpoint/2010/main" val="34826501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D89C0-FA3B-9759-1C15-684365B34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5️⃣ Lakehouse Naming Convention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98664-F6D9-AFF0-E9F4-B83454BD0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lh</a:t>
            </a:r>
            <a:r>
              <a:rPr lang="en-US" dirty="0"/>
              <a:t>_&lt;domain&gt;_&lt;purpose&gt;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Examples:</a:t>
            </a:r>
          </a:p>
          <a:p>
            <a:endParaRPr lang="en-US" dirty="0"/>
          </a:p>
          <a:p>
            <a:r>
              <a:rPr lang="en-US" dirty="0" err="1"/>
              <a:t>lh_finance_curated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lh_sales_raw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29691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F1ACB-EA37-9F8B-5FDE-01E01C207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6️⃣ Folder Naming by Zone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1825E-D6E7-A9BC-0A94-F064217E3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🔹 Bronze (Raw)</a:t>
            </a:r>
          </a:p>
          <a:p>
            <a:r>
              <a:rPr lang="en-IN" dirty="0"/>
              <a:t>bronze/source=sap/</a:t>
            </a:r>
          </a:p>
          <a:p>
            <a:r>
              <a:rPr lang="en-IN" dirty="0"/>
              <a:t>bronze/source=</a:t>
            </a:r>
            <a:r>
              <a:rPr lang="en-IN" dirty="0" err="1"/>
              <a:t>crm</a:t>
            </a:r>
            <a:r>
              <a:rPr lang="en-IN" dirty="0"/>
              <a:t>/</a:t>
            </a:r>
          </a:p>
          <a:p>
            <a:r>
              <a:rPr lang="en-IN" b="1" dirty="0"/>
              <a:t>🔹 Silver (Cleansed)</a:t>
            </a:r>
          </a:p>
          <a:p>
            <a:r>
              <a:rPr lang="en-IN" dirty="0"/>
              <a:t>silver/cleaned/</a:t>
            </a:r>
          </a:p>
          <a:p>
            <a:r>
              <a:rPr lang="en-IN" dirty="0"/>
              <a:t>silver/conformed/</a:t>
            </a:r>
          </a:p>
          <a:p>
            <a:r>
              <a:rPr lang="en-IN" b="1" dirty="0"/>
              <a:t>🔹 Gold (Business)</a:t>
            </a:r>
          </a:p>
          <a:p>
            <a:r>
              <a:rPr lang="en-IN" dirty="0"/>
              <a:t>gold/facts/</a:t>
            </a:r>
          </a:p>
          <a:p>
            <a:r>
              <a:rPr lang="en-IN" dirty="0"/>
              <a:t>gold/dimensions/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52906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7B83B-BF07-7DC4-E15A-5E9521439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US" dirty="0"/>
              <a:t>7️⃣ Delta Table Naming Convention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C7B27-7A5B-9B28-9AAD-8FE90DF5B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609" y="125333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🔹 Tables (Gold Layer)</a:t>
            </a:r>
          </a:p>
          <a:p>
            <a:r>
              <a:rPr lang="en-US" dirty="0" err="1"/>
              <a:t>fact_sales</a:t>
            </a:r>
            <a:endParaRPr lang="en-US" dirty="0"/>
          </a:p>
          <a:p>
            <a:r>
              <a:rPr lang="en-US" dirty="0" err="1"/>
              <a:t>fact_orders</a:t>
            </a:r>
            <a:endParaRPr lang="en-US" dirty="0"/>
          </a:p>
          <a:p>
            <a:r>
              <a:rPr lang="en-US" dirty="0" err="1"/>
              <a:t>dim_customer</a:t>
            </a:r>
            <a:endParaRPr lang="en-US" dirty="0"/>
          </a:p>
          <a:p>
            <a:r>
              <a:rPr lang="en-US" dirty="0" err="1"/>
              <a:t>dim_product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🔹 Silver Tables</a:t>
            </a:r>
          </a:p>
          <a:p>
            <a:r>
              <a:rPr lang="en-US" dirty="0" err="1"/>
              <a:t>sales_cleaned</a:t>
            </a:r>
            <a:endParaRPr lang="en-US" dirty="0"/>
          </a:p>
          <a:p>
            <a:r>
              <a:rPr lang="en-US" dirty="0" err="1"/>
              <a:t>customer_enriched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536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842</Words>
  <Application>Microsoft Office PowerPoint</Application>
  <PresentationFormat>Widescreen</PresentationFormat>
  <Paragraphs>197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Onelake </vt:lpstr>
      <vt:lpstr>OneLake Architecture &amp; Delta Lake Foundation (Microsoft Fabric)</vt:lpstr>
      <vt:lpstr>Delta lakes</vt:lpstr>
      <vt:lpstr>Delta Lake Architecture (Inside OneLake) </vt:lpstr>
      <vt:lpstr>How OneLake &amp; Delta Lake Work Together</vt:lpstr>
      <vt:lpstr>Lakehouse vs Warehouse (Microsoft Fabric)</vt:lpstr>
      <vt:lpstr>🗂️ Data Organization in Microsoft Fabric</vt:lpstr>
      <vt:lpstr>Domains → Workspaces → Items</vt:lpstr>
      <vt:lpstr>2️⃣ Workspaces (Project / Team Level)</vt:lpstr>
      <vt:lpstr>3️⃣ Items (Actual Data &amp; Analytics Objects)</vt:lpstr>
      <vt:lpstr>PowerPoint Presentation</vt:lpstr>
      <vt:lpstr>📁 Folder Structures &amp; Naming Conventions</vt:lpstr>
      <vt:lpstr>PowerPoint Presentation</vt:lpstr>
      <vt:lpstr>3️⃣ Folder Naming Conventions (Best Practices)</vt:lpstr>
      <vt:lpstr>4️⃣ Workspace Naming Convention</vt:lpstr>
      <vt:lpstr>5️⃣ Lakehouse Naming Convention</vt:lpstr>
      <vt:lpstr>6️⃣ Folder Naming by Zone</vt:lpstr>
      <vt:lpstr>7️⃣ Delta Table Naming Convention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D</dc:creator>
  <cp:lastModifiedBy>Rajesh D</cp:lastModifiedBy>
  <cp:revision>7</cp:revision>
  <dcterms:created xsi:type="dcterms:W3CDTF">2026-01-06T06:26:27Z</dcterms:created>
  <dcterms:modified xsi:type="dcterms:W3CDTF">2026-01-06T06:46:47Z</dcterms:modified>
</cp:coreProperties>
</file>