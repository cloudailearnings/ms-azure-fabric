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5BF46-7008-C9DF-4E9E-EBD51F872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EDB9B-85C7-28A0-FD70-7ED015602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A9673-4943-9174-BDF7-11A08024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FBB55-1019-1918-9A4D-F8BFF0D6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4ED52-54BD-B7ED-3358-774A2B19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2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2FE1-C526-3B3A-BE79-87D63EAD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C497D-F956-6C1A-290F-DC4EB5352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EBE19-C58F-592C-69EE-3D1000B7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6847E-A04D-294A-C1DF-C3110D8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A9AB-3C81-7064-C44D-2F4E1AD2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86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AF66-9B5C-8EA7-6F57-18762384E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A714F-BEC6-FC4D-5A25-E09AD774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1A9A-9979-6F94-490D-9BD6FCA9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3977-4C34-24BE-53A3-282A3BC5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AEEC-CE85-2268-BF5F-6FBE84C7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37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9508-FF2E-59D6-EF30-18FA9025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E79B8-0F1D-40EB-2CA5-CC66D8546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F1E7D-89BC-14E0-BC9C-9371DF3CE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8A09C-F0F5-A8A4-4C96-6654DA9C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29CC9-44EC-ECD0-CAB4-4A270889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D6FD5-A73E-0E57-BCD0-7DC9E1CB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23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C2CD-705A-D4D8-8D62-EDE095B0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53518-F466-A491-2FFA-54AD1F1FD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29B42-EFBD-9093-AE51-A7B4BB350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293281-E328-D064-E9AF-79B783CF4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2D7FD-5EBC-FD31-A20C-BFA0E2C6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897D12-3DAF-C1F0-9E85-47965957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E8811-C0EB-ACA5-1BF8-E45684FA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359F2-F932-5A86-D463-57645F2F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94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346E-CCE4-E666-28FA-22667E35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E55E8-374F-46C0-E6E9-57CA22AA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8A2BB-0DF3-F9B3-8F23-AFA81A4E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F0719-67B5-4981-542B-0C2D8943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41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AF482-22BD-F553-F346-AE46985A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72530-251E-C1F2-5A81-6A1EF9A8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422C7-45E7-107A-17F2-ED8AB5B0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29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08CC-A613-342F-0206-2ED23527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12B8-C4F8-A3CD-2A32-12CEBB48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83000-2AE0-DDB0-DC77-82E0A15C9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7B3C0-540D-38D5-5B4F-C6B302CC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BDA0F-70F3-A4DB-A6E0-34757239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A951E-75FD-C436-4309-F48B942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2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023E-E104-EC0A-B23B-BB53BE74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8F63B-A58E-95EC-B929-C3B55AB734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2D6B2-D3C9-42BE-749F-2016EBC73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8B952-2B65-7936-A8C7-3A65BC6B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D885E-6D3E-EA69-65A6-480CC306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8C2F1-9069-6D4F-4ED8-22826559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79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20E7-2FB5-7E3C-AFD6-0C9F466E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C8F56-C630-44F2-B467-8E1DFB1C0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66D56-3AF5-B087-8C69-B86B5C6C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5F70-250D-F574-9385-8FD5883E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D2789-07D6-B258-8EB4-C428B203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41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1416E0-FED4-DC92-F881-FBCDE2A6C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3B2C8-69AB-1F81-2143-1F3F6354E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B7C62-1EF6-ED38-C105-13E8A8D41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2A6D-31B2-BDAD-D3F1-993B0A04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5F154-5E96-2299-D27E-A2FF9FA5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97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228E02-B34B-0558-9729-A238CD55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AE990-DD69-7717-A813-468C51931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B8ADA-ACDB-27F1-FE5C-25F9247DF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8A3E5-C3F6-45C3-9E12-DD93134FC6BF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0ECA1-5175-B0CE-30A7-F481DB4AD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EBFE1-461D-7679-09D7-EFEA7ED7A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D0C65-FC7F-465F-8AC0-090E220E3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15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601F-8DA8-2428-5602-B08D0FD63B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Factory in Microsoft Fabric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20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6F40-0DCC-E737-D3A8-4DCFC17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What is Data Factory in Microsoft Fabric?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D4C8E-5633-416B-FE2B-2A97ECFF9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" y="772859"/>
            <a:ext cx="11911445" cy="211581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Factory in Microsoft Fabric helps you solve one of business's toughest challenges: turning scattered data into useful insights.</a:t>
            </a:r>
          </a:p>
          <a:p>
            <a:r>
              <a:rPr lang="en-US" dirty="0"/>
              <a:t>Your organization's data lives in many different places: databases, files, cloud services, and legacy systems. This makes it hard to get a complete picture of your business. Data Factory connects to over 170 data sources, including </a:t>
            </a:r>
            <a:r>
              <a:rPr lang="en-US" dirty="0" err="1"/>
              <a:t>multicloud</a:t>
            </a:r>
            <a:r>
              <a:rPr lang="en-US" dirty="0"/>
              <a:t> environments and hybrid setups with on-premises gateways. It helps you move and transform your data at scale, turning it into formats that work well for analytics and decision-making.</a:t>
            </a:r>
          </a:p>
          <a:p>
            <a:endParaRPr lang="en-IN" dirty="0"/>
          </a:p>
        </p:txBody>
      </p:sp>
      <p:pic>
        <p:nvPicPr>
          <p:cNvPr id="1026" name="Picture 2" descr="Diagram of the data integration stack in Microsoft Fabric.">
            <a:extLst>
              <a:ext uri="{FF2B5EF4-FFF2-40B4-BE49-F238E27FC236}">
                <a16:creationId xmlns:a16="http://schemas.microsoft.com/office/drawing/2014/main" id="{5D2D308F-DBFC-D56B-94F3-13386D6E6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06" y="3075708"/>
            <a:ext cx="11325225" cy="361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345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5E56-5189-252C-F65C-FAC812B9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1️⃣ Data Factory vs Azure Data Factory (ADF)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336D52-4D34-BF67-E980-6A2F574FF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66389"/>
              </p:ext>
            </p:extLst>
          </p:nvPr>
        </p:nvGraphicFramePr>
        <p:xfrm>
          <a:off x="568036" y="1754780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80307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35206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50406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highlight>
                            <a:srgbClr val="FFFF00"/>
                          </a:highlight>
                        </a:rPr>
                        <a:t>Fabric Data Factory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highlight>
                            <a:srgbClr val="FFFF00"/>
                          </a:highlight>
                        </a:rPr>
                        <a:t>Azure Data Factory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09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 into Fabric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Standalone Azure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579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OneLake native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ADLS Gen2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163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Lakehouse, 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3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Billing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Fabric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Pay-per-use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835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Purview integrated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909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Unified Fabric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Separate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085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73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3A018-9D63-42FF-EA6D-45B50A5BF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Fabric DF is optimized for analytics pipelines</a:t>
            </a:r>
            <a:r>
              <a:rPr lang="en-US" dirty="0"/>
              <a:t>, not app integration.</a:t>
            </a:r>
          </a:p>
          <a:p>
            <a:endParaRPr lang="en-US" dirty="0"/>
          </a:p>
          <a:p>
            <a:r>
              <a:rPr lang="en-US" dirty="0"/>
              <a:t>“Fabric Data Factory is analytics-first and </a:t>
            </a:r>
            <a:r>
              <a:rPr lang="en-US" dirty="0" err="1"/>
              <a:t>OneLake</a:t>
            </a:r>
            <a:r>
              <a:rPr lang="en-US" dirty="0"/>
              <a:t>-native.”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125B-DFD3-A9F9-21E8-56570D25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2️⃣ Pipeline Concepts &amp;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78EC6-5E4F-1506-6364-43F6D8BE3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7" y="11628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🔹 Core Pipeline Components</a:t>
            </a:r>
          </a:p>
          <a:p>
            <a:r>
              <a:rPr lang="en-IN" b="1" dirty="0"/>
              <a:t>Pipeline</a:t>
            </a:r>
            <a:r>
              <a:rPr lang="en-IN" dirty="0"/>
              <a:t> → Orchestration container</a:t>
            </a:r>
          </a:p>
          <a:p>
            <a:r>
              <a:rPr lang="en-IN" b="1" dirty="0"/>
              <a:t>Activities</a:t>
            </a:r>
            <a:r>
              <a:rPr lang="en-IN" dirty="0"/>
              <a:t> → Execution units</a:t>
            </a:r>
          </a:p>
          <a:p>
            <a:r>
              <a:rPr lang="en-IN" b="1" dirty="0"/>
              <a:t>Parameters</a:t>
            </a:r>
            <a:r>
              <a:rPr lang="en-IN" dirty="0"/>
              <a:t> → Dynamic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b="1" dirty="0"/>
              <a:t>Triggers</a:t>
            </a:r>
            <a:r>
              <a:rPr lang="en-IN" dirty="0"/>
              <a:t> → Schedule/event-based</a:t>
            </a:r>
          </a:p>
          <a:p>
            <a:r>
              <a:rPr lang="en-IN" b="1" dirty="0"/>
              <a:t>Variables</a:t>
            </a:r>
            <a:r>
              <a:rPr lang="en-IN" dirty="0"/>
              <a:t> → Runtime storage</a:t>
            </a:r>
          </a:p>
          <a:p>
            <a:r>
              <a:rPr lang="en-IN" dirty="0"/>
              <a:t>📌 Pipelines orchestrate </a:t>
            </a:r>
            <a:r>
              <a:rPr lang="en-IN" b="1" dirty="0"/>
              <a:t>movement + transformation + control flow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254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2185-65B9-366C-2B8B-58CA5135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71454"/>
          </a:xfrm>
        </p:spPr>
        <p:txBody>
          <a:bodyPr/>
          <a:lstStyle/>
          <a:p>
            <a:r>
              <a:rPr lang="en-IN" dirty="0"/>
              <a:t>3️⃣ Activity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709A-4296-2599-138C-75F78717A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🔹 A. Copy Activities</a:t>
            </a:r>
          </a:p>
          <a:p>
            <a:r>
              <a:rPr lang="en-IN" dirty="0"/>
              <a:t>Move data between:</a:t>
            </a:r>
          </a:p>
          <a:p>
            <a:pPr lvl="1"/>
            <a:r>
              <a:rPr lang="en-IN" dirty="0"/>
              <a:t>On-prem → </a:t>
            </a:r>
            <a:r>
              <a:rPr lang="en-IN" dirty="0" err="1"/>
              <a:t>OneLake</a:t>
            </a:r>
            <a:endParaRPr lang="en-IN" dirty="0"/>
          </a:p>
          <a:p>
            <a:pPr lvl="1"/>
            <a:r>
              <a:rPr lang="en-IN" dirty="0"/>
              <a:t>Cloud → </a:t>
            </a:r>
            <a:r>
              <a:rPr lang="en-IN" dirty="0" err="1"/>
              <a:t>OneLake</a:t>
            </a:r>
            <a:endParaRPr lang="en-IN" dirty="0"/>
          </a:p>
          <a:p>
            <a:r>
              <a:rPr lang="en-IN" dirty="0"/>
              <a:t>Supports batch &amp; incremental loads</a:t>
            </a:r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r>
              <a:rPr lang="en-IN" dirty="0"/>
              <a:t>SQL → Lakehouse</a:t>
            </a:r>
          </a:p>
          <a:p>
            <a:r>
              <a:rPr lang="en-IN" dirty="0"/>
              <a:t>Blob → Warehouse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84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38A2C-4126-326A-A8AE-CEACEDBBE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🔹 B. Transformation Activities</a:t>
            </a:r>
          </a:p>
          <a:p>
            <a:r>
              <a:rPr lang="en-IN" dirty="0"/>
              <a:t>Dataflows Gen2</a:t>
            </a:r>
          </a:p>
          <a:p>
            <a:r>
              <a:rPr lang="en-IN" dirty="0"/>
              <a:t>Spark notebooks</a:t>
            </a:r>
          </a:p>
          <a:p>
            <a:r>
              <a:rPr lang="en-IN" dirty="0"/>
              <a:t>Stored procedures (Warehouse)</a:t>
            </a:r>
          </a:p>
          <a:p>
            <a:r>
              <a:rPr lang="en-IN" dirty="0"/>
              <a:t>📌 Preferred for ELT patterns</a:t>
            </a:r>
          </a:p>
          <a:p>
            <a:pPr marL="0" indent="0">
              <a:buNone/>
            </a:pPr>
            <a:r>
              <a:rPr lang="en-US" b="1" dirty="0"/>
              <a:t>🔹 C. Control Flow Activities</a:t>
            </a:r>
          </a:p>
          <a:p>
            <a:r>
              <a:rPr lang="en-US" dirty="0"/>
              <a:t>If / Switch</a:t>
            </a:r>
          </a:p>
          <a:p>
            <a:r>
              <a:rPr lang="en-US" dirty="0" err="1"/>
              <a:t>ForEach</a:t>
            </a:r>
            <a:endParaRPr lang="en-US" dirty="0"/>
          </a:p>
          <a:p>
            <a:r>
              <a:rPr lang="en-US" dirty="0"/>
              <a:t>Until</a:t>
            </a:r>
          </a:p>
          <a:p>
            <a:r>
              <a:rPr lang="en-US" dirty="0"/>
              <a:t>Wait</a:t>
            </a:r>
          </a:p>
          <a:p>
            <a:r>
              <a:rPr lang="en-US" dirty="0"/>
              <a:t>Fail / Set Variable</a:t>
            </a:r>
          </a:p>
          <a:p>
            <a:r>
              <a:rPr lang="en-US" dirty="0"/>
              <a:t>📌 Used for orchestration logic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649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C371-4F55-EA2F-670A-AEDEF93E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33800"/>
          </a:xfrm>
        </p:spPr>
        <p:txBody>
          <a:bodyPr/>
          <a:lstStyle/>
          <a:p>
            <a:r>
              <a:rPr lang="en-US" dirty="0"/>
              <a:t>4️⃣ Linked Services &amp; Datasets (Fabric Context)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FA504-318E-43AA-F92F-05DA0CDCF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🔹 Linked Services</a:t>
            </a:r>
          </a:p>
          <a:p>
            <a:r>
              <a:rPr lang="en-US" dirty="0"/>
              <a:t>Connection definitions</a:t>
            </a:r>
          </a:p>
          <a:p>
            <a:r>
              <a:rPr lang="en-US" dirty="0"/>
              <a:t>Authentication + endpoint info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Azure SQL</a:t>
            </a:r>
          </a:p>
          <a:p>
            <a:r>
              <a:rPr lang="en-US" dirty="0"/>
              <a:t>ADLS</a:t>
            </a:r>
          </a:p>
          <a:p>
            <a:r>
              <a:rPr lang="en-US" dirty="0"/>
              <a:t>REST API</a:t>
            </a:r>
          </a:p>
          <a:p>
            <a:pPr marL="0" indent="0">
              <a:buNone/>
            </a:pPr>
            <a:r>
              <a:rPr lang="en-US" dirty="0"/>
              <a:t>📌 Simplified in Fabric (</a:t>
            </a:r>
            <a:r>
              <a:rPr lang="en-US" dirty="0" err="1"/>
              <a:t>OneLake</a:t>
            </a:r>
            <a:r>
              <a:rPr lang="en-US" dirty="0"/>
              <a:t>-aware)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567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C13BA-B23F-F13B-6A2E-6079CEA92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🔹 Datasets</a:t>
            </a:r>
          </a:p>
          <a:p>
            <a:r>
              <a:rPr lang="en-US" dirty="0"/>
              <a:t>Schema + location reference</a:t>
            </a:r>
          </a:p>
          <a:p>
            <a:r>
              <a:rPr lang="en-US" dirty="0"/>
              <a:t>Less emphasized in Fabric</a:t>
            </a:r>
          </a:p>
          <a:p>
            <a:r>
              <a:rPr lang="en-US" dirty="0"/>
              <a:t>Lakehouse tables act as datasets</a:t>
            </a:r>
          </a:p>
          <a:p>
            <a:r>
              <a:rPr lang="en-US" dirty="0"/>
              <a:t>🗣️ </a:t>
            </a:r>
            <a:r>
              <a:rPr lang="en-US" b="1" dirty="0"/>
              <a:t>Trainer Line</a:t>
            </a:r>
            <a:endParaRPr lang="en-US" dirty="0"/>
          </a:p>
          <a:p>
            <a:r>
              <a:rPr lang="en-US" dirty="0"/>
              <a:t>“In Fabric, Lakehouse tables replace classic datasets.”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7FCF-1A97-E905-480D-9258BFBCF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33800"/>
          </a:xfrm>
        </p:spPr>
        <p:txBody>
          <a:bodyPr/>
          <a:lstStyle/>
          <a:p>
            <a:r>
              <a:rPr lang="en-US" dirty="0"/>
              <a:t>4️⃣ Linked Services &amp; Datasets (Fabric Context)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972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072C-D52D-45AD-8C89-D00AA36F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5️⃣ Integration Runtime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066F8-5009-1E94-E52D-9ACB3AC3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09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🔹 What is Integration Runtime (IR)?</a:t>
            </a:r>
          </a:p>
          <a:p>
            <a:r>
              <a:rPr lang="en-US" dirty="0"/>
              <a:t>Execution engine for pipelines.</a:t>
            </a:r>
          </a:p>
          <a:p>
            <a:r>
              <a:rPr lang="en-US" b="1" dirty="0"/>
              <a:t>IR Types (Fabric Context)</a:t>
            </a:r>
          </a:p>
          <a:p>
            <a:r>
              <a:rPr lang="en-US" b="1" dirty="0"/>
              <a:t>Managed IR</a:t>
            </a:r>
            <a:r>
              <a:rPr lang="en-US" dirty="0"/>
              <a:t> (default)</a:t>
            </a:r>
          </a:p>
          <a:p>
            <a:r>
              <a:rPr lang="en-US" b="1" dirty="0"/>
              <a:t>On-premises IR</a:t>
            </a:r>
            <a:r>
              <a:rPr lang="en-US" dirty="0"/>
              <a:t> (for local sources)</a:t>
            </a:r>
          </a:p>
          <a:p>
            <a:pPr marL="0" indent="0">
              <a:buNone/>
            </a:pPr>
            <a:r>
              <a:rPr lang="en-US" dirty="0"/>
              <a:t>📌 No VM management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509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5FCC-C704-7628-5C54-B6B9B29E7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54581"/>
          </a:xfrm>
        </p:spPr>
        <p:txBody>
          <a:bodyPr/>
          <a:lstStyle/>
          <a:p>
            <a:r>
              <a:rPr lang="en-US" dirty="0"/>
              <a:t>6️⃣ Pipeline Design Patterns &amp; Best Practices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61253-BBBE-4A0C-7327-6F1EC5AF8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1" y="117099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🔹 Common Patterns</a:t>
            </a:r>
          </a:p>
          <a:p>
            <a:r>
              <a:rPr lang="en-IN" dirty="0"/>
              <a:t>Ingestion → Raw → Curated</a:t>
            </a:r>
          </a:p>
          <a:p>
            <a:r>
              <a:rPr lang="en-IN" dirty="0"/>
              <a:t>Metadata-driven pipelines</a:t>
            </a:r>
          </a:p>
          <a:p>
            <a:r>
              <a:rPr lang="en-IN" dirty="0"/>
              <a:t>Parameterized pipelines</a:t>
            </a:r>
          </a:p>
          <a:p>
            <a:r>
              <a:rPr lang="en-IN" dirty="0"/>
              <a:t>Reusable pipelines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Best Practices</a:t>
            </a:r>
          </a:p>
          <a:p>
            <a:pPr marL="0" indent="0">
              <a:buNone/>
            </a:pPr>
            <a:r>
              <a:rPr lang="en-IN" dirty="0"/>
              <a:t>✔ Use </a:t>
            </a:r>
            <a:r>
              <a:rPr lang="en-IN" dirty="0" err="1"/>
              <a:t>OneLake</a:t>
            </a:r>
            <a:r>
              <a:rPr lang="en-IN" dirty="0"/>
              <a:t> as landing zone</a:t>
            </a:r>
            <a:br>
              <a:rPr lang="en-IN" dirty="0"/>
            </a:br>
            <a:r>
              <a:rPr lang="en-IN" dirty="0"/>
              <a:t>✔ Convert data to Delta early</a:t>
            </a:r>
            <a:br>
              <a:rPr lang="en-IN" dirty="0"/>
            </a:br>
            <a:r>
              <a:rPr lang="en-IN" dirty="0"/>
              <a:t>✔ Separate ingestion &amp; transformation</a:t>
            </a:r>
            <a:br>
              <a:rPr lang="en-IN" dirty="0"/>
            </a:br>
            <a:r>
              <a:rPr lang="en-IN" dirty="0"/>
              <a:t>✔ Use parameters, not hardcoding</a:t>
            </a:r>
            <a:br>
              <a:rPr lang="en-IN" dirty="0"/>
            </a:br>
            <a:r>
              <a:rPr lang="en-IN" dirty="0"/>
              <a:t>✔ Monitor via Fabric Monitoring Hub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762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FF91-DBCE-4518-CD7C-4BA45582F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" y="0"/>
            <a:ext cx="10515600" cy="762721"/>
          </a:xfrm>
        </p:spPr>
        <p:txBody>
          <a:bodyPr/>
          <a:lstStyle/>
          <a:p>
            <a:r>
              <a:rPr lang="en-US" dirty="0"/>
              <a:t>End-to-End Data Factory Architecture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FD15-7862-61C2-8ECB-3B3EBC949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09" y="1077479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Source Systems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Linked Services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Pipelines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Activities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 err="1"/>
              <a:t>OneLake</a:t>
            </a:r>
            <a:r>
              <a:rPr lang="en-IN" dirty="0"/>
              <a:t> (Lakehouse / Warehouse)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Power BI / Analytics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“Data Factory in Microsoft Fabric provides a unified, capacity-based orchestration layer for ingesting, transforming, and managing data directly within </a:t>
            </a:r>
            <a:r>
              <a:rPr lang="en-US" dirty="0" err="1"/>
              <a:t>OneLake</a:t>
            </a:r>
            <a:r>
              <a:rPr lang="en-US" dirty="0"/>
              <a:t>-powered analytics workloads.”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45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514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Data Factory in Microsoft Fabric </vt:lpstr>
      <vt:lpstr>What is Data Factory in Microsoft Fabric? </vt:lpstr>
      <vt:lpstr>1️⃣ Data Factory vs Azure Data Factory (ADF)</vt:lpstr>
      <vt:lpstr>PowerPoint Presentation</vt:lpstr>
      <vt:lpstr>2️⃣ Pipeline Concepts &amp; Components</vt:lpstr>
      <vt:lpstr>3️⃣ Activity Types</vt:lpstr>
      <vt:lpstr>PowerPoint Presentation</vt:lpstr>
      <vt:lpstr>4️⃣ Linked Services &amp; Datasets (Fabric Context)</vt:lpstr>
      <vt:lpstr>4️⃣ Linked Services &amp; Datasets (Fabric Context)</vt:lpstr>
      <vt:lpstr>5️⃣ Integration Runtime Concepts</vt:lpstr>
      <vt:lpstr>6️⃣ Pipeline Design Patterns &amp; Best Practices</vt:lpstr>
      <vt:lpstr>End-to-End Data Factory Architecture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11</cp:revision>
  <dcterms:created xsi:type="dcterms:W3CDTF">2025-12-27T14:10:18Z</dcterms:created>
  <dcterms:modified xsi:type="dcterms:W3CDTF">2026-01-06T19:06:07Z</dcterms:modified>
</cp:coreProperties>
</file>