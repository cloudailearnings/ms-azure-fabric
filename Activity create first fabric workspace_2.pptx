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E99A-13AC-C724-11A1-D3E776A3F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9790E-7A2E-A995-6BAB-FA7DE2D0F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D19CB-D469-1B6A-22E8-605D9445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E7275-5257-F410-7F83-6C6EC71E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F236D-7F24-A8DE-F2F9-DCBEB4174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42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D9F59-30E0-5608-64AD-8E9F37E4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A55C9-016A-B285-A8DF-D5D68FBB0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DD00-ED86-CB64-358F-E7FDB922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47359-C227-0ED6-522D-3DAC24B1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13023-2625-4AE9-2069-48A181854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637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4B643-E8C0-8D88-34EE-7E697F911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C86CE-10CE-46B4-66DF-59515691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4A95A-E202-0CED-B3FA-70481DA1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5876D-9F2D-E873-0BE2-6745C23AB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B7B05-1FE0-23FD-080F-351B614F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62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18FC-CAF9-20B8-D347-1366EA501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ECD05-EA94-DD0E-52A3-24F4791C0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C2863-DD32-5CCF-9D04-0D9AB3F77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F3E29-922F-247F-C72D-53F6F211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8C910-73CD-6C29-2EC4-B5D51BE3E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49FC-C8C1-E510-F28E-A8E22334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43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EE9D2-4EE8-6623-6F55-0A4F0297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D95C-6EF6-88B2-804A-7889E8C8B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27649-D085-5400-75B9-5B3E3F3E5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7553C-1496-1547-74C9-6941D6E400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97707C-C63F-EB09-C329-6AC5317DE9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FF0DF-81E8-3291-AED7-5FD76C989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4B5B2-ABB0-92E2-D2D0-088B1E8B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28371-CBA2-DAC6-2CC4-720C668B2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6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F59B2-BE47-8558-281C-EBD53D22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C5B13-1D92-1673-9619-6CCB14CA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354F6-DB1C-C5E2-A36E-7A3EC63C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11AA3B-9EA1-C9C9-2A1C-AF8224EB9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1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10941-E44A-854E-9276-CF996C72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65145-4F6B-1EBB-F6CA-545CA989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20B9A-6188-758C-D226-FFC2B142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56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B5B5-B908-DFD0-8071-4199EC83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AE639-B9AF-A74A-88A5-58B3BBCEB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1AA88-C044-D5FE-2961-D1C18286D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129C2-C5B5-7543-F664-F170853B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05680-71E8-E9D4-B67C-82F35277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B5CFB-DB9E-759A-16E1-94417B523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683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ABBE-768F-F77D-5782-27ACEF209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1DF7E-923A-0C51-2BB8-7FBD9284F2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39F7F-FB30-8554-6053-FA2D57792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09E9A-F007-6BAB-4601-8C75A0F77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4318C-1887-5B98-ABD3-F1A0267F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6861A-7A54-464F-9812-FAF6405D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82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542E-CF24-1983-8324-F1B03412B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05EDCD-DF63-896D-140E-419D2E1AA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8B2CA-E5D0-BC77-846F-BB032DA5B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982A6-E1A3-F97F-112C-8CCE8A825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0E815-A5FC-C370-7F7A-634A8864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7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C85887-0E7C-C122-DC95-234DB8720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071E9-3F94-4EC6-739E-B747705E2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92EF-47A2-B51B-8CC8-A04B44307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5E391-F7A8-03B7-E335-6E9AB6247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92582-C838-553A-CDD8-41F34C6E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37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4B9A2D-C48F-3E6B-71D4-15913847F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7857A-985D-3FE5-D725-935709412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C6A4-9DD1-3FBA-B82B-1B9B6AAD92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E1CD6-F20C-4A92-8369-7FB8BAFB62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AE340-E9FB-96D1-6057-CF1F3F433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9534C-0C8B-FAA4-6F37-B62246E8D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4E652-B4FB-48F3-9B0F-D5C3E4561B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984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00BF-B91D-6F7A-2022-74F963D12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Activity : create first fabric workspace</a:t>
            </a:r>
          </a:p>
        </p:txBody>
      </p:sp>
    </p:spTree>
    <p:extLst>
      <p:ext uri="{BB962C8B-B14F-4D97-AF65-F5344CB8AC3E}">
        <p14:creationId xmlns:p14="http://schemas.microsoft.com/office/powerpoint/2010/main" val="3936970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DCB3-647F-088B-6972-7E6FF37B5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81064" cy="681037"/>
          </a:xfrm>
        </p:spPr>
        <p:txBody>
          <a:bodyPr>
            <a:normAutofit/>
          </a:bodyPr>
          <a:lstStyle/>
          <a:p>
            <a:r>
              <a:rPr lang="en-US" sz="3600" dirty="0"/>
              <a:t>🔐 Microsoft Fabric Security Model &amp; Azure AD Integration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4996E-5801-26A4-0829-387A03E4E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136" y="1067088"/>
            <a:ext cx="10515600" cy="579091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1️⃣ Foundation of Fabric Security</a:t>
            </a:r>
          </a:p>
          <a:p>
            <a:r>
              <a:rPr lang="en-US" dirty="0"/>
              <a:t>Microsoft Fabric security is built on </a:t>
            </a:r>
            <a:r>
              <a:rPr lang="en-US" b="1" dirty="0"/>
              <a:t>Microsoft Entra ID (formerly Azure Active Directory)</a:t>
            </a:r>
            <a:r>
              <a:rPr lang="en-US" dirty="0"/>
              <a:t>.</a:t>
            </a:r>
          </a:p>
          <a:p>
            <a:r>
              <a:rPr lang="en-US" dirty="0"/>
              <a:t>👉 </a:t>
            </a:r>
            <a:r>
              <a:rPr lang="en-US" b="1" dirty="0"/>
              <a:t>Everything in Fabric is identity-driven</a:t>
            </a:r>
            <a:endParaRPr lang="en-US" dirty="0"/>
          </a:p>
          <a:p>
            <a:r>
              <a:rPr lang="en-US" dirty="0"/>
              <a:t>✔️ Centralized identity</a:t>
            </a:r>
            <a:br>
              <a:rPr lang="en-US" dirty="0"/>
            </a:br>
            <a:r>
              <a:rPr lang="en-US" dirty="0"/>
              <a:t>✔️ Role-based access control</a:t>
            </a:r>
            <a:br>
              <a:rPr lang="en-US" dirty="0"/>
            </a:br>
            <a:r>
              <a:rPr lang="en-US" dirty="0"/>
              <a:t>✔️ Unified across all workloads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2️⃣ Key Security Pillars in Fabric</a:t>
            </a:r>
          </a:p>
          <a:p>
            <a:endParaRPr lang="en-US" dirty="0"/>
          </a:p>
          <a:p>
            <a:r>
              <a:rPr lang="en-US" dirty="0"/>
              <a:t>Identity (Entra ID)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Access Control (RBAC)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Workspace Security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Item &amp; Data Security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Governance &amp; Compliance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7153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AE0B5-2ECF-60BE-4739-FA27CA0C4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F2C1-1A5F-D718-451F-65132E27A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3️⃣ Azure AD / Entra ID Integration</a:t>
            </a:r>
          </a:p>
          <a:p>
            <a:endParaRPr lang="en-IN" dirty="0"/>
          </a:p>
          <a:p>
            <a:pPr marL="0" indent="0">
              <a:buNone/>
            </a:pPr>
            <a:r>
              <a:rPr lang="en-US" b="1" dirty="0"/>
              <a:t>🔹 What Entra ID Provides</a:t>
            </a:r>
          </a:p>
          <a:p>
            <a:r>
              <a:rPr lang="en-US" dirty="0"/>
              <a:t>User authentication</a:t>
            </a:r>
          </a:p>
          <a:p>
            <a:r>
              <a:rPr lang="en-US" dirty="0"/>
              <a:t>Group management</a:t>
            </a:r>
          </a:p>
          <a:p>
            <a:r>
              <a:rPr lang="en-US" dirty="0"/>
              <a:t>Service principals</a:t>
            </a:r>
          </a:p>
          <a:p>
            <a:r>
              <a:rPr lang="en-US" dirty="0"/>
              <a:t>Conditional Access</a:t>
            </a:r>
          </a:p>
          <a:p>
            <a:r>
              <a:rPr lang="en-US" dirty="0"/>
              <a:t>MFA enforcement</a:t>
            </a:r>
          </a:p>
          <a:p>
            <a:r>
              <a:rPr lang="en-US" dirty="0"/>
              <a:t>Fabric </a:t>
            </a:r>
            <a:r>
              <a:rPr lang="en-US" b="1" dirty="0"/>
              <a:t>does not manage identities itself</a:t>
            </a:r>
            <a:br>
              <a:rPr lang="en-US" dirty="0"/>
            </a:br>
            <a:r>
              <a:rPr lang="en-US" dirty="0"/>
              <a:t>👉 It </a:t>
            </a:r>
            <a:r>
              <a:rPr lang="en-US" b="1" dirty="0"/>
              <a:t>consumes Entra ID identities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9194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93F-1C04-DAFD-EEFF-42EC422C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F8BA2-2DDF-FBF4-2C2E-34DADE217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4️⃣ Authentication Flow (Simple):</a:t>
            </a:r>
          </a:p>
          <a:p>
            <a:endParaRPr lang="en-IN" dirty="0"/>
          </a:p>
          <a:p>
            <a:r>
              <a:rPr lang="en-IN" dirty="0"/>
              <a:t>User → Entra ID → Fabric → Workspace → Item → Data</a:t>
            </a:r>
          </a:p>
          <a:p>
            <a:r>
              <a:rPr lang="en-IN" dirty="0"/>
              <a:t>✔️ OAuth 2.0 based</a:t>
            </a:r>
          </a:p>
          <a:p>
            <a:r>
              <a:rPr lang="en-IN" dirty="0"/>
              <a:t>✔️ Token-based access</a:t>
            </a:r>
          </a:p>
          <a:p>
            <a:r>
              <a:rPr lang="en-IN" dirty="0"/>
              <a:t>✔️ Secure sign-in</a:t>
            </a:r>
          </a:p>
        </p:txBody>
      </p:sp>
    </p:spTree>
    <p:extLst>
      <p:ext uri="{BB962C8B-B14F-4D97-AF65-F5344CB8AC3E}">
        <p14:creationId xmlns:p14="http://schemas.microsoft.com/office/powerpoint/2010/main" val="109106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FE1EC-5339-14C1-7EC6-6E70D32CC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F4BE-39C4-2344-8BF8-5031EF53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5️⃣ Authorization in Fabric (RBAC Model)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F57350-341C-CAE6-6CB9-867DB229833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909735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3812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5410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Full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2305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 &amp; edit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094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Contributor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Edit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47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Read-only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298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433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6438-D0F5-E6C4-8FF7-6A155ED63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B5C4-90FB-CB03-ED22-B34BAED25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6️⃣ Item-Level Security</a:t>
            </a:r>
          </a:p>
          <a:p>
            <a:r>
              <a:rPr lang="en-IN" b="1" dirty="0"/>
              <a:t>🔹 Dataset / Semantic Model</a:t>
            </a:r>
          </a:p>
          <a:p>
            <a:r>
              <a:rPr lang="en-IN" dirty="0"/>
              <a:t>Row-Level Security (RLS)</a:t>
            </a:r>
          </a:p>
          <a:p>
            <a:r>
              <a:rPr lang="en-IN" dirty="0"/>
              <a:t>Column-Level Security (CLS)</a:t>
            </a:r>
          </a:p>
          <a:p>
            <a:r>
              <a:rPr lang="en-IN" b="1" dirty="0"/>
              <a:t>🔹 Warehouse</a:t>
            </a:r>
          </a:p>
          <a:p>
            <a:r>
              <a:rPr lang="en-IN" dirty="0"/>
              <a:t>SQL permissions</a:t>
            </a:r>
          </a:p>
          <a:p>
            <a:r>
              <a:rPr lang="en-IN" dirty="0"/>
              <a:t>Schema/table access</a:t>
            </a:r>
          </a:p>
          <a:p>
            <a:r>
              <a:rPr lang="en-IN" b="1" dirty="0"/>
              <a:t>🔹 Lakehouse</a:t>
            </a:r>
          </a:p>
          <a:p>
            <a:r>
              <a:rPr lang="en-IN" dirty="0"/>
              <a:t>Spark-based permissions</a:t>
            </a:r>
          </a:p>
          <a:p>
            <a:r>
              <a:rPr lang="en-IN" dirty="0"/>
              <a:t>Table/file access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782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02E7F-870C-8EA7-67E5-7B0FEAEF1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IN" dirty="0"/>
              <a:t>🔐 Item-Level Permissions &amp; Sharing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1236A-D6DB-93FD-A1F5-D8EE95ED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446" y="1087871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1️⃣ What Are Item-Level Permissions?</a:t>
            </a:r>
          </a:p>
          <a:p>
            <a:r>
              <a:rPr lang="en-US" b="1" dirty="0"/>
              <a:t>Item-level permissions</a:t>
            </a:r>
            <a:r>
              <a:rPr lang="en-US" dirty="0"/>
              <a:t> control </a:t>
            </a:r>
            <a:r>
              <a:rPr lang="en-US" b="1" dirty="0"/>
              <a:t>access to individual objects</a:t>
            </a:r>
            <a:r>
              <a:rPr lang="en-US" dirty="0"/>
              <a:t> inside a workspace, such as:</a:t>
            </a:r>
          </a:p>
          <a:p>
            <a:r>
              <a:rPr lang="en-US" dirty="0"/>
              <a:t>Lakehouse</a:t>
            </a:r>
          </a:p>
          <a:p>
            <a:r>
              <a:rPr lang="en-US" dirty="0"/>
              <a:t>Warehouse</a:t>
            </a:r>
          </a:p>
          <a:p>
            <a:r>
              <a:rPr lang="en-US" dirty="0"/>
              <a:t>Semantic model (dataset)</a:t>
            </a:r>
          </a:p>
          <a:p>
            <a:r>
              <a:rPr lang="en-US" dirty="0"/>
              <a:t>Report</a:t>
            </a:r>
          </a:p>
          <a:p>
            <a:r>
              <a:rPr lang="en-US" dirty="0"/>
              <a:t>Notebook</a:t>
            </a:r>
          </a:p>
          <a:p>
            <a:r>
              <a:rPr lang="en-US" dirty="0"/>
              <a:t>Pipeline</a:t>
            </a:r>
          </a:p>
          <a:p>
            <a:r>
              <a:rPr lang="en-US" dirty="0"/>
              <a:t>👉 These permissions apply </a:t>
            </a:r>
            <a:r>
              <a:rPr lang="en-US" b="1" dirty="0"/>
              <a:t>in addition to workspace roles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28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04106-A142-1355-91DE-E12AC7CF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2️⃣ Workspace Roles vs Item-Level Permissions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D1B12-6462-DFD8-3400-CEE9839B51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570675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41281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124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Workspace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Broad access (Admin, Member, Contributor, Viewer)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818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Item-Level Permission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Fine-grained control on specific items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52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2896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5E8A7-8C28-99A4-AB10-171C5660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US" dirty="0"/>
              <a:t>3️⃣ Item-Level Permissions by Item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12638-69AB-5B12-41F0-584D0EC55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1. Reports &amp; Dashboards (Power BI)</a:t>
            </a:r>
          </a:p>
          <a:p>
            <a:r>
              <a:rPr lang="en-US" b="1" dirty="0"/>
              <a:t>Permissions:</a:t>
            </a:r>
            <a:endParaRPr lang="en-US" dirty="0"/>
          </a:p>
          <a:p>
            <a:r>
              <a:rPr lang="en-US" dirty="0"/>
              <a:t>View</a:t>
            </a:r>
          </a:p>
          <a:p>
            <a:r>
              <a:rPr lang="en-US" dirty="0"/>
              <a:t>Reshare</a:t>
            </a:r>
          </a:p>
          <a:p>
            <a:r>
              <a:rPr lang="en-US" dirty="0"/>
              <a:t>Build (if dataset allowed)</a:t>
            </a:r>
          </a:p>
          <a:p>
            <a:r>
              <a:rPr lang="en-US" b="1" dirty="0"/>
              <a:t>Sharing Options:</a:t>
            </a:r>
            <a:endParaRPr lang="en-US" dirty="0"/>
          </a:p>
          <a:p>
            <a:r>
              <a:rPr lang="en-US" dirty="0"/>
              <a:t>Share with users/groups</a:t>
            </a:r>
          </a:p>
          <a:p>
            <a:r>
              <a:rPr lang="en-US" dirty="0"/>
              <a:t>Share link</a:t>
            </a:r>
          </a:p>
          <a:p>
            <a:r>
              <a:rPr lang="en-US" dirty="0"/>
              <a:t>App publishing</a:t>
            </a:r>
          </a:p>
          <a:p>
            <a:r>
              <a:rPr lang="en-US" dirty="0"/>
              <a:t>📌 Viewers can access reports </a:t>
            </a:r>
            <a:r>
              <a:rPr lang="en-US" b="1" dirty="0"/>
              <a:t>without workspace access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381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D366-9FDD-7AED-6580-9B0961152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0236-0CA0-EBB8-5A67-2793FA962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🔹 2. Semantic Models (Datasets)</a:t>
            </a:r>
          </a:p>
          <a:p>
            <a:r>
              <a:rPr lang="en-US" b="1" dirty="0"/>
              <a:t>Permissions:</a:t>
            </a:r>
            <a:endParaRPr lang="en-US" dirty="0"/>
          </a:p>
          <a:p>
            <a:r>
              <a:rPr lang="en-US" dirty="0"/>
              <a:t>Read</a:t>
            </a:r>
          </a:p>
          <a:p>
            <a:r>
              <a:rPr lang="en-US" dirty="0"/>
              <a:t>Build</a:t>
            </a:r>
          </a:p>
          <a:p>
            <a:r>
              <a:rPr lang="en-US" dirty="0"/>
              <a:t>Reshare</a:t>
            </a:r>
          </a:p>
          <a:p>
            <a:r>
              <a:rPr lang="en-US" b="1" dirty="0"/>
              <a:t>Security Features:</a:t>
            </a:r>
            <a:endParaRPr lang="en-US" dirty="0"/>
          </a:p>
          <a:p>
            <a:r>
              <a:rPr lang="en-US" dirty="0"/>
              <a:t>Row-Level Security (RLS)</a:t>
            </a:r>
          </a:p>
          <a:p>
            <a:r>
              <a:rPr lang="en-US" dirty="0"/>
              <a:t>Column-Level Security (CLS)</a:t>
            </a:r>
          </a:p>
          <a:p>
            <a:r>
              <a:rPr lang="en-US" dirty="0"/>
              <a:t>📌 Build permission allows:</a:t>
            </a:r>
          </a:p>
          <a:p>
            <a:r>
              <a:rPr lang="en-US" dirty="0"/>
              <a:t>Create reports</a:t>
            </a:r>
          </a:p>
          <a:p>
            <a:r>
              <a:rPr lang="en-US" dirty="0"/>
              <a:t>Use in Analyze in Excel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00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40E6-2F8A-E643-7B57-FA7D9E3C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63F7D-992E-63AE-7CF7-5E022C99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🔹 3. Lakehouse Permissions</a:t>
            </a:r>
          </a:p>
          <a:p>
            <a:r>
              <a:rPr lang="en-US" b="1" dirty="0"/>
              <a:t>Access Types:</a:t>
            </a:r>
            <a:endParaRPr lang="en-US" dirty="0"/>
          </a:p>
          <a:p>
            <a:r>
              <a:rPr lang="en-US" dirty="0"/>
              <a:t>Read</a:t>
            </a:r>
          </a:p>
          <a:p>
            <a:r>
              <a:rPr lang="en-US" dirty="0"/>
              <a:t>Write (via workspace role)</a:t>
            </a:r>
          </a:p>
          <a:p>
            <a:r>
              <a:rPr lang="en-US" dirty="0"/>
              <a:t>Spark table access</a:t>
            </a:r>
          </a:p>
          <a:p>
            <a:r>
              <a:rPr lang="en-US" dirty="0"/>
              <a:t>📌 Controlled mainly by </a:t>
            </a:r>
            <a:r>
              <a:rPr lang="en-US" b="1" dirty="0"/>
              <a:t>workspace roles</a:t>
            </a:r>
            <a:br>
              <a:rPr lang="en-US" dirty="0"/>
            </a:br>
            <a:r>
              <a:rPr lang="en-US" dirty="0"/>
              <a:t>📌 Fine-grained table access via Spark / SQL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4046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FFAD-310A-FDAE-86A9-F0DF7DE46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595CA-ADEE-C79E-371C-D116F0512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🔹 4. Warehouse Permissions</a:t>
            </a:r>
          </a:p>
          <a:p>
            <a:r>
              <a:rPr lang="en-IN" b="1" dirty="0"/>
              <a:t>SQL Permissions:</a:t>
            </a:r>
            <a:endParaRPr lang="en-IN" dirty="0"/>
          </a:p>
          <a:p>
            <a:r>
              <a:rPr lang="en-IN" dirty="0"/>
              <a:t>SELECT</a:t>
            </a:r>
          </a:p>
          <a:p>
            <a:r>
              <a:rPr lang="en-IN" dirty="0"/>
              <a:t>INSERT</a:t>
            </a:r>
          </a:p>
          <a:p>
            <a:r>
              <a:rPr lang="en-IN" dirty="0"/>
              <a:t>UPDATE</a:t>
            </a:r>
          </a:p>
          <a:p>
            <a:r>
              <a:rPr lang="en-IN" dirty="0"/>
              <a:t>DELETE</a:t>
            </a:r>
          </a:p>
          <a:p>
            <a:r>
              <a:rPr lang="en-IN" dirty="0"/>
              <a:t>EXECUTE</a:t>
            </a:r>
          </a:p>
          <a:p>
            <a:r>
              <a:rPr lang="en-IN" dirty="0"/>
              <a:t>📌 Managed using </a:t>
            </a:r>
            <a:r>
              <a:rPr lang="en-IN" b="1" dirty="0"/>
              <a:t>T-SQL GRANT statements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9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A4012-374D-E2D8-5E28-747E018EA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4️⃣ Sharing Methods in Fabric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B2A27-8859-99ED-5392-22A3A3A1E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🔹 Share (Direct Sharing)</a:t>
            </a:r>
          </a:p>
          <a:p>
            <a:r>
              <a:rPr lang="en-US" dirty="0"/>
              <a:t>Share reports or datasets</a:t>
            </a:r>
          </a:p>
          <a:p>
            <a:r>
              <a:rPr lang="en-US" dirty="0"/>
              <a:t>Assign View / Build permissions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Apps (Recommended for PROD)</a:t>
            </a:r>
          </a:p>
          <a:p>
            <a:r>
              <a:rPr lang="en-US" dirty="0"/>
              <a:t>Publish workspace as an App</a:t>
            </a:r>
          </a:p>
          <a:p>
            <a:r>
              <a:rPr lang="en-US" dirty="0"/>
              <a:t>Controlled access</a:t>
            </a:r>
          </a:p>
          <a:p>
            <a:r>
              <a:rPr lang="en-US" dirty="0"/>
              <a:t>Read-only for users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Links</a:t>
            </a:r>
          </a:p>
          <a:p>
            <a:r>
              <a:rPr lang="en-US" dirty="0"/>
              <a:t>Shareable URLs</a:t>
            </a:r>
          </a:p>
          <a:p>
            <a:r>
              <a:rPr lang="en-US" dirty="0"/>
              <a:t>Can restrict resharing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958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3CB8-52BF-A811-5E39-CDA07DB5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5️⃣ Common Sharing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DB5F-2D3F-C5CE-E354-89017342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🔹 Scenario 1: Business User</a:t>
            </a:r>
          </a:p>
          <a:p>
            <a:r>
              <a:rPr lang="en-IN" dirty="0"/>
              <a:t>Workspace role: ❌ None</a:t>
            </a:r>
          </a:p>
          <a:p>
            <a:r>
              <a:rPr lang="en-IN" dirty="0"/>
              <a:t>Item access: ✔️ Report (View)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Scenario 2: Analyst</a:t>
            </a:r>
          </a:p>
          <a:p>
            <a:r>
              <a:rPr lang="en-IN" dirty="0"/>
              <a:t>Workspace role: Viewer</a:t>
            </a:r>
          </a:p>
          <a:p>
            <a:r>
              <a:rPr lang="en-IN" dirty="0"/>
              <a:t>Dataset: Build permission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Scenario 3: External User</a:t>
            </a:r>
          </a:p>
          <a:p>
            <a:r>
              <a:rPr lang="en-IN" dirty="0"/>
              <a:t>Access via App</a:t>
            </a:r>
          </a:p>
          <a:p>
            <a:r>
              <a:rPr lang="en-IN" dirty="0"/>
              <a:t>Subject to tenant policies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861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77D68-B406-24DF-230A-4A655240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61063"/>
          </a:xfrm>
        </p:spPr>
        <p:txBody>
          <a:bodyPr/>
          <a:lstStyle/>
          <a:p>
            <a:r>
              <a:rPr lang="en-US" dirty="0"/>
              <a:t>🔐 Data Loss Prevention (DLP) – Microsoft Fabric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500AA-1F11-4C83-57FE-6933CCAEB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What is Data Loss Prevention (DLP)?</a:t>
            </a:r>
          </a:p>
          <a:p>
            <a:r>
              <a:rPr lang="en-US" b="1" dirty="0"/>
              <a:t>Data Loss Prevention (DLP)</a:t>
            </a:r>
            <a:r>
              <a:rPr lang="en-US" dirty="0"/>
              <a:t> is a security mechanism that </a:t>
            </a:r>
            <a:r>
              <a:rPr lang="en-US" b="1" dirty="0"/>
              <a:t>prevents sensitive data from being shared, leaked, or misused</a:t>
            </a:r>
            <a:r>
              <a:rPr lang="en-US" dirty="0"/>
              <a:t> unintentionally or maliciously.</a:t>
            </a:r>
          </a:p>
          <a:p>
            <a:r>
              <a:rPr lang="en-US" dirty="0"/>
              <a:t>👉 In Microsoft Fabric, DLP is enforced through </a:t>
            </a:r>
            <a:r>
              <a:rPr lang="en-US" b="1" dirty="0"/>
              <a:t>Microsoft Purview + Microsoft Entra ID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8382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BB64-B0C6-7D50-ACCC-E233DB60A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DLP Architecture in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EE25B-D810-5484-8B58-591B2DD4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in Fabric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Sensitivity Labels (Purview)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DLP Policies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User Actions (Export, Share, Download)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Allow / Block / Audit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267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9750-2614-1565-BBA9-856CBA93F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DLP in Fabric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E17A7-4391-EE7E-6ABE-F0D9BD8C8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🔹 1. Microsoft Purview (Foundation)</a:t>
            </a:r>
          </a:p>
          <a:p>
            <a:r>
              <a:rPr lang="en-US" dirty="0"/>
              <a:t>Purview provides:</a:t>
            </a:r>
          </a:p>
          <a:p>
            <a:r>
              <a:rPr lang="en-US" dirty="0"/>
              <a:t>Sensitivity labels</a:t>
            </a:r>
          </a:p>
          <a:p>
            <a:r>
              <a:rPr lang="en-US" dirty="0"/>
              <a:t>Data classification</a:t>
            </a:r>
          </a:p>
          <a:p>
            <a:r>
              <a:rPr lang="en-US" dirty="0"/>
              <a:t>DLP policy enforcement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Public</a:t>
            </a:r>
          </a:p>
          <a:p>
            <a:r>
              <a:rPr lang="en-US" dirty="0"/>
              <a:t>Internal</a:t>
            </a:r>
          </a:p>
          <a:p>
            <a:r>
              <a:rPr lang="en-US" dirty="0"/>
              <a:t>Confidential</a:t>
            </a:r>
          </a:p>
          <a:p>
            <a:r>
              <a:rPr lang="en-US" dirty="0"/>
              <a:t>Highly Confidential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588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28775-E99A-209E-8285-AA981EF2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🔹 2. Sensitivity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CD5A7-183A-F8A9-2892-401D04832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Labels define </a:t>
            </a:r>
            <a:r>
              <a:rPr lang="en-US" b="1" dirty="0"/>
              <a:t>how data should be handled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Labels can be applied to:</a:t>
            </a:r>
          </a:p>
          <a:p>
            <a:r>
              <a:rPr lang="en-US" dirty="0"/>
              <a:t>Semantic models</a:t>
            </a:r>
          </a:p>
          <a:p>
            <a:r>
              <a:rPr lang="en-US" dirty="0"/>
              <a:t>Reports</a:t>
            </a:r>
          </a:p>
          <a:p>
            <a:r>
              <a:rPr lang="en-US" dirty="0"/>
              <a:t>Dataflows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419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F9B0-438A-F5B3-035A-0978345A0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DLP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44970-5496-6671-2796-6ECB2464E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DLP policies define </a:t>
            </a:r>
            <a:r>
              <a:rPr lang="en-US" b="1" dirty="0"/>
              <a:t>what actions are allowed or blocked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Block export of confidential data</a:t>
            </a:r>
          </a:p>
          <a:p>
            <a:r>
              <a:rPr lang="en-US" dirty="0"/>
              <a:t>Prevent sharing outside organization</a:t>
            </a:r>
          </a:p>
          <a:p>
            <a:r>
              <a:rPr lang="en-US" dirty="0"/>
              <a:t>Audit access attempts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974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5655-7A08-5731-EAF4-3F662C951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5️⃣ DLP Actions Controlled in Fabric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09706-1556-7FA0-5991-605EF352B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✔️ Export to Excel / CSV</a:t>
            </a:r>
            <a:br>
              <a:rPr lang="en-IN" dirty="0"/>
            </a:br>
            <a:r>
              <a:rPr lang="en-IN" dirty="0"/>
              <a:t>✔️ Download PBIX</a:t>
            </a:r>
            <a:br>
              <a:rPr lang="en-IN" dirty="0"/>
            </a:br>
            <a:r>
              <a:rPr lang="en-IN" dirty="0"/>
              <a:t>✔️ Share reports</a:t>
            </a:r>
            <a:br>
              <a:rPr lang="en-IN" dirty="0"/>
            </a:br>
            <a:r>
              <a:rPr lang="en-IN" dirty="0"/>
              <a:t>✔️ Copy data</a:t>
            </a:r>
            <a:br>
              <a:rPr lang="en-IN" dirty="0"/>
            </a:br>
            <a:r>
              <a:rPr lang="en-IN" dirty="0"/>
              <a:t>✔️ Publish externally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195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B626E-CDBC-C1EB-4112-837F6327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6️⃣ Example DLP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BCCE6-E121-C675-0756-40921853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🔹 Scenario 1: Confidential Sales Data</a:t>
            </a:r>
          </a:p>
          <a:p>
            <a:r>
              <a:rPr lang="en-US" dirty="0"/>
              <a:t>Label: </a:t>
            </a:r>
            <a:r>
              <a:rPr lang="en-US" b="1" dirty="0"/>
              <a:t>Confidential</a:t>
            </a:r>
            <a:endParaRPr lang="en-US" dirty="0"/>
          </a:p>
          <a:p>
            <a:r>
              <a:rPr lang="en-US" dirty="0"/>
              <a:t>Rule: Block export</a:t>
            </a:r>
          </a:p>
          <a:p>
            <a:r>
              <a:rPr lang="en-US" dirty="0"/>
              <a:t>Result: User can view report but </a:t>
            </a:r>
            <a:r>
              <a:rPr lang="en-US" b="1" dirty="0"/>
              <a:t>cannot export data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Scenario 2: External Sharing Block</a:t>
            </a:r>
          </a:p>
          <a:p>
            <a:r>
              <a:rPr lang="en-US" dirty="0"/>
              <a:t>Label: </a:t>
            </a:r>
            <a:r>
              <a:rPr lang="en-US" b="1" dirty="0"/>
              <a:t>Highly Confidential</a:t>
            </a:r>
            <a:endParaRPr lang="en-US" dirty="0"/>
          </a:p>
          <a:p>
            <a:r>
              <a:rPr lang="en-US" dirty="0"/>
              <a:t>Rule: Block external sharing</a:t>
            </a:r>
          </a:p>
          <a:p>
            <a:r>
              <a:rPr lang="en-US" dirty="0"/>
              <a:t>Result: Only internal users allowed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🔹 Scenario 3: Audit Only</a:t>
            </a:r>
          </a:p>
          <a:p>
            <a:r>
              <a:rPr lang="en-US" dirty="0"/>
              <a:t>Label: Internal</a:t>
            </a:r>
          </a:p>
          <a:p>
            <a:r>
              <a:rPr lang="en-US" dirty="0"/>
              <a:t>Rule: Allow export + audit</a:t>
            </a:r>
          </a:p>
          <a:p>
            <a:r>
              <a:rPr lang="en-US" dirty="0"/>
              <a:t>Result: Activity logged for compliance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5816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B446D-6DDA-78C3-C4CF-B4449D24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🛡️ Compliance &amp; Audit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CB4E-79F8-5DEF-2472-B03DEAE64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1️⃣ What Do Compliance &amp; Audit Mean in Fabric?</a:t>
            </a:r>
          </a:p>
          <a:p>
            <a:r>
              <a:rPr lang="en-US" b="1" dirty="0"/>
              <a:t>🔹 Compliance</a:t>
            </a:r>
          </a:p>
          <a:p>
            <a:r>
              <a:rPr lang="en-US" dirty="0"/>
              <a:t>Ensures Fabric meets </a:t>
            </a:r>
            <a:r>
              <a:rPr lang="en-US" b="1" dirty="0"/>
              <a:t>regulatory, legal, and organizational requirements</a:t>
            </a:r>
            <a:r>
              <a:rPr lang="en-US" dirty="0"/>
              <a:t>.</a:t>
            </a:r>
          </a:p>
          <a:p>
            <a:r>
              <a:rPr lang="en-US" b="1" dirty="0"/>
              <a:t>🔹 Audit</a:t>
            </a:r>
          </a:p>
          <a:p>
            <a:r>
              <a:rPr lang="en-US" dirty="0"/>
              <a:t>Tracks </a:t>
            </a:r>
            <a:r>
              <a:rPr lang="en-US" b="1" dirty="0"/>
              <a:t>who did what, when, and where</a:t>
            </a:r>
            <a:r>
              <a:rPr lang="en-US" dirty="0"/>
              <a:t> across Fabric workloads.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73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7CA6-8C92-4A8B-70E0-EE673F6A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1494F-0F62-B1D7-BDB4-5179C1261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2️⃣ Compliance Frameworks Supported</a:t>
            </a:r>
          </a:p>
          <a:p>
            <a:r>
              <a:rPr lang="en-IN" dirty="0"/>
              <a:t>Microsoft Fabric inherits compliance from </a:t>
            </a:r>
            <a:r>
              <a:rPr lang="en-IN" b="1" dirty="0"/>
              <a:t>Microsoft Azure &amp; Microsoft 365</a:t>
            </a:r>
            <a:r>
              <a:rPr lang="en-IN" dirty="0"/>
              <a:t>.</a:t>
            </a:r>
          </a:p>
          <a:p>
            <a:r>
              <a:rPr lang="en-IN" dirty="0"/>
              <a:t>✔️ ISO 27001</a:t>
            </a:r>
            <a:br>
              <a:rPr lang="en-IN" dirty="0"/>
            </a:br>
            <a:r>
              <a:rPr lang="en-IN" dirty="0"/>
              <a:t>✔️ SOC 1, SOC 2, SOC 3</a:t>
            </a:r>
            <a:br>
              <a:rPr lang="en-IN" dirty="0"/>
            </a:br>
            <a:r>
              <a:rPr lang="en-IN" dirty="0"/>
              <a:t>✔️ GDPR</a:t>
            </a:r>
            <a:br>
              <a:rPr lang="en-IN" dirty="0"/>
            </a:br>
            <a:r>
              <a:rPr lang="en-IN" dirty="0"/>
              <a:t>✔️ HIPAA</a:t>
            </a:r>
            <a:br>
              <a:rPr lang="en-IN" dirty="0"/>
            </a:br>
            <a:r>
              <a:rPr lang="en-IN" dirty="0"/>
              <a:t>✔️ PCI-DSS</a:t>
            </a:r>
            <a:br>
              <a:rPr lang="en-IN" dirty="0"/>
            </a:br>
            <a:r>
              <a:rPr lang="en-IN" dirty="0"/>
              <a:t>✔️ FedRAMP (selected regions)</a:t>
            </a:r>
          </a:p>
          <a:p>
            <a:r>
              <a:rPr lang="en-IN" dirty="0"/>
              <a:t>👉 Compliance is </a:t>
            </a:r>
            <a:r>
              <a:rPr lang="en-IN" b="1" dirty="0"/>
              <a:t>certification-based</a:t>
            </a:r>
            <a:r>
              <a:rPr lang="en-IN" dirty="0"/>
              <a:t>, not customer-configured.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9665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468B-30DE-0572-6AFE-FF1C4BCF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9BB58-A145-D988-8480-07BC6B81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3️⃣ Core Compliance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1AF0F1-FCF2-7492-B184-5CE1D617058B}"/>
              </a:ext>
            </a:extLst>
          </p:cNvPr>
          <p:cNvSpPr txBox="1"/>
          <p:nvPr/>
        </p:nvSpPr>
        <p:spPr>
          <a:xfrm>
            <a:off x="2257425" y="3234220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Fabric Platform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Microsoft Entra ID (Identity)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Microsoft Purview (Governance)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Audit Logs &amp; Monitoring</a:t>
            </a:r>
          </a:p>
        </p:txBody>
      </p:sp>
    </p:spTree>
    <p:extLst>
      <p:ext uri="{BB962C8B-B14F-4D97-AF65-F5344CB8AC3E}">
        <p14:creationId xmlns:p14="http://schemas.microsoft.com/office/powerpoint/2010/main" val="99368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39175-D61E-D30F-B48C-93A360C3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394EB-2A11-0F5D-933F-E98444446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4️⃣ Audit Capabilities in Fabric:</a:t>
            </a:r>
          </a:p>
          <a:p>
            <a:endParaRPr lang="en-US" dirty="0"/>
          </a:p>
          <a:p>
            <a:r>
              <a:rPr lang="en-IN" b="1" dirty="0"/>
              <a:t>Microsoft Purview Audit Logs</a:t>
            </a:r>
          </a:p>
          <a:p>
            <a:r>
              <a:rPr lang="en-IN" dirty="0"/>
              <a:t>Fabric activities are recorded in </a:t>
            </a:r>
            <a:r>
              <a:rPr lang="en-IN" b="1" dirty="0"/>
              <a:t>Microsoft Purview Audit (Standard &amp; Premium)</a:t>
            </a:r>
            <a:r>
              <a:rPr lang="en-IN" dirty="0"/>
              <a:t>.</a:t>
            </a:r>
          </a:p>
          <a:p>
            <a:r>
              <a:rPr lang="en-IN" dirty="0"/>
              <a:t>Captured events include:</a:t>
            </a:r>
          </a:p>
          <a:p>
            <a:r>
              <a:rPr lang="en-IN" dirty="0"/>
              <a:t>Workspace creation/deletion</a:t>
            </a:r>
          </a:p>
          <a:p>
            <a:r>
              <a:rPr lang="en-IN" dirty="0"/>
              <a:t>User access</a:t>
            </a:r>
          </a:p>
          <a:p>
            <a:r>
              <a:rPr lang="en-IN" dirty="0"/>
              <a:t>Report views</a:t>
            </a:r>
          </a:p>
          <a:p>
            <a:r>
              <a:rPr lang="en-IN" dirty="0"/>
              <a:t>Dataset refresh</a:t>
            </a:r>
          </a:p>
          <a:p>
            <a:r>
              <a:rPr lang="en-IN" dirty="0"/>
              <a:t>Sharing actions</a:t>
            </a:r>
          </a:p>
          <a:p>
            <a:r>
              <a:rPr lang="en-IN" dirty="0"/>
              <a:t>Export/download attempts</a:t>
            </a:r>
          </a:p>
          <a:p>
            <a:r>
              <a:rPr lang="en-IN" dirty="0"/>
              <a:t>Admin changes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72951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7614-3D11-6A96-DD4E-43B28910C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1FEA-170C-0E23-00CA-E853E7E1A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Activity Log (Who Did What)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EE1B98-262F-C48C-450B-A38E81D3B1F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6807659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67877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Audited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80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80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Report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388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Export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601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645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Permission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39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0666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DC07-FC9A-ECAA-5600-BCE0C792B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🏷️ Sensitivity Labels &amp; Data 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30C0-A07D-F50F-C77C-86B5163CB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1️⃣ What is Data Classification?</a:t>
            </a:r>
          </a:p>
          <a:p>
            <a:r>
              <a:rPr lang="en-US" b="1" dirty="0"/>
              <a:t>Data Classification</a:t>
            </a:r>
            <a:r>
              <a:rPr lang="en-US" dirty="0"/>
              <a:t> is the process of </a:t>
            </a:r>
            <a:r>
              <a:rPr lang="en-US" b="1" dirty="0"/>
              <a:t>identifying and categorizing data based on sensitivity and risk</a:t>
            </a:r>
            <a:r>
              <a:rPr lang="en-US" dirty="0"/>
              <a:t>.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Public</a:t>
            </a:r>
          </a:p>
          <a:p>
            <a:r>
              <a:rPr lang="en-US" dirty="0"/>
              <a:t>Internal</a:t>
            </a:r>
          </a:p>
          <a:p>
            <a:r>
              <a:rPr lang="en-US" dirty="0"/>
              <a:t>Confidential</a:t>
            </a:r>
          </a:p>
          <a:p>
            <a:r>
              <a:rPr lang="en-US" dirty="0"/>
              <a:t>Highly Confidential</a:t>
            </a:r>
          </a:p>
          <a:p>
            <a:r>
              <a:rPr lang="en-US" dirty="0"/>
              <a:t>👉 In Microsoft Fabric, classification is powered by </a:t>
            </a:r>
            <a:r>
              <a:rPr lang="en-US" b="1" dirty="0"/>
              <a:t>Microsoft Purview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3196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4CCE4-36B5-1D26-A27A-9E012877B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9F01-8CD2-2DA1-74B9-AC2FA4A0A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2️⃣ What Are Sensitivity Labels?</a:t>
            </a:r>
          </a:p>
          <a:p>
            <a:r>
              <a:rPr lang="en-US" b="1" dirty="0"/>
              <a:t>Sensitivity labels</a:t>
            </a:r>
            <a:r>
              <a:rPr lang="en-US" dirty="0"/>
              <a:t> define </a:t>
            </a:r>
            <a:r>
              <a:rPr lang="en-US" b="1" dirty="0"/>
              <a:t>how data should be protected and handled</a:t>
            </a:r>
            <a:r>
              <a:rPr lang="en-US" dirty="0"/>
              <a:t>.</a:t>
            </a:r>
          </a:p>
          <a:p>
            <a:r>
              <a:rPr lang="en-US" dirty="0"/>
              <a:t>They control:</a:t>
            </a:r>
          </a:p>
          <a:p>
            <a:r>
              <a:rPr lang="en-US" dirty="0"/>
              <a:t>Who can access</a:t>
            </a:r>
          </a:p>
          <a:p>
            <a:r>
              <a:rPr lang="en-US" dirty="0"/>
              <a:t>How data can be shared</a:t>
            </a:r>
          </a:p>
          <a:p>
            <a:r>
              <a:rPr lang="en-US" dirty="0"/>
              <a:t>Whether data can be exported or downloaded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007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6534-F3FA-70D0-CAF4-CE1824B6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F517-B055-5443-CEAC-2A3A820C1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3️⃣ Where Sensitivity Labels Are Applied in Fabric</a:t>
            </a:r>
          </a:p>
          <a:p>
            <a:r>
              <a:rPr lang="en-IN" dirty="0"/>
              <a:t>Labels can be applied to:</a:t>
            </a:r>
          </a:p>
          <a:p>
            <a:r>
              <a:rPr lang="en-IN" dirty="0"/>
              <a:t>✔️ Semantic models (datasets)</a:t>
            </a:r>
            <a:br>
              <a:rPr lang="en-IN" dirty="0"/>
            </a:br>
            <a:r>
              <a:rPr lang="en-IN" dirty="0"/>
              <a:t>✔️ Reports</a:t>
            </a:r>
            <a:br>
              <a:rPr lang="en-IN" dirty="0"/>
            </a:br>
            <a:r>
              <a:rPr lang="en-IN" dirty="0"/>
              <a:t>✔️ Dashboards</a:t>
            </a:r>
            <a:br>
              <a:rPr lang="en-IN" dirty="0"/>
            </a:br>
            <a:r>
              <a:rPr lang="en-IN" dirty="0"/>
              <a:t>✔️ Dataflows Gen2</a:t>
            </a:r>
            <a:br>
              <a:rPr lang="en-IN" dirty="0"/>
            </a:br>
            <a:r>
              <a:rPr lang="en-IN" dirty="0"/>
              <a:t>✔️ Excel exports</a:t>
            </a:r>
          </a:p>
          <a:p>
            <a:r>
              <a:rPr lang="en-IN" dirty="0"/>
              <a:t>📌 Labels </a:t>
            </a:r>
            <a:r>
              <a:rPr lang="en-IN" b="1" dirty="0"/>
              <a:t>flow with the data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852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24E0-776E-3ACB-06DF-DCC8E67E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Example Labels in Fabric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1700EFC-A24C-2892-E11B-30C60DA16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7981946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18012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2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Public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Marketing dashboards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463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Operational KPIs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087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Confidential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Revenue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832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Highly Confidential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PII / Financial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27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831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83C4-326C-649A-9F1D-0C12117C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Classification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0C413-6173-DC17-4A56-88BD1D0E4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🔹 Manual Classification</a:t>
            </a:r>
          </a:p>
          <a:p>
            <a:r>
              <a:rPr lang="en-IN" dirty="0"/>
              <a:t>User applies label while publishing</a:t>
            </a:r>
          </a:p>
          <a:p>
            <a:r>
              <a:rPr lang="en-IN" dirty="0"/>
              <a:t>Most common in Fabric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Automatic Classification</a:t>
            </a:r>
          </a:p>
          <a:p>
            <a:r>
              <a:rPr lang="en-IN" dirty="0"/>
              <a:t>Based on rules (PII, credit card, Aadhaar, PAN, etc.)</a:t>
            </a:r>
          </a:p>
          <a:p>
            <a:r>
              <a:rPr lang="en-IN" dirty="0"/>
              <a:t>Powered by Purview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🔹 Recommended Classification</a:t>
            </a:r>
          </a:p>
          <a:p>
            <a:r>
              <a:rPr lang="en-IN" dirty="0"/>
              <a:t>System suggests label</a:t>
            </a:r>
          </a:p>
          <a:p>
            <a:r>
              <a:rPr lang="en-IN" dirty="0"/>
              <a:t>User confirms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354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1174</Words>
  <Application>Microsoft Office PowerPoint</Application>
  <PresentationFormat>Widescreen</PresentationFormat>
  <Paragraphs>272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Activity : create first fabric workspace</vt:lpstr>
      <vt:lpstr>🔐 Microsoft Fabric Security Model &amp; Azure AD Integration</vt:lpstr>
      <vt:lpstr>PowerPoint Presentation</vt:lpstr>
      <vt:lpstr>PowerPoint Presentation</vt:lpstr>
      <vt:lpstr>PowerPoint Presentation</vt:lpstr>
      <vt:lpstr>PowerPoint Presentation</vt:lpstr>
      <vt:lpstr>🔐 Item-Level Permissions &amp; Sharing</vt:lpstr>
      <vt:lpstr>2️⃣ Workspace Roles vs Item-Level Permissions</vt:lpstr>
      <vt:lpstr>3️⃣ Item-Level Permissions by Item Type</vt:lpstr>
      <vt:lpstr>PowerPoint Presentation</vt:lpstr>
      <vt:lpstr>PowerPoint Presentation</vt:lpstr>
      <vt:lpstr>PowerPoint Presentation</vt:lpstr>
      <vt:lpstr>4️⃣ Sharing Methods in Fabric </vt:lpstr>
      <vt:lpstr>5️⃣ Common Sharing Scenarios</vt:lpstr>
      <vt:lpstr>🔐 Data Loss Prevention (DLP) – Microsoft Fabric</vt:lpstr>
      <vt:lpstr>DLP Architecture in Fabric</vt:lpstr>
      <vt:lpstr>Key Components of DLP in Fabric</vt:lpstr>
      <vt:lpstr>🔹 2. Sensitivity Labels</vt:lpstr>
      <vt:lpstr>3. DLP Policies</vt:lpstr>
      <vt:lpstr>5️⃣ DLP Actions Controlled in Fabric</vt:lpstr>
      <vt:lpstr>6️⃣ Example DLP Scenarios</vt:lpstr>
      <vt:lpstr>🛡️ Compliance &amp; Audit Capabilities</vt:lpstr>
      <vt:lpstr>PowerPoint Presentation</vt:lpstr>
      <vt:lpstr>PowerPoint Presentation</vt:lpstr>
      <vt:lpstr>PowerPoint Presentation</vt:lpstr>
      <vt:lpstr>PowerPoint Presentation</vt:lpstr>
      <vt:lpstr>🏷️ Sensitivity Labels &amp; Data Classification</vt:lpstr>
      <vt:lpstr>PowerPoint Presentation</vt:lpstr>
      <vt:lpstr>PowerPoint Presentation</vt:lpstr>
      <vt:lpstr>Example Labels in Fabric</vt:lpstr>
      <vt:lpstr>Data Classification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D</dc:creator>
  <cp:lastModifiedBy>Rajesh D</cp:lastModifiedBy>
  <cp:revision>4</cp:revision>
  <dcterms:created xsi:type="dcterms:W3CDTF">2026-01-06T06:52:38Z</dcterms:created>
  <dcterms:modified xsi:type="dcterms:W3CDTF">2026-01-06T07:07:18Z</dcterms:modified>
</cp:coreProperties>
</file>