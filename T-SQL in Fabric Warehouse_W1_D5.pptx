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909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930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878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342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974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161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4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348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518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413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045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880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Holographic neon on a shiny background">
            <a:extLst>
              <a:ext uri="{FF2B5EF4-FFF2-40B4-BE49-F238E27FC236}">
                <a16:creationId xmlns:a16="http://schemas.microsoft.com/office/drawing/2014/main" id="{96D1CD9F-2F05-87FD-A9BF-74A87A88C1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AB476BF-4EE2-5243-CABB-6CC72C39B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B8D5A4-A388-7462-DF95-56A83212BB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06780" y="978409"/>
            <a:ext cx="4496529" cy="3678268"/>
          </a:xfrm>
        </p:spPr>
        <p:txBody>
          <a:bodyPr anchor="t">
            <a:normAutofit/>
          </a:bodyPr>
          <a:lstStyle/>
          <a:p>
            <a:r>
              <a:rPr lang="en-US" sz="6000" dirty="0"/>
              <a:t>T-SQL in Fabric Warehouse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D28EA4-6F96-F7C6-1D07-5BA5C27387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6781" y="508090"/>
            <a:ext cx="449275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FF93C5-0576-D227-80A7-4CFBA8791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10119" y="6209925"/>
            <a:ext cx="449275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66751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5C12A-C880-C8E5-4996-4960CEBDF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922" y="151094"/>
            <a:ext cx="11155680" cy="1463040"/>
          </a:xfrm>
        </p:spPr>
        <p:txBody>
          <a:bodyPr>
            <a:normAutofit/>
          </a:bodyPr>
          <a:lstStyle/>
          <a:p>
            <a:r>
              <a:rPr lang="en-US" sz="2000" dirty="0"/>
              <a:t>1️⃣ T-SQL Syntax &amp; Fabric-Specific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1FC20-DEEB-DEA0-1A7F-73F75FAF6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922" y="882614"/>
            <a:ext cx="11155680" cy="58242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What’s Same as SQL Server</a:t>
            </a:r>
          </a:p>
          <a:p>
            <a:r>
              <a:rPr lang="en-US" dirty="0"/>
              <a:t>Standard </a:t>
            </a:r>
            <a:r>
              <a:rPr lang="en-US" b="1" dirty="0"/>
              <a:t>SELECT, JOIN, GROUP BY</a:t>
            </a:r>
            <a:endParaRPr lang="en-US" dirty="0"/>
          </a:p>
          <a:p>
            <a:r>
              <a:rPr lang="en-US" dirty="0"/>
              <a:t>Subqueries &amp; CTEs</a:t>
            </a:r>
          </a:p>
          <a:p>
            <a:r>
              <a:rPr lang="en-US" dirty="0"/>
              <a:t>Window functions</a:t>
            </a:r>
          </a:p>
          <a:p>
            <a:r>
              <a:rPr lang="en-US" dirty="0"/>
              <a:t>MERGE statements</a:t>
            </a:r>
          </a:p>
          <a:p>
            <a:pPr marL="0" indent="0">
              <a:buNone/>
            </a:pPr>
            <a:r>
              <a:rPr lang="en-US" b="1" dirty="0"/>
              <a:t>Fabric-Specific Characteristics</a:t>
            </a:r>
          </a:p>
          <a:p>
            <a:r>
              <a:rPr lang="en-US" dirty="0"/>
              <a:t>Cloud-native, </a:t>
            </a:r>
            <a:r>
              <a:rPr lang="en-US" b="1" dirty="0"/>
              <a:t>fully managed SQL engine</a:t>
            </a:r>
            <a:endParaRPr lang="en-US" dirty="0"/>
          </a:p>
          <a:p>
            <a:r>
              <a:rPr lang="en-US" dirty="0"/>
              <a:t>Optimized for </a:t>
            </a:r>
            <a:r>
              <a:rPr lang="en-US" b="1" dirty="0"/>
              <a:t>read-heavy analytics</a:t>
            </a:r>
            <a:endParaRPr lang="en-US" dirty="0"/>
          </a:p>
          <a:p>
            <a:r>
              <a:rPr lang="en-US" dirty="0"/>
              <a:t>Uses </a:t>
            </a:r>
            <a:r>
              <a:rPr lang="en-US" b="1" dirty="0" err="1"/>
              <a:t>OneLake</a:t>
            </a:r>
            <a:r>
              <a:rPr lang="en-US" b="1" dirty="0"/>
              <a:t> storage</a:t>
            </a:r>
            <a:endParaRPr lang="en-US" dirty="0"/>
          </a:p>
          <a:p>
            <a:r>
              <a:rPr lang="en-US" dirty="0"/>
              <a:t>No </a:t>
            </a:r>
            <a:r>
              <a:rPr lang="en-US" dirty="0" err="1"/>
              <a:t>tempdb</a:t>
            </a:r>
            <a:r>
              <a:rPr lang="en-US" dirty="0"/>
              <a:t> or filegroup management</a:t>
            </a:r>
          </a:p>
          <a:p>
            <a:r>
              <a:rPr lang="en-US" dirty="0"/>
              <a:t>Limited support for OLTP-style features</a:t>
            </a:r>
          </a:p>
          <a:p>
            <a:r>
              <a:rPr lang="en-US" dirty="0"/>
              <a:t>⚠️ Best suited for </a:t>
            </a:r>
            <a:r>
              <a:rPr lang="en-US" b="1" dirty="0"/>
              <a:t>analytics</a:t>
            </a:r>
            <a:r>
              <a:rPr lang="en-US" dirty="0"/>
              <a:t>, not transactional workloads.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091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9F995-CFCD-7036-0B69-9912806E1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107550"/>
            <a:ext cx="11155680" cy="1463040"/>
          </a:xfrm>
        </p:spPr>
        <p:txBody>
          <a:bodyPr>
            <a:normAutofit/>
          </a:bodyPr>
          <a:lstStyle/>
          <a:p>
            <a:r>
              <a:rPr lang="en-US" sz="2000" dirty="0"/>
              <a:t>2️⃣ DDL Operations (CREATE, ALTER, DROP)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63974-E67B-C40A-E41D-834CE8FFF1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951" y="1011064"/>
            <a:ext cx="11155680" cy="57393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CREATE TABLE</a:t>
            </a:r>
          </a:p>
          <a:p>
            <a:r>
              <a:rPr lang="en-US" dirty="0"/>
              <a:t>CREATE TABLE </a:t>
            </a:r>
            <a:r>
              <a:rPr lang="en-US" dirty="0" err="1"/>
              <a:t>dim_customer</a:t>
            </a:r>
            <a:r>
              <a:rPr lang="en-US" dirty="0"/>
              <a:t> (</a:t>
            </a:r>
          </a:p>
          <a:p>
            <a:r>
              <a:rPr lang="en-US" dirty="0"/>
              <a:t>  </a:t>
            </a:r>
            <a:r>
              <a:rPr lang="en-US" dirty="0" err="1"/>
              <a:t>customer_id</a:t>
            </a:r>
            <a:r>
              <a:rPr lang="en-US" dirty="0"/>
              <a:t> INT NOT NULL,</a:t>
            </a:r>
          </a:p>
          <a:p>
            <a:r>
              <a:rPr lang="en-US" dirty="0"/>
              <a:t>  </a:t>
            </a:r>
            <a:r>
              <a:rPr lang="en-US" dirty="0" err="1"/>
              <a:t>customer_name</a:t>
            </a:r>
            <a:r>
              <a:rPr lang="en-US" dirty="0"/>
              <a:t> VARCHAR(100),</a:t>
            </a:r>
          </a:p>
          <a:p>
            <a:r>
              <a:rPr lang="en-US" dirty="0"/>
              <a:t>  city VARCHAR(50)</a:t>
            </a:r>
          </a:p>
          <a:p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b="1" dirty="0"/>
              <a:t>ALTER TABLE</a:t>
            </a:r>
          </a:p>
          <a:p>
            <a:r>
              <a:rPr lang="en-US" dirty="0"/>
              <a:t>ALTER TABLE </a:t>
            </a:r>
            <a:r>
              <a:rPr lang="en-US" dirty="0" err="1"/>
              <a:t>dim_customer</a:t>
            </a:r>
            <a:endParaRPr lang="en-US" dirty="0"/>
          </a:p>
          <a:p>
            <a:r>
              <a:rPr lang="en-US" dirty="0"/>
              <a:t>ADD country VARCHAR(50);</a:t>
            </a:r>
          </a:p>
          <a:p>
            <a:pPr marL="0" indent="0">
              <a:buNone/>
            </a:pPr>
            <a:r>
              <a:rPr lang="en-US" b="1" dirty="0"/>
              <a:t>DROP TABLE</a:t>
            </a:r>
          </a:p>
          <a:p>
            <a:r>
              <a:rPr lang="en-US" dirty="0"/>
              <a:t>DROP TABLE </a:t>
            </a:r>
            <a:r>
              <a:rPr lang="en-US" dirty="0" err="1"/>
              <a:t>dim_customer</a:t>
            </a:r>
            <a:r>
              <a:rPr lang="en-US" dirty="0"/>
              <a:t>;</a:t>
            </a:r>
          </a:p>
          <a:p>
            <a:r>
              <a:rPr lang="en-US" dirty="0"/>
              <a:t>✔ Schema-on-write</a:t>
            </a:r>
            <a:br>
              <a:rPr lang="en-US" dirty="0"/>
            </a:br>
            <a:r>
              <a:rPr lang="en-US" dirty="0"/>
              <a:t>✔ Metadata stored in Fabric catalog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116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944B7-4AB4-9DFB-9C2E-FECED2791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237" y="140208"/>
            <a:ext cx="11155680" cy="1463040"/>
          </a:xfrm>
        </p:spPr>
        <p:txBody>
          <a:bodyPr>
            <a:normAutofit/>
          </a:bodyPr>
          <a:lstStyle/>
          <a:p>
            <a:r>
              <a:rPr lang="en-US" sz="1800" dirty="0"/>
              <a:t>3️⃣ DML Operations (INSERT, UPDATE, DELETE, MERGE)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A97A4-3E69-07C1-849F-DA30E1857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265" y="871728"/>
            <a:ext cx="11155680" cy="584606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INSERT</a:t>
            </a:r>
          </a:p>
          <a:p>
            <a:r>
              <a:rPr lang="en-US" dirty="0"/>
              <a:t>INSERT INTO </a:t>
            </a:r>
            <a:r>
              <a:rPr lang="en-US" dirty="0" err="1"/>
              <a:t>dim_customer</a:t>
            </a:r>
            <a:endParaRPr lang="en-US" dirty="0"/>
          </a:p>
          <a:p>
            <a:r>
              <a:rPr lang="en-US" dirty="0"/>
              <a:t>VALUES (1, 'Ravi', 'Hyderabad');</a:t>
            </a:r>
          </a:p>
          <a:p>
            <a:pPr marL="0" indent="0">
              <a:buNone/>
            </a:pPr>
            <a:r>
              <a:rPr lang="en-US" b="1" dirty="0"/>
              <a:t>UPDATE</a:t>
            </a:r>
          </a:p>
          <a:p>
            <a:r>
              <a:rPr lang="en-US" dirty="0"/>
              <a:t>UPDATE </a:t>
            </a:r>
            <a:r>
              <a:rPr lang="en-US" dirty="0" err="1"/>
              <a:t>dim_customer</a:t>
            </a:r>
            <a:endParaRPr lang="en-US" dirty="0"/>
          </a:p>
          <a:p>
            <a:r>
              <a:rPr lang="en-US" dirty="0"/>
              <a:t>SET city = 'Bangalore'</a:t>
            </a:r>
          </a:p>
          <a:p>
            <a:r>
              <a:rPr lang="en-US" dirty="0"/>
              <a:t>WHERE </a:t>
            </a:r>
            <a:r>
              <a:rPr lang="en-US" dirty="0" err="1"/>
              <a:t>customer_id</a:t>
            </a:r>
            <a:r>
              <a:rPr lang="en-US" dirty="0"/>
              <a:t> = 1;</a:t>
            </a:r>
          </a:p>
          <a:p>
            <a:pPr marL="0" indent="0">
              <a:buNone/>
            </a:pPr>
            <a:r>
              <a:rPr lang="en-US" b="1" dirty="0"/>
              <a:t>DELETE</a:t>
            </a:r>
          </a:p>
          <a:p>
            <a:r>
              <a:rPr lang="en-US" dirty="0"/>
              <a:t>DELETE FROM </a:t>
            </a:r>
            <a:r>
              <a:rPr lang="en-US" dirty="0" err="1"/>
              <a:t>dim_customer</a:t>
            </a:r>
            <a:endParaRPr lang="en-US" dirty="0"/>
          </a:p>
          <a:p>
            <a:r>
              <a:rPr lang="en-US" dirty="0"/>
              <a:t>WHERE </a:t>
            </a:r>
            <a:r>
              <a:rPr lang="en-US" dirty="0" err="1"/>
              <a:t>customer_id</a:t>
            </a:r>
            <a:r>
              <a:rPr lang="en-US" dirty="0"/>
              <a:t> = 1;</a:t>
            </a:r>
          </a:p>
          <a:p>
            <a:pPr marL="0" indent="0">
              <a:buNone/>
            </a:pPr>
            <a:r>
              <a:rPr lang="en-US" b="1" dirty="0"/>
              <a:t>MERGE (SCD-like logic)</a:t>
            </a:r>
          </a:p>
          <a:p>
            <a:r>
              <a:rPr lang="en-US" dirty="0"/>
              <a:t>MERGE </a:t>
            </a:r>
            <a:r>
              <a:rPr lang="en-US" dirty="0" err="1"/>
              <a:t>dim_customer</a:t>
            </a:r>
            <a:r>
              <a:rPr lang="en-US" dirty="0"/>
              <a:t> AS </a:t>
            </a:r>
            <a:r>
              <a:rPr lang="en-US" dirty="0" err="1"/>
              <a:t>tgt</a:t>
            </a:r>
            <a:endParaRPr lang="en-US" dirty="0"/>
          </a:p>
          <a:p>
            <a:r>
              <a:rPr lang="en-US" dirty="0"/>
              <a:t>USING </a:t>
            </a:r>
            <a:r>
              <a:rPr lang="en-US" dirty="0" err="1"/>
              <a:t>staging_customer</a:t>
            </a:r>
            <a:r>
              <a:rPr lang="en-US" dirty="0"/>
              <a:t> AS </a:t>
            </a:r>
            <a:r>
              <a:rPr lang="en-US" dirty="0" err="1"/>
              <a:t>src</a:t>
            </a:r>
            <a:endParaRPr lang="en-US" dirty="0"/>
          </a:p>
          <a:p>
            <a:r>
              <a:rPr lang="en-US" dirty="0"/>
              <a:t>ON </a:t>
            </a:r>
            <a:r>
              <a:rPr lang="en-US" dirty="0" err="1"/>
              <a:t>tgt.customer_id</a:t>
            </a:r>
            <a:r>
              <a:rPr lang="en-US" dirty="0"/>
              <a:t> = </a:t>
            </a:r>
            <a:r>
              <a:rPr lang="en-US" dirty="0" err="1"/>
              <a:t>src.customer_id</a:t>
            </a:r>
            <a:endParaRPr lang="en-US" dirty="0"/>
          </a:p>
          <a:p>
            <a:r>
              <a:rPr lang="en-US" dirty="0"/>
              <a:t>WHEN MATCHED THEN</a:t>
            </a:r>
          </a:p>
          <a:p>
            <a:r>
              <a:rPr lang="en-US" dirty="0"/>
              <a:t>  UPDATE SET </a:t>
            </a:r>
            <a:r>
              <a:rPr lang="en-US" dirty="0" err="1"/>
              <a:t>tgt.city</a:t>
            </a:r>
            <a:r>
              <a:rPr lang="en-US" dirty="0"/>
              <a:t> = </a:t>
            </a:r>
            <a:r>
              <a:rPr lang="en-US" dirty="0" err="1"/>
              <a:t>src.city</a:t>
            </a:r>
            <a:endParaRPr lang="en-US" dirty="0"/>
          </a:p>
          <a:p>
            <a:r>
              <a:rPr lang="en-US" dirty="0"/>
              <a:t>WHEN NOT MATCHED THEN</a:t>
            </a:r>
          </a:p>
          <a:p>
            <a:r>
              <a:rPr lang="en-US" dirty="0"/>
              <a:t>  INSERT VALUES (</a:t>
            </a:r>
            <a:r>
              <a:rPr lang="en-US" dirty="0" err="1"/>
              <a:t>src.customer_id</a:t>
            </a:r>
            <a:r>
              <a:rPr lang="en-US" dirty="0"/>
              <a:t>, </a:t>
            </a:r>
            <a:r>
              <a:rPr lang="en-US" dirty="0" err="1"/>
              <a:t>src.customer_name</a:t>
            </a:r>
            <a:r>
              <a:rPr lang="en-US" dirty="0"/>
              <a:t>, </a:t>
            </a:r>
            <a:r>
              <a:rPr lang="en-US" dirty="0" err="1"/>
              <a:t>src.city</a:t>
            </a:r>
            <a:r>
              <a:rPr lang="en-US" dirty="0"/>
              <a:t>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428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F4FD6-3A96-3AEE-CA77-F9FBA623B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579" y="0"/>
            <a:ext cx="11155680" cy="1463040"/>
          </a:xfrm>
        </p:spPr>
        <p:txBody>
          <a:bodyPr>
            <a:normAutofit/>
          </a:bodyPr>
          <a:lstStyle/>
          <a:p>
            <a:r>
              <a:rPr lang="en-US" sz="2000" dirty="0"/>
              <a:t>4️⃣ Query Optimization (Hints &amp; Statistics)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FFB39-DC8B-D6B6-C5E9-5C8BDEE2F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836893"/>
            <a:ext cx="11155680" cy="5890477"/>
          </a:xfrm>
        </p:spPr>
        <p:txBody>
          <a:bodyPr>
            <a:normAutofit/>
          </a:bodyPr>
          <a:lstStyle/>
          <a:p>
            <a:r>
              <a:rPr lang="en-US" b="1" dirty="0"/>
              <a:t>Statistics</a:t>
            </a:r>
          </a:p>
          <a:p>
            <a:r>
              <a:rPr lang="en-US" dirty="0"/>
              <a:t>Automatically maintained by Fabric</a:t>
            </a:r>
          </a:p>
          <a:p>
            <a:r>
              <a:rPr lang="en-US" dirty="0"/>
              <a:t>Used by query optimizer for execution plans</a:t>
            </a:r>
          </a:p>
          <a:p>
            <a:r>
              <a:rPr lang="en-US" b="1" dirty="0"/>
              <a:t>Query Optimization Tips</a:t>
            </a:r>
          </a:p>
          <a:p>
            <a:r>
              <a:rPr lang="en-US" dirty="0"/>
              <a:t>Use </a:t>
            </a:r>
            <a:r>
              <a:rPr lang="en-US" b="1" dirty="0"/>
              <a:t>SELECT only required columns</a:t>
            </a:r>
            <a:endParaRPr lang="en-US" dirty="0"/>
          </a:p>
          <a:p>
            <a:r>
              <a:rPr lang="en-US" dirty="0"/>
              <a:t>Filter early using WHERE clause</a:t>
            </a:r>
          </a:p>
          <a:p>
            <a:r>
              <a:rPr lang="en-US" dirty="0"/>
              <a:t>Prefer </a:t>
            </a:r>
            <a:r>
              <a:rPr lang="en-US" b="1" dirty="0"/>
              <a:t>aggregations over row-level queries</a:t>
            </a:r>
            <a:endParaRPr lang="en-US" dirty="0"/>
          </a:p>
          <a:p>
            <a:r>
              <a:rPr lang="en-US" dirty="0"/>
              <a:t>Avoid cross joins</a:t>
            </a:r>
          </a:p>
          <a:p>
            <a:r>
              <a:rPr lang="en-US" b="1" dirty="0"/>
              <a:t>Hints</a:t>
            </a:r>
          </a:p>
          <a:p>
            <a:r>
              <a:rPr lang="en-US" dirty="0"/>
              <a:t>Limited hint support</a:t>
            </a:r>
          </a:p>
          <a:p>
            <a:r>
              <a:rPr lang="en-US" dirty="0"/>
              <a:t>Fabric prefers </a:t>
            </a:r>
            <a:r>
              <a:rPr lang="en-US" b="1" dirty="0"/>
              <a:t>auto-optimization</a:t>
            </a:r>
            <a:endParaRPr lang="en-US" dirty="0"/>
          </a:p>
          <a:p>
            <a:r>
              <a:rPr lang="en-US" dirty="0"/>
              <a:t>OPTION (LABEL = '</a:t>
            </a:r>
            <a:r>
              <a:rPr lang="en-US" dirty="0" err="1"/>
              <a:t>Monthly_Sales_Report</a:t>
            </a:r>
            <a:r>
              <a:rPr lang="en-US" dirty="0"/>
              <a:t>')</a:t>
            </a:r>
          </a:p>
          <a:p>
            <a:r>
              <a:rPr lang="en-US" dirty="0"/>
              <a:t>✔ Query labeling helps in monitoring &amp; debugging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201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8AF0C-5188-E27E-956D-0EFEE10DB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351" y="0"/>
            <a:ext cx="11155680" cy="1463040"/>
          </a:xfrm>
        </p:spPr>
        <p:txBody>
          <a:bodyPr>
            <a:normAutofit/>
          </a:bodyPr>
          <a:lstStyle/>
          <a:p>
            <a:r>
              <a:rPr lang="en-US" sz="2000" dirty="0"/>
              <a:t>5️⃣ Window Functions &amp; Analytical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05353-FD55-A7D2-77E1-C75530F00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351" y="858664"/>
            <a:ext cx="11155680" cy="599933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Common Window Functions</a:t>
            </a:r>
          </a:p>
          <a:p>
            <a:r>
              <a:rPr lang="en-US" dirty="0"/>
              <a:t>ROW_NUMBER()</a:t>
            </a:r>
          </a:p>
          <a:p>
            <a:r>
              <a:rPr lang="en-US" dirty="0"/>
              <a:t>RANK()</a:t>
            </a:r>
          </a:p>
          <a:p>
            <a:r>
              <a:rPr lang="en-US" dirty="0"/>
              <a:t>DENSE_RANK()</a:t>
            </a:r>
          </a:p>
          <a:p>
            <a:r>
              <a:rPr lang="en-US" dirty="0"/>
              <a:t>LAG(), LEAD()</a:t>
            </a:r>
          </a:p>
          <a:p>
            <a:r>
              <a:rPr lang="en-US" dirty="0"/>
              <a:t>SUM() OVER()</a:t>
            </a:r>
          </a:p>
          <a:p>
            <a:pPr marL="0" indent="0">
              <a:buNone/>
            </a:pPr>
            <a:r>
              <a:rPr lang="en-US" b="1" dirty="0"/>
              <a:t>Example</a:t>
            </a:r>
          </a:p>
          <a:p>
            <a:r>
              <a:rPr lang="en-US" dirty="0"/>
              <a:t>SELECT</a:t>
            </a:r>
          </a:p>
          <a:p>
            <a:r>
              <a:rPr lang="en-US" dirty="0"/>
              <a:t>  </a:t>
            </a:r>
            <a:r>
              <a:rPr lang="en-US" dirty="0" err="1"/>
              <a:t>customer_id</a:t>
            </a:r>
            <a:r>
              <a:rPr lang="en-US" dirty="0"/>
              <a:t>,</a:t>
            </a:r>
          </a:p>
          <a:p>
            <a:r>
              <a:rPr lang="en-US" dirty="0"/>
              <a:t>  </a:t>
            </a:r>
            <a:r>
              <a:rPr lang="en-US" dirty="0" err="1"/>
              <a:t>order_date</a:t>
            </a:r>
            <a:r>
              <a:rPr lang="en-US" dirty="0"/>
              <a:t>,</a:t>
            </a:r>
          </a:p>
          <a:p>
            <a:r>
              <a:rPr lang="en-US" dirty="0"/>
              <a:t>  amount,</a:t>
            </a:r>
          </a:p>
          <a:p>
            <a:r>
              <a:rPr lang="en-US" dirty="0"/>
              <a:t>  SUM(amount) OVER (PARTITION BY </a:t>
            </a:r>
            <a:r>
              <a:rPr lang="en-US" dirty="0" err="1"/>
              <a:t>customer_id</a:t>
            </a:r>
            <a:r>
              <a:rPr lang="en-US" dirty="0"/>
              <a:t> ORDER BY </a:t>
            </a:r>
            <a:r>
              <a:rPr lang="en-US" dirty="0" err="1"/>
              <a:t>order_date</a:t>
            </a:r>
            <a:r>
              <a:rPr lang="en-US" dirty="0"/>
              <a:t>) AS </a:t>
            </a:r>
            <a:r>
              <a:rPr lang="en-US" dirty="0" err="1"/>
              <a:t>running_total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fact_sales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✔ Essential for:</a:t>
            </a:r>
          </a:p>
          <a:p>
            <a:r>
              <a:rPr lang="en-US" dirty="0"/>
              <a:t>Ranking</a:t>
            </a:r>
          </a:p>
          <a:p>
            <a:r>
              <a:rPr lang="en-US" dirty="0"/>
              <a:t>Running totals</a:t>
            </a:r>
          </a:p>
          <a:p>
            <a:r>
              <a:rPr lang="en-US" dirty="0"/>
              <a:t>Time-series analytics</a:t>
            </a:r>
          </a:p>
          <a:p>
            <a:r>
              <a:rPr lang="en-US" dirty="0"/>
              <a:t>BI calculations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2609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0671A-757C-B58E-5E59-BB555A08D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0"/>
            <a:ext cx="11155680" cy="1463040"/>
          </a:xfrm>
        </p:spPr>
        <p:txBody>
          <a:bodyPr>
            <a:normAutofit/>
          </a:bodyPr>
          <a:lstStyle/>
          <a:p>
            <a:r>
              <a:rPr lang="en-US" sz="2000" dirty="0"/>
              <a:t>6️⃣ Stored Procedures &amp;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A9CC1-21A2-C944-F99D-7C8EA1892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880437"/>
            <a:ext cx="11155680" cy="58687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Stored Procedures</a:t>
            </a:r>
          </a:p>
          <a:p>
            <a:pPr marL="0" indent="0">
              <a:buNone/>
            </a:pPr>
            <a:r>
              <a:rPr lang="en-US" sz="2800" dirty="0"/>
              <a:t>CREATE PROCEDURE </a:t>
            </a:r>
            <a:r>
              <a:rPr lang="en-US" sz="2800" dirty="0" err="1"/>
              <a:t>sp_get_sales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AS</a:t>
            </a:r>
          </a:p>
          <a:p>
            <a:pPr marL="0" indent="0">
              <a:buNone/>
            </a:pPr>
            <a:r>
              <a:rPr lang="en-US" sz="2800" dirty="0"/>
              <a:t>BEGIN</a:t>
            </a:r>
          </a:p>
          <a:p>
            <a:pPr marL="0" indent="0">
              <a:buNone/>
            </a:pPr>
            <a:r>
              <a:rPr lang="en-US" sz="2800" dirty="0"/>
              <a:t>  SELECT * FROM </a:t>
            </a:r>
            <a:r>
              <a:rPr lang="en-US" sz="2800" dirty="0" err="1"/>
              <a:t>fact_sales</a:t>
            </a:r>
            <a:r>
              <a:rPr lang="en-US" sz="2800" dirty="0"/>
              <a:t>;</a:t>
            </a:r>
          </a:p>
          <a:p>
            <a:pPr marL="0" indent="0">
              <a:buNone/>
            </a:pPr>
            <a:r>
              <a:rPr lang="en-US" sz="2800" dirty="0"/>
              <a:t>END;</a:t>
            </a:r>
          </a:p>
          <a:p>
            <a:pPr marL="0" indent="0">
              <a:buNone/>
            </a:pPr>
            <a:r>
              <a:rPr lang="en-US" sz="2800" dirty="0"/>
              <a:t>Used for reusable logic</a:t>
            </a:r>
          </a:p>
          <a:p>
            <a:pPr marL="0" indent="0">
              <a:buNone/>
            </a:pPr>
            <a:r>
              <a:rPr lang="en-US" sz="2800" dirty="0"/>
              <a:t>Supports basic procedural SQL</a:t>
            </a:r>
          </a:p>
          <a:p>
            <a:pPr marL="0" indent="0">
              <a:buNone/>
            </a:pPr>
            <a:r>
              <a:rPr lang="en-US" sz="2800" dirty="0"/>
              <a:t>No heavy transactional logic recommended</a:t>
            </a:r>
            <a:br>
              <a:rPr lang="en-US" sz="2800" dirty="0"/>
            </a:br>
            <a:endParaRPr lang="en-US" sz="2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875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5A977-9F8D-1A22-9847-7D1DA8D7D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465" y="-88392"/>
            <a:ext cx="11155680" cy="1463040"/>
          </a:xfrm>
        </p:spPr>
        <p:txBody>
          <a:bodyPr/>
          <a:lstStyle/>
          <a:p>
            <a:r>
              <a:rPr lang="en-US" dirty="0"/>
              <a:t>User-Defined Functions (UDFs)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ADADB-507D-8254-98D6-1A237A80B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465" y="1283207"/>
            <a:ext cx="11155680" cy="5465935"/>
          </a:xfrm>
        </p:spPr>
        <p:txBody>
          <a:bodyPr>
            <a:normAutofit/>
          </a:bodyPr>
          <a:lstStyle/>
          <a:p>
            <a:r>
              <a:rPr lang="en-US" b="1" dirty="0"/>
              <a:t>Limited support</a:t>
            </a:r>
            <a:endParaRPr lang="en-US" dirty="0"/>
          </a:p>
          <a:p>
            <a:r>
              <a:rPr lang="en-US" dirty="0"/>
              <a:t>Scalar functions preferred</a:t>
            </a:r>
          </a:p>
          <a:p>
            <a:r>
              <a:rPr lang="en-US" dirty="0"/>
              <a:t>Avoid performance-heavy logic</a:t>
            </a:r>
          </a:p>
          <a:p>
            <a:pPr marL="0" indent="0">
              <a:buNone/>
            </a:pPr>
            <a:r>
              <a:rPr lang="en-US" sz="3200" dirty="0"/>
              <a:t>CREATE FUNCTION </a:t>
            </a:r>
            <a:r>
              <a:rPr lang="en-US" sz="3200" dirty="0" err="1"/>
              <a:t>fn_discount</a:t>
            </a:r>
            <a:r>
              <a:rPr lang="en-US" sz="3200" dirty="0"/>
              <a:t>(@amount DECIMAL)</a:t>
            </a:r>
          </a:p>
          <a:p>
            <a:pPr marL="0" indent="0">
              <a:buNone/>
            </a:pPr>
            <a:r>
              <a:rPr lang="en-US" sz="3200" dirty="0"/>
              <a:t>RETURNS DECIMAL</a:t>
            </a:r>
          </a:p>
          <a:p>
            <a:pPr marL="0" indent="0">
              <a:buNone/>
            </a:pPr>
            <a:r>
              <a:rPr lang="en-US" sz="3200" dirty="0"/>
              <a:t>AS</a:t>
            </a:r>
          </a:p>
          <a:p>
            <a:pPr marL="0" indent="0">
              <a:buNone/>
            </a:pPr>
            <a:r>
              <a:rPr lang="en-US" sz="3200" dirty="0"/>
              <a:t>BEGIN</a:t>
            </a:r>
          </a:p>
          <a:p>
            <a:pPr marL="0" indent="0">
              <a:buNone/>
            </a:pPr>
            <a:r>
              <a:rPr lang="en-US" sz="3200" dirty="0"/>
              <a:t>  RETURN @amount * 0.9;</a:t>
            </a:r>
          </a:p>
          <a:p>
            <a:pPr marL="0" indent="0">
              <a:buNone/>
            </a:pPr>
            <a:r>
              <a:rPr lang="en-US" sz="3200" dirty="0"/>
              <a:t>END;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325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6E67F-8808-8029-A7AE-899BD09A6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123" y="-88392"/>
            <a:ext cx="11155680" cy="1463040"/>
          </a:xfrm>
        </p:spPr>
        <p:txBody>
          <a:bodyPr/>
          <a:lstStyle/>
          <a:p>
            <a:r>
              <a:rPr lang="en-US" dirty="0"/>
              <a:t>Real Project Usage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11870-0FB0-CBB2-C37A-D8C858E3B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1043723"/>
            <a:ext cx="11155680" cy="3767328"/>
          </a:xfrm>
        </p:spPr>
        <p:txBody>
          <a:bodyPr/>
          <a:lstStyle/>
          <a:p>
            <a:r>
              <a:rPr lang="en-US" dirty="0"/>
              <a:t>Lakehouse (Transform with Spark)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Warehouse (T-SQL modeling)</a:t>
            </a:r>
          </a:p>
          <a:p>
            <a:r>
              <a:rPr lang="en-US" dirty="0"/>
              <a:t>        ↓</a:t>
            </a:r>
          </a:p>
          <a:p>
            <a:r>
              <a:rPr lang="en-US" dirty="0"/>
              <a:t>Power BI (Reports &amp; Dashboards)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062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4CC3A-D9CE-6481-40D8-E3F5D216D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236" y="-99278"/>
            <a:ext cx="11155680" cy="981021"/>
          </a:xfrm>
        </p:spPr>
        <p:txBody>
          <a:bodyPr/>
          <a:lstStyle/>
          <a:p>
            <a:r>
              <a:rPr lang="en-US" dirty="0"/>
              <a:t>Fabric vs SQL Server (Quick View)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58B28A6-D82E-B8D2-DC42-103D04CCF5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1372059"/>
              </p:ext>
            </p:extLst>
          </p:nvPr>
        </p:nvGraphicFramePr>
        <p:xfrm>
          <a:off x="517525" y="1277983"/>
          <a:ext cx="11156949" cy="3870960"/>
        </p:xfrm>
        <a:graphic>
          <a:graphicData uri="http://schemas.openxmlformats.org/drawingml/2006/table">
            <a:tbl>
              <a:tblPr/>
              <a:tblGrid>
                <a:gridCol w="3718983">
                  <a:extLst>
                    <a:ext uri="{9D8B030D-6E8A-4147-A177-3AD203B41FA5}">
                      <a16:colId xmlns:a16="http://schemas.microsoft.com/office/drawing/2014/main" val="507970341"/>
                    </a:ext>
                  </a:extLst>
                </a:gridCol>
                <a:gridCol w="3718983">
                  <a:extLst>
                    <a:ext uri="{9D8B030D-6E8A-4147-A177-3AD203B41FA5}">
                      <a16:colId xmlns:a16="http://schemas.microsoft.com/office/drawing/2014/main" val="3095233286"/>
                    </a:ext>
                  </a:extLst>
                </a:gridCol>
                <a:gridCol w="3718983">
                  <a:extLst>
                    <a:ext uri="{9D8B030D-6E8A-4147-A177-3AD203B41FA5}">
                      <a16:colId xmlns:a16="http://schemas.microsoft.com/office/drawing/2014/main" val="3286640069"/>
                    </a:ext>
                  </a:extLst>
                </a:gridCol>
              </a:tblGrid>
              <a:tr h="645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FF0000"/>
                          </a:solidFill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FF0000"/>
                          </a:solidFill>
                        </a:rPr>
                        <a:t>Fabric Warehouse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SQL Server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9942874"/>
                  </a:ext>
                </a:extLst>
              </a:tr>
              <a:tr h="645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Analytics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OLTP + Analytics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9022962"/>
                  </a:ext>
                </a:extLst>
              </a:tr>
              <a:tr h="645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Infra mgmt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Fully managed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Manual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7154401"/>
                  </a:ext>
                </a:extLst>
              </a:tr>
              <a:tr h="645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Index tuning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Automatic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Manual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099571"/>
                  </a:ext>
                </a:extLst>
              </a:tr>
              <a:tr h="645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Transactions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Limited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Full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922759"/>
                  </a:ext>
                </a:extLst>
              </a:tr>
              <a:tr h="645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BI integration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Native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External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42768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1703028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540</Words>
  <Application>Microsoft Office PowerPoint</Application>
  <PresentationFormat>Widescreen</PresentationFormat>
  <Paragraphs>124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Bierstadt</vt:lpstr>
      <vt:lpstr>Neue Haas Grotesk Text Pro</vt:lpstr>
      <vt:lpstr>GestaltVTI</vt:lpstr>
      <vt:lpstr>T-SQL in Fabric Warehouse</vt:lpstr>
      <vt:lpstr>1️⃣ T-SQL Syntax &amp; Fabric-Specific Features</vt:lpstr>
      <vt:lpstr>2️⃣ DDL Operations (CREATE, ALTER, DROP)</vt:lpstr>
      <vt:lpstr>3️⃣ DML Operations (INSERT, UPDATE, DELETE, MERGE)</vt:lpstr>
      <vt:lpstr>4️⃣ Query Optimization (Hints &amp; Statistics)</vt:lpstr>
      <vt:lpstr>5️⃣ Window Functions &amp; Analytical Queries</vt:lpstr>
      <vt:lpstr>6️⃣ Stored Procedures &amp; Functions</vt:lpstr>
      <vt:lpstr>User-Defined Functions (UDFs) </vt:lpstr>
      <vt:lpstr>Real Project Usage Pattern</vt:lpstr>
      <vt:lpstr>Fabric vs SQL Server (Quick View)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Kumar Devabhaktuni</dc:creator>
  <cp:lastModifiedBy>Rajesh Kumar Devabhaktuni</cp:lastModifiedBy>
  <cp:revision>1</cp:revision>
  <dcterms:created xsi:type="dcterms:W3CDTF">2026-01-07T14:49:05Z</dcterms:created>
  <dcterms:modified xsi:type="dcterms:W3CDTF">2026-01-07T14:57:50Z</dcterms:modified>
</cp:coreProperties>
</file>