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F68B8-3D72-CA26-55BC-38E93AF1B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DE00B7-0B0C-CA2D-07FA-98C22A83D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F7E90-F10F-4AED-F656-7AAFA0AB0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9982-DC0C-422F-8801-CCD3C359CFB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DD724-083E-EC72-6167-3C97F0C10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0891D-E067-1F8E-9FD3-540F93C7F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C2472-0DDC-45EF-A30A-71DC39FCC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831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C7B0-1C86-3BFC-0508-EC56179ED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B698E-3A6E-A71C-633B-3841E3C37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4E847-C3F8-9C00-F4BD-B1F240DCB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9982-DC0C-422F-8801-CCD3C359CFB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21DA6-71A7-68EC-DCBB-EBCAE4FD8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80AFE-CE31-21D7-D1C9-D353F5C97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C2472-0DDC-45EF-A30A-71DC39FCC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717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4CD6D-DE5F-FB0B-641F-24D3D8690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58F01-A3B4-F04B-8BD8-765F84D85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D0AFE-88D8-3C9D-A3D4-9BC74C6C3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9982-DC0C-422F-8801-CCD3C359CFB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F21D7-65D4-BEA7-0BC1-8A4A5903B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7C403-0156-8765-69D3-939D0C48D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C2472-0DDC-45EF-A30A-71DC39FCC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917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90F4-3DA1-AE28-D023-2C4C56B5B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9AB9F-5CB2-656A-F4DE-7413EDFB3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B4E8D0-DFAE-1DF5-BD33-99BC389E0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37167-1A74-3E8B-8D22-78BEB4D74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9982-DC0C-422F-8801-CCD3C359CFB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9D896-CCC0-BC70-A25E-BC430D924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12416-1523-87C6-3527-43D94B461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C2472-0DDC-45EF-A30A-71DC39FCC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729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C0E5-C95C-BBE7-D515-C192F2EC4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5A2AA-96F7-D3BD-DE27-00B47AC85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F0120-2DB9-B4E2-B46F-CE053E9F5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476CBA-15D2-3C32-9416-A56F95D9E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895228-76CA-2EBA-6CE9-B05B27ABCE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839CF-9BEE-6FCD-8AB7-C456B07F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9982-DC0C-422F-8801-CCD3C359CFB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0991CA-DDBB-C3F9-D88B-588E90FF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DE4D99-319E-103F-147D-83CDA81F8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C2472-0DDC-45EF-A30A-71DC39FCC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55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2AF6B-38D2-C9E4-A58A-464056EEB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4366B-03CB-B7CD-9CF1-701EE620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9982-DC0C-422F-8801-CCD3C359CFB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96FACE-2F56-DDD6-C2B9-0B24531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C7143D-792D-9617-C12B-A55994848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C2472-0DDC-45EF-A30A-71DC39FCC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257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08E431-03B9-17AE-2822-B1CAFA272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9982-DC0C-422F-8801-CCD3C359CFB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A9F2F-CF4D-D35B-A530-4307218B5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6FC4C-588A-6281-31EA-3A954340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C2472-0DDC-45EF-A30A-71DC39FCC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65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58874-9883-B730-9677-7694508B0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97EFE-7E2F-5206-CB27-A8D4DF7FD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F4A8F-3FFB-D586-3BB6-6BA5E6CA0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6B139-3541-F71C-EFE1-B1AC2112D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9982-DC0C-422F-8801-CCD3C359CFB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7ABB6-F2E9-C5EE-6B65-836E792DB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1B698-6A83-B0FA-12F6-E2922F565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C2472-0DDC-45EF-A30A-71DC39FCC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300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42BBE-8DBE-B05E-10BF-E4853B833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6EF237-1936-E549-97F8-0D44718319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C571C1-D8B9-DD52-16B7-79819160B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A263D-A858-B546-EFB3-0D51927F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9982-DC0C-422F-8801-CCD3C359CFB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693DB-387E-D7B0-80A7-852340FE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50141-CE2D-215E-F778-6DDD8909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C2472-0DDC-45EF-A30A-71DC39FCC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09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98C5-2ED7-6BC9-5259-B99B592F4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E9328-53CD-4198-EA8B-86D46A7E4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54B55-F784-FDD5-5053-E45C41324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9982-DC0C-422F-8801-CCD3C359CFB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2B25B-EAB6-76DD-1E73-776E28D6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17A41-21B3-74AE-5969-A0B91CE8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C2472-0DDC-45EF-A30A-71DC39FCC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000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917FDE-49F0-08CA-F273-0EE2336238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50EC6C-C916-6D28-B7FB-320CD55CA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08850-9CD0-7268-EAB5-65FD0C28B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9982-DC0C-422F-8801-CCD3C359CFB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FE0F5-5E95-2792-3A45-330EC6417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9A75E-EEFE-8E94-6CB0-C8C8EF65F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C2472-0DDC-45EF-A30A-71DC39FCC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10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8AEE05-03A7-B6B1-D3CE-9A7DC277D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F214D-4E6B-32C5-9B74-725D31DE3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7D492-1E2C-3012-7716-38F1DEB07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F9982-DC0C-422F-8801-CCD3C359CFBD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B652F-AF96-B961-A604-DCCEEF8C8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80D91-08CA-E6BB-277F-1B4EFE1C3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C2472-0DDC-45EF-A30A-71DC39FCC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218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F8BC2-B201-5868-112A-EE56002F5D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Building scalable data pipelines using MS Fabric</a:t>
            </a:r>
          </a:p>
        </p:txBody>
      </p:sp>
    </p:spTree>
    <p:extLst>
      <p:ext uri="{BB962C8B-B14F-4D97-AF65-F5344CB8AC3E}">
        <p14:creationId xmlns:p14="http://schemas.microsoft.com/office/powerpoint/2010/main" val="343838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94D7B0-3C4B-2501-FE3F-3D172128A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303" y="2396400"/>
            <a:ext cx="5235394" cy="206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32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62F84C-8FC6-DE73-2782-B8D495219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46" y="0"/>
            <a:ext cx="106211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159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F29FC-92BD-B5A3-8D6D-2B2C6F11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7" y="0"/>
            <a:ext cx="113538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Creating Data Pipelines &amp; Copy Activities (Fabric)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8D10E-60D7-A350-B5FD-355A37C79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873" y="12533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1. Pipeline Canvas &amp; Visual Designer</a:t>
            </a:r>
          </a:p>
          <a:p>
            <a:r>
              <a:rPr lang="en-IN" dirty="0"/>
              <a:t>Drag-and-drop UI to build end-to-end data movement workflows</a:t>
            </a:r>
          </a:p>
          <a:p>
            <a:r>
              <a:rPr lang="en-IN" dirty="0"/>
              <a:t>Similar to </a:t>
            </a:r>
            <a:r>
              <a:rPr lang="en-IN" b="1" dirty="0"/>
              <a:t>Azure Data Factory</a:t>
            </a:r>
            <a:endParaRPr lang="en-IN" dirty="0"/>
          </a:p>
          <a:p>
            <a:r>
              <a:rPr lang="en-IN" dirty="0"/>
              <a:t>Activities connected using </a:t>
            </a:r>
            <a:r>
              <a:rPr lang="en-IN" b="1" dirty="0"/>
              <a:t>dependency conditions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Success</a:t>
            </a:r>
          </a:p>
          <a:p>
            <a:pPr lvl="1"/>
            <a:r>
              <a:rPr lang="en-IN" dirty="0"/>
              <a:t>Failure</a:t>
            </a:r>
          </a:p>
          <a:p>
            <a:pPr lvl="1"/>
            <a:r>
              <a:rPr lang="en-IN" dirty="0"/>
              <a:t>Completion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5619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FB766-E877-374D-5EEA-04FCD2668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2. Copy Activity – Configuration &amp; Settings</a:t>
            </a:r>
          </a:p>
          <a:p>
            <a:r>
              <a:rPr lang="en-IN" dirty="0"/>
              <a:t>Core activity used to </a:t>
            </a:r>
            <a:r>
              <a:rPr lang="en-IN" b="1" dirty="0"/>
              <a:t>move data from source to destination</a:t>
            </a:r>
            <a:endParaRPr lang="en-IN" dirty="0"/>
          </a:p>
          <a:p>
            <a:r>
              <a:rPr lang="en-IN" dirty="0"/>
              <a:t>Key configurations:</a:t>
            </a:r>
          </a:p>
          <a:p>
            <a:pPr lvl="1"/>
            <a:r>
              <a:rPr lang="en-IN" dirty="0"/>
              <a:t>Source dataset</a:t>
            </a:r>
          </a:p>
          <a:p>
            <a:pPr lvl="1"/>
            <a:r>
              <a:rPr lang="en-IN" dirty="0"/>
              <a:t>Sink (target) dataset</a:t>
            </a:r>
          </a:p>
          <a:p>
            <a:pPr lvl="1"/>
            <a:r>
              <a:rPr lang="en-IN" dirty="0"/>
              <a:t>File format settings</a:t>
            </a:r>
          </a:p>
          <a:p>
            <a:pPr lvl="1"/>
            <a:r>
              <a:rPr lang="en-IN" dirty="0"/>
              <a:t>Compression &amp; batch size</a:t>
            </a:r>
          </a:p>
          <a:p>
            <a:r>
              <a:rPr lang="en-IN" dirty="0"/>
              <a:t>Supports </a:t>
            </a:r>
            <a:r>
              <a:rPr lang="en-IN" b="1" dirty="0"/>
              <a:t>full load</a:t>
            </a:r>
            <a:r>
              <a:rPr lang="en-IN" dirty="0"/>
              <a:t> and </a:t>
            </a:r>
            <a:r>
              <a:rPr lang="en-IN" b="1" dirty="0"/>
              <a:t>incremental load</a:t>
            </a:r>
            <a:endParaRPr lang="en-IN" dirty="0"/>
          </a:p>
          <a:p>
            <a:r>
              <a:rPr lang="en-IN" dirty="0"/>
              <a:t>🧠 </a:t>
            </a:r>
            <a:r>
              <a:rPr lang="en-IN" i="1" dirty="0"/>
              <a:t>Real-time example:</a:t>
            </a:r>
            <a:br>
              <a:rPr lang="en-IN" dirty="0"/>
            </a:br>
            <a:r>
              <a:rPr lang="en-IN" dirty="0"/>
              <a:t>Copy data from </a:t>
            </a:r>
            <a:r>
              <a:rPr lang="en-IN" b="1" dirty="0"/>
              <a:t>SQL Server → Lakehouse → Warehouse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6271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7A893-E636-BCE1-554C-B11D7A8E0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3. Source and Sink Connectors</a:t>
            </a:r>
          </a:p>
          <a:p>
            <a:r>
              <a:rPr lang="en-IN" dirty="0"/>
              <a:t>Fabric supports </a:t>
            </a:r>
            <a:r>
              <a:rPr lang="en-IN" b="1" dirty="0"/>
              <a:t>100+ connectors</a:t>
            </a:r>
            <a:r>
              <a:rPr lang="en-IN" dirty="0"/>
              <a:t>, including:</a:t>
            </a:r>
          </a:p>
          <a:p>
            <a:r>
              <a:rPr lang="en-IN" dirty="0"/>
              <a:t>Databases: SQL Server, Oracle, MySQL, PostgreSQL</a:t>
            </a:r>
          </a:p>
          <a:p>
            <a:r>
              <a:rPr lang="en-IN" dirty="0"/>
              <a:t>Cloud: Azure SQL, Azure Blob, ADLS Gen2</a:t>
            </a:r>
          </a:p>
          <a:p>
            <a:r>
              <a:rPr lang="en-IN" dirty="0"/>
              <a:t>SaaS: Salesforce, REST API</a:t>
            </a:r>
          </a:p>
          <a:p>
            <a:r>
              <a:rPr lang="en-IN" dirty="0"/>
              <a:t>Files: CSV, JSON, Parquet, Excel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4769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C3447-48B2-23B0-6EF6-D84DF2B4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3A922-2EA2-AC99-6E2B-8BB7B5FDB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4. Data Type Mapping &amp; Schema Drift</a:t>
            </a:r>
          </a:p>
          <a:p>
            <a:r>
              <a:rPr lang="en-IN" dirty="0"/>
              <a:t>Automatically maps source columns to target columns</a:t>
            </a:r>
          </a:p>
          <a:p>
            <a:r>
              <a:rPr lang="en-IN" dirty="0"/>
              <a:t>Handles:</a:t>
            </a:r>
          </a:p>
          <a:p>
            <a:pPr lvl="1"/>
            <a:r>
              <a:rPr lang="en-IN" dirty="0"/>
              <a:t>Data type conversion</a:t>
            </a:r>
          </a:p>
          <a:p>
            <a:pPr lvl="1"/>
            <a:r>
              <a:rPr lang="en-IN" dirty="0"/>
              <a:t>Column renaming</a:t>
            </a:r>
          </a:p>
          <a:p>
            <a:pPr lvl="1"/>
            <a:r>
              <a:rPr lang="en-IN" dirty="0"/>
              <a:t>Extra/missing columns (</a:t>
            </a:r>
            <a:r>
              <a:rPr lang="en-IN" b="1" dirty="0"/>
              <a:t>Schema Drift</a:t>
            </a:r>
            <a:r>
              <a:rPr lang="en-IN" dirty="0"/>
              <a:t>)</a:t>
            </a:r>
          </a:p>
          <a:p>
            <a:r>
              <a:rPr lang="en-IN" dirty="0"/>
              <a:t>No pipeline failure if schema changes slightly</a:t>
            </a:r>
          </a:p>
          <a:p>
            <a:r>
              <a:rPr lang="en-IN" dirty="0"/>
              <a:t>🧠 </a:t>
            </a:r>
            <a:r>
              <a:rPr lang="en-IN" i="1" dirty="0"/>
              <a:t>Industry scenario:</a:t>
            </a:r>
            <a:br>
              <a:rPr lang="en-IN" dirty="0"/>
            </a:br>
            <a:r>
              <a:rPr lang="en-IN" dirty="0"/>
              <a:t>Source adds a new column → pipeline still runs without breaking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5876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263C4-F77F-8790-F8BB-5B2E7B85D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5. Error Handling &amp; Retry Policies</a:t>
            </a:r>
          </a:p>
          <a:p>
            <a:r>
              <a:rPr lang="en-IN" dirty="0"/>
              <a:t>Configure:</a:t>
            </a:r>
          </a:p>
          <a:p>
            <a:pPr lvl="1"/>
            <a:r>
              <a:rPr lang="en-IN" dirty="0"/>
              <a:t>Retry count</a:t>
            </a:r>
          </a:p>
          <a:p>
            <a:pPr lvl="1"/>
            <a:r>
              <a:rPr lang="en-IN" dirty="0"/>
              <a:t>Retry interval</a:t>
            </a:r>
          </a:p>
          <a:p>
            <a:pPr lvl="1"/>
            <a:r>
              <a:rPr lang="en-IN" dirty="0"/>
              <a:t>Timeout settings</a:t>
            </a:r>
          </a:p>
          <a:p>
            <a:r>
              <a:rPr lang="en-IN" dirty="0"/>
              <a:t>Capture failures using:</a:t>
            </a:r>
          </a:p>
          <a:p>
            <a:pPr lvl="1"/>
            <a:r>
              <a:rPr lang="en-IN" dirty="0"/>
              <a:t>Activity output</a:t>
            </a:r>
          </a:p>
          <a:p>
            <a:pPr lvl="1"/>
            <a:r>
              <a:rPr lang="en-IN" dirty="0"/>
              <a:t>Failure paths</a:t>
            </a:r>
          </a:p>
          <a:p>
            <a:r>
              <a:rPr lang="en-IN" dirty="0"/>
              <a:t>Enables </a:t>
            </a:r>
            <a:r>
              <a:rPr lang="en-IN" b="1" dirty="0"/>
              <a:t>robust production pipelines</a:t>
            </a:r>
            <a:endParaRPr lang="en-IN" dirty="0"/>
          </a:p>
          <a:p>
            <a:r>
              <a:rPr lang="en-IN" dirty="0"/>
              <a:t>🧠 </a:t>
            </a:r>
            <a:r>
              <a:rPr lang="en-IN" i="1" dirty="0"/>
              <a:t>Production use:</a:t>
            </a:r>
            <a:br>
              <a:rPr lang="en-IN" dirty="0"/>
            </a:br>
            <a:r>
              <a:rPr lang="en-IN" dirty="0"/>
              <a:t>Handle temporary network or source downtime gracefully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4495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32ABB-C68C-A730-3422-E6A7199A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6. Performance Optimization for Copy Activities</a:t>
            </a:r>
          </a:p>
          <a:p>
            <a:r>
              <a:rPr lang="en-IN" dirty="0"/>
              <a:t>Parallel copy</a:t>
            </a:r>
          </a:p>
          <a:p>
            <a:r>
              <a:rPr lang="en-IN" dirty="0"/>
              <a:t>Partitioned data loading</a:t>
            </a:r>
          </a:p>
          <a:p>
            <a:r>
              <a:rPr lang="en-IN" dirty="0"/>
              <a:t>Staging for large datasets</a:t>
            </a:r>
          </a:p>
          <a:p>
            <a:r>
              <a:rPr lang="en-IN" dirty="0"/>
              <a:t>Compression &amp; file sizing</a:t>
            </a:r>
          </a:p>
          <a:p>
            <a:r>
              <a:rPr lang="en-IN" dirty="0"/>
              <a:t>🧠 </a:t>
            </a:r>
            <a:r>
              <a:rPr lang="en-IN" i="1" dirty="0"/>
              <a:t>Performance best practice:</a:t>
            </a:r>
            <a:endParaRPr lang="en-IN" dirty="0"/>
          </a:p>
          <a:p>
            <a:r>
              <a:rPr lang="en-IN" dirty="0"/>
              <a:t>Use </a:t>
            </a:r>
            <a:r>
              <a:rPr lang="en-IN" b="1" dirty="0"/>
              <a:t>partitioning + parallelism</a:t>
            </a:r>
            <a:r>
              <a:rPr lang="en-IN" dirty="0"/>
              <a:t> for large tables (&gt;10M rows)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2337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2422C3-47EF-92CD-CE0F-5EDA562B0E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314528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77337526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046131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Fabric Concept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Snowflake Equivalent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3432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Copy Activity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COPY INTO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326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Pipeline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Task / Workflow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972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Stage /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944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Schema Drift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Auto column evolution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289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5555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21F12-73FA-C43B-281C-E7F1C5BF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8" y="18256"/>
            <a:ext cx="12119264" cy="662782"/>
          </a:xfrm>
        </p:spPr>
        <p:txBody>
          <a:bodyPr>
            <a:normAutofit/>
          </a:bodyPr>
          <a:lstStyle/>
          <a:p>
            <a:r>
              <a:rPr lang="en-IN" sz="3600" dirty="0"/>
              <a:t>Data Connectors &amp; Pipeline Components (Microsoft Fabric)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AF828-F918-45CF-949B-E47ABF190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482" y="1087870"/>
            <a:ext cx="11734800" cy="567661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highlight>
                  <a:srgbClr val="FFFF00"/>
                </a:highlight>
              </a:rPr>
              <a:t>1. Built-in Connectors</a:t>
            </a:r>
          </a:p>
          <a:p>
            <a:r>
              <a:rPr lang="en-IN" dirty="0"/>
              <a:t>Fabric provides </a:t>
            </a:r>
            <a:r>
              <a:rPr lang="en-IN" b="1" dirty="0"/>
              <a:t>ready-to-use connectors</a:t>
            </a:r>
            <a:r>
              <a:rPr lang="en-IN" dirty="0"/>
              <a:t> to ingest data from: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highlight>
                  <a:srgbClr val="FFFF00"/>
                </a:highlight>
              </a:rPr>
              <a:t>Databases</a:t>
            </a:r>
            <a:endParaRPr lang="en-IN" dirty="0">
              <a:highlight>
                <a:srgbClr val="FFFF00"/>
              </a:highlight>
            </a:endParaRPr>
          </a:p>
          <a:p>
            <a:r>
              <a:rPr lang="en-IN" dirty="0"/>
              <a:t>SQL Server, Oracle, MySQL, PostgreSQL</a:t>
            </a:r>
          </a:p>
          <a:p>
            <a:r>
              <a:rPr lang="en-IN" dirty="0"/>
              <a:t>Azure SQL, Synapse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highlight>
                  <a:srgbClr val="FFFF00"/>
                </a:highlight>
              </a:rPr>
              <a:t>Files</a:t>
            </a:r>
            <a:endParaRPr lang="en-IN" dirty="0">
              <a:highlight>
                <a:srgbClr val="FFFF00"/>
              </a:highlight>
            </a:endParaRPr>
          </a:p>
          <a:p>
            <a:r>
              <a:rPr lang="en-IN" dirty="0"/>
              <a:t>CSV, JSON, Parquet, Excel</a:t>
            </a:r>
          </a:p>
          <a:p>
            <a:r>
              <a:rPr lang="en-IN" dirty="0"/>
              <a:t>Local files via gateway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>
                <a:highlight>
                  <a:srgbClr val="FFFF00"/>
                </a:highlight>
              </a:rPr>
              <a:t>Cloud Services</a:t>
            </a:r>
            <a:endParaRPr lang="en-IN" dirty="0">
              <a:highlight>
                <a:srgbClr val="FFFF00"/>
              </a:highlight>
            </a:endParaRPr>
          </a:p>
          <a:p>
            <a:r>
              <a:rPr lang="en-IN" dirty="0"/>
              <a:t>Azure Blob Storage</a:t>
            </a:r>
          </a:p>
          <a:p>
            <a:r>
              <a:rPr lang="en-IN" dirty="0"/>
              <a:t>ADLS Gen2</a:t>
            </a:r>
          </a:p>
          <a:p>
            <a:r>
              <a:rPr lang="en-IN" dirty="0" err="1"/>
              <a:t>OneLake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“Connectors are adapters that allow Fabric to talk to any data source without custom code.”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5310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33FB8-73BD-8A66-C2DB-34E1957B3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043064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2. </a:t>
            </a:r>
            <a:r>
              <a:rPr lang="en-IN" b="1" dirty="0" err="1"/>
              <a:t>OneLake</a:t>
            </a:r>
            <a:r>
              <a:rPr lang="en-IN" b="1" dirty="0"/>
              <a:t> Connectors &amp; Shortcuts 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 err="1"/>
              <a:t>OneLake</a:t>
            </a:r>
            <a:r>
              <a:rPr lang="en-IN" b="1" dirty="0"/>
              <a:t> = Single data lake for entire Fabric</a:t>
            </a:r>
            <a:endParaRPr lang="en-IN" dirty="0"/>
          </a:p>
          <a:p>
            <a:r>
              <a:rPr lang="en-IN" dirty="0"/>
              <a:t>Shortcuts allow:</a:t>
            </a:r>
          </a:p>
          <a:p>
            <a:pPr lvl="1"/>
            <a:r>
              <a:rPr lang="en-IN" dirty="0"/>
              <a:t>Access data </a:t>
            </a:r>
            <a:r>
              <a:rPr lang="en-IN" b="1" dirty="0"/>
              <a:t>without copying</a:t>
            </a:r>
            <a:endParaRPr lang="en-IN" dirty="0"/>
          </a:p>
          <a:p>
            <a:pPr lvl="1"/>
            <a:r>
              <a:rPr lang="en-IN" dirty="0"/>
              <a:t>Reuse data across Lakehouse, Warehouse, Power BI</a:t>
            </a:r>
          </a:p>
          <a:p>
            <a:r>
              <a:rPr lang="en-IN" dirty="0"/>
              <a:t>Saves </a:t>
            </a:r>
            <a:r>
              <a:rPr lang="en-IN" b="1" dirty="0"/>
              <a:t>cost + storage</a:t>
            </a:r>
            <a:endParaRPr lang="en-IN" dirty="0"/>
          </a:p>
          <a:p>
            <a:r>
              <a:rPr lang="en-IN" dirty="0"/>
              <a:t>🧠 </a:t>
            </a:r>
            <a:r>
              <a:rPr lang="en-IN" i="1" dirty="0"/>
              <a:t>Real-time scenario:</a:t>
            </a:r>
            <a:br>
              <a:rPr lang="en-IN" dirty="0"/>
            </a:br>
            <a:endParaRPr lang="en-IN" dirty="0"/>
          </a:p>
          <a:p>
            <a:r>
              <a:rPr lang="en-IN" dirty="0"/>
              <a:t>Sales data stored once → accessed by:</a:t>
            </a:r>
          </a:p>
          <a:p>
            <a:r>
              <a:rPr lang="en-IN" dirty="0"/>
              <a:t>Data Engineering</a:t>
            </a:r>
          </a:p>
          <a:p>
            <a:r>
              <a:rPr lang="en-IN" dirty="0"/>
              <a:t>BI team</a:t>
            </a:r>
          </a:p>
          <a:p>
            <a:r>
              <a:rPr lang="en-IN" dirty="0"/>
              <a:t>Data Science team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“</a:t>
            </a:r>
            <a:r>
              <a:rPr lang="en-IN" b="1" dirty="0" err="1">
                <a:solidFill>
                  <a:srgbClr val="FF0000"/>
                </a:solidFill>
              </a:rPr>
              <a:t>OneLake</a:t>
            </a:r>
            <a:r>
              <a:rPr lang="en-IN" b="1" dirty="0">
                <a:solidFill>
                  <a:srgbClr val="FF0000"/>
                </a:solidFill>
              </a:rPr>
              <a:t> shortcuts enable zero-copy data sharing across Fabric workloads.”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7690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94B79-5F52-4AFE-4D6E-CBBC0C992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7852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3. REST API &amp; Web Service Connectors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i="1" dirty="0">
                <a:highlight>
                  <a:srgbClr val="FFFF00"/>
                </a:highlight>
              </a:rPr>
              <a:t>Used when data is NOT in databases:</a:t>
            </a:r>
          </a:p>
          <a:p>
            <a:r>
              <a:rPr lang="en-US" dirty="0"/>
              <a:t>REST APIs</a:t>
            </a:r>
          </a:p>
          <a:p>
            <a:r>
              <a:rPr lang="en-US" dirty="0"/>
              <a:t>Web services</a:t>
            </a:r>
          </a:p>
          <a:p>
            <a:r>
              <a:rPr lang="en-US" dirty="0"/>
              <a:t>SaaS platforms</a:t>
            </a:r>
          </a:p>
          <a:p>
            <a:r>
              <a:rPr lang="en-US" dirty="0"/>
              <a:t>Supports:</a:t>
            </a:r>
          </a:p>
          <a:p>
            <a:r>
              <a:rPr lang="en-US" dirty="0"/>
              <a:t>GET / POST methods</a:t>
            </a:r>
          </a:p>
          <a:p>
            <a:r>
              <a:rPr lang="en-US" dirty="0"/>
              <a:t>Headers &amp; authentication</a:t>
            </a:r>
          </a:p>
          <a:p>
            <a:r>
              <a:rPr lang="en-US" dirty="0"/>
              <a:t>Pagination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b="1" i="1" dirty="0">
                <a:highlight>
                  <a:srgbClr val="FFFF00"/>
                </a:highlight>
              </a:rPr>
              <a:t>Industry example: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Fetch data from:</a:t>
            </a:r>
          </a:p>
          <a:p>
            <a:r>
              <a:rPr lang="en-US" dirty="0">
                <a:solidFill>
                  <a:srgbClr val="FF0000"/>
                </a:solidFill>
              </a:rPr>
              <a:t>Payment gateway APIs</a:t>
            </a:r>
          </a:p>
          <a:p>
            <a:r>
              <a:rPr lang="en-US" dirty="0">
                <a:solidFill>
                  <a:srgbClr val="FF0000"/>
                </a:solidFill>
              </a:rPr>
              <a:t>CRM systems</a:t>
            </a:r>
          </a:p>
          <a:p>
            <a:r>
              <a:rPr lang="en-US" dirty="0">
                <a:solidFill>
                  <a:srgbClr val="FF0000"/>
                </a:solidFill>
              </a:rPr>
              <a:t>Weather / stock APIs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675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74C0A-2C51-AFC1-46DB-95F16EB8F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-1"/>
            <a:ext cx="10515600" cy="67540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i="1" dirty="0">
                <a:highlight>
                  <a:srgbClr val="FFFF00"/>
                </a:highlight>
              </a:rPr>
              <a:t>4. Control Flow Activities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</a:rPr>
              <a:t>Used to control </a:t>
            </a:r>
            <a:r>
              <a:rPr lang="en-IN" b="1" dirty="0">
                <a:highlight>
                  <a:srgbClr val="FFFF00"/>
                </a:highlight>
              </a:rPr>
              <a:t>execution logic</a:t>
            </a:r>
            <a:r>
              <a:rPr lang="en-IN" dirty="0">
                <a:highlight>
                  <a:srgbClr val="FFFF00"/>
                </a:highlight>
              </a:rPr>
              <a:t> in pipelines: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If Condition</a:t>
            </a:r>
            <a:r>
              <a:rPr lang="en-IN" dirty="0"/>
              <a:t> → branching logic</a:t>
            </a:r>
          </a:p>
          <a:p>
            <a:r>
              <a:rPr lang="en-IN" b="1" dirty="0" err="1"/>
              <a:t>ForEach</a:t>
            </a:r>
            <a:r>
              <a:rPr lang="en-IN" dirty="0"/>
              <a:t> → loop through files or tables</a:t>
            </a:r>
          </a:p>
          <a:p>
            <a:r>
              <a:rPr lang="en-IN" b="1" dirty="0"/>
              <a:t>Until</a:t>
            </a:r>
            <a:r>
              <a:rPr lang="en-IN" dirty="0"/>
              <a:t> → repeat until condition met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b="1" i="1" dirty="0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For each file in a folder → copy to Lakehouse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Control flow activities make pipelines dynamic and reusable.</a:t>
            </a:r>
          </a:p>
        </p:txBody>
      </p:sp>
    </p:spTree>
    <p:extLst>
      <p:ext uri="{BB962C8B-B14F-4D97-AF65-F5344CB8AC3E}">
        <p14:creationId xmlns:p14="http://schemas.microsoft.com/office/powerpoint/2010/main" val="228651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2B1F8-6FA0-F6AD-3EAB-8C6D36258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i="1" dirty="0">
                <a:highlight>
                  <a:srgbClr val="FFFF00"/>
                </a:highlight>
              </a:rPr>
              <a:t>5. Variables &amp; Parameters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Parameters</a:t>
            </a:r>
            <a:r>
              <a:rPr lang="en-IN" dirty="0"/>
              <a:t> → passed at runtime (dynamic pipelines)</a:t>
            </a:r>
          </a:p>
          <a:p>
            <a:pPr marL="0" indent="0">
              <a:buNone/>
            </a:pPr>
            <a:r>
              <a:rPr lang="en-IN" b="1" dirty="0"/>
              <a:t>Variables</a:t>
            </a:r>
            <a:r>
              <a:rPr lang="en-IN" dirty="0"/>
              <a:t> → store intermediate values</a:t>
            </a:r>
          </a:p>
          <a:p>
            <a:pPr marL="0" indent="0">
              <a:buNone/>
            </a:pPr>
            <a:r>
              <a:rPr lang="en-IN" dirty="0"/>
              <a:t>Used for:</a:t>
            </a:r>
          </a:p>
          <a:p>
            <a:r>
              <a:rPr lang="en-IN" dirty="0"/>
              <a:t>File names</a:t>
            </a:r>
          </a:p>
          <a:p>
            <a:r>
              <a:rPr lang="en-IN" dirty="0"/>
              <a:t>Dates</a:t>
            </a:r>
          </a:p>
          <a:p>
            <a:r>
              <a:rPr lang="en-IN" dirty="0"/>
              <a:t>Environment switching (DEV / PROD)</a:t>
            </a:r>
          </a:p>
          <a:p>
            <a:pPr marL="0" indent="0">
              <a:buNone/>
            </a:pPr>
            <a:endParaRPr lang="en-IN" i="1" dirty="0"/>
          </a:p>
          <a:p>
            <a:pPr marL="0" indent="0">
              <a:buNone/>
            </a:pPr>
            <a:r>
              <a:rPr lang="en-IN" b="1" i="1" dirty="0">
                <a:solidFill>
                  <a:srgbClr val="FF0000"/>
                </a:solidFill>
              </a:rPr>
              <a:t>Example: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Load data based on:</a:t>
            </a:r>
          </a:p>
          <a:p>
            <a:r>
              <a:rPr lang="en-IN" dirty="0"/>
              <a:t>@pipeline().parameters.RunDate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4731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62B47-0F5A-F8CD-429E-6BED48257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0515600" cy="6930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i="1" dirty="0">
                <a:highlight>
                  <a:srgbClr val="FFFF00"/>
                </a:highlight>
              </a:rPr>
              <a:t>6. Pipeline Expressions &amp; Functions</a:t>
            </a:r>
          </a:p>
          <a:p>
            <a:r>
              <a:rPr lang="en-IN" dirty="0"/>
              <a:t>Fabric uses </a:t>
            </a:r>
            <a:r>
              <a:rPr lang="en-IN" b="1" dirty="0"/>
              <a:t>expression language</a:t>
            </a:r>
            <a:r>
              <a:rPr lang="en-IN" dirty="0"/>
              <a:t> (same as ADF)</a:t>
            </a:r>
          </a:p>
          <a:p>
            <a:r>
              <a:rPr lang="en-IN" dirty="0"/>
              <a:t>Common functions:</a:t>
            </a:r>
          </a:p>
          <a:p>
            <a:pPr lvl="1"/>
            <a:r>
              <a:rPr lang="en-IN" dirty="0" err="1"/>
              <a:t>concat</a:t>
            </a:r>
            <a:r>
              <a:rPr lang="en-IN" dirty="0"/>
              <a:t>()</a:t>
            </a:r>
          </a:p>
          <a:p>
            <a:pPr lvl="1"/>
            <a:r>
              <a:rPr lang="en-IN" dirty="0"/>
              <a:t>substring()</a:t>
            </a:r>
          </a:p>
          <a:p>
            <a:pPr lvl="1"/>
            <a:r>
              <a:rPr lang="en-IN" dirty="0" err="1"/>
              <a:t>utcNow</a:t>
            </a:r>
            <a:r>
              <a:rPr lang="en-IN" dirty="0"/>
              <a:t>()</a:t>
            </a:r>
          </a:p>
          <a:p>
            <a:pPr lvl="1"/>
            <a:r>
              <a:rPr lang="en-IN" dirty="0"/>
              <a:t>equals()</a:t>
            </a:r>
          </a:p>
          <a:p>
            <a:pPr marL="0" indent="0">
              <a:buNone/>
            </a:pPr>
            <a:r>
              <a:rPr lang="en-IN" dirty="0"/>
              <a:t>Used to:</a:t>
            </a:r>
          </a:p>
          <a:p>
            <a:r>
              <a:rPr lang="en-IN" dirty="0"/>
              <a:t>Build dynamic paths</a:t>
            </a:r>
          </a:p>
          <a:p>
            <a:r>
              <a:rPr lang="en-IN" dirty="0"/>
              <a:t>Conditional logic</a:t>
            </a:r>
          </a:p>
          <a:p>
            <a:r>
              <a:rPr lang="en-IN" dirty="0"/>
              <a:t>Metadata handling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rgbClr val="FF0000"/>
                </a:solidFill>
              </a:rPr>
              <a:t>“Expressions help build metadata-driven pipelines.”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2968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627</Words>
  <Application>Microsoft Office PowerPoint</Application>
  <PresentationFormat>Widescreen</PresentationFormat>
  <Paragraphs>141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Building scalable data pipelines using MS Fabric</vt:lpstr>
      <vt:lpstr>PowerPoint Presentation</vt:lpstr>
      <vt:lpstr>PowerPoint Presentation</vt:lpstr>
      <vt:lpstr>Creating Data Pipelines &amp; Copy Activities (Fabric)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Connectors &amp; Pipeline Components (Microsoft Fabric)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D</dc:creator>
  <cp:lastModifiedBy>Rajesh D</cp:lastModifiedBy>
  <cp:revision>5</cp:revision>
  <dcterms:created xsi:type="dcterms:W3CDTF">2026-01-06T19:24:14Z</dcterms:created>
  <dcterms:modified xsi:type="dcterms:W3CDTF">2026-01-06T21:26:28Z</dcterms:modified>
</cp:coreProperties>
</file>