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373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114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4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8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8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923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31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808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20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16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303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747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267700-ABD0-42DD-0D5E-0E03A4F59C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0" y="1524000"/>
            <a:ext cx="4572000" cy="228600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/>
              <a:t>Microsoft Fabric Warehouse vs Lakehouse</a:t>
            </a:r>
            <a:endParaRPr lang="en-US" sz="4400" dirty="0"/>
          </a:p>
        </p:txBody>
      </p:sp>
      <p:pic>
        <p:nvPicPr>
          <p:cNvPr id="4" name="Picture 3" descr="School desk with books and pencils with chalkboard in background">
            <a:extLst>
              <a:ext uri="{FF2B5EF4-FFF2-40B4-BE49-F238E27FC236}">
                <a16:creationId xmlns:a16="http://schemas.microsoft.com/office/drawing/2014/main" id="{4CF51D67-0E35-665F-2601-790A756B27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862" r="-2" b="-2"/>
          <a:stretch>
            <a:fillRect/>
          </a:stretch>
        </p:blipFill>
        <p:spPr>
          <a:xfrm>
            <a:off x="-8" y="762006"/>
            <a:ext cx="5948805" cy="6095979"/>
          </a:xfrm>
          <a:custGeom>
            <a:avLst/>
            <a:gdLst/>
            <a:ahLst/>
            <a:cxnLst/>
            <a:rect l="l" t="t" r="r" b="b"/>
            <a:pathLst>
              <a:path w="5948805" h="6095979">
                <a:moveTo>
                  <a:pt x="1573832" y="765"/>
                </a:moveTo>
                <a:cubicBezTo>
                  <a:pt x="1940190" y="-10734"/>
                  <a:pt x="2329345" y="109280"/>
                  <a:pt x="2734663" y="238687"/>
                </a:cubicBezTo>
                <a:cubicBezTo>
                  <a:pt x="4118244" y="680647"/>
                  <a:pt x="5296697" y="1302752"/>
                  <a:pt x="5668316" y="3639516"/>
                </a:cubicBezTo>
                <a:cubicBezTo>
                  <a:pt x="5788298" y="4393559"/>
                  <a:pt x="5890546" y="5142244"/>
                  <a:pt x="5937022" y="5865869"/>
                </a:cubicBezTo>
                <a:lnTo>
                  <a:pt x="5948805" y="6095979"/>
                </a:lnTo>
                <a:lnTo>
                  <a:pt x="0" y="6095979"/>
                </a:lnTo>
                <a:lnTo>
                  <a:pt x="0" y="1621672"/>
                </a:lnTo>
                <a:lnTo>
                  <a:pt x="36310" y="1518814"/>
                </a:lnTo>
                <a:cubicBezTo>
                  <a:pt x="109805" y="1321982"/>
                  <a:pt x="192755" y="1133640"/>
                  <a:pt x="287891" y="956872"/>
                </a:cubicBezTo>
                <a:cubicBezTo>
                  <a:pt x="669453" y="247734"/>
                  <a:pt x="1102800" y="15549"/>
                  <a:pt x="1573832" y="765"/>
                </a:cubicBez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47DB6CD-8E9E-4643-B3B6-01BD80429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23838" y="538152"/>
            <a:ext cx="6095989" cy="6543686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10357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231C8-4982-D74D-5DB6-6E8D2F3D8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2" y="76200"/>
            <a:ext cx="10668000" cy="914400"/>
          </a:xfrm>
        </p:spPr>
        <p:txBody>
          <a:bodyPr/>
          <a:lstStyle/>
          <a:p>
            <a:r>
              <a:rPr lang="en-US" dirty="0"/>
              <a:t>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F4A38-A51F-5D3A-4BD4-B897AC071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9" y="1676400"/>
            <a:ext cx="11310257" cy="4528457"/>
          </a:xfrm>
        </p:spPr>
        <p:txBody>
          <a:bodyPr>
            <a:normAutofit/>
          </a:bodyPr>
          <a:lstStyle/>
          <a:p>
            <a:r>
              <a:rPr lang="en-US" b="1" dirty="0"/>
              <a:t>Fabric Warehouse</a:t>
            </a:r>
            <a:r>
              <a:rPr lang="en-US" dirty="0"/>
              <a:t> is for </a:t>
            </a:r>
            <a:r>
              <a:rPr lang="en-US" b="1" dirty="0"/>
              <a:t>business users and BI teams</a:t>
            </a:r>
            <a:r>
              <a:rPr lang="en-US" dirty="0"/>
              <a:t> who need fast, governed, SQL-based analytics.</a:t>
            </a:r>
            <a:br>
              <a:rPr lang="en-US" dirty="0"/>
            </a:br>
            <a:r>
              <a:rPr lang="en-US" b="1" dirty="0"/>
              <a:t>Fabric Lakehouse</a:t>
            </a:r>
            <a:r>
              <a:rPr lang="en-US" dirty="0"/>
              <a:t> is for </a:t>
            </a:r>
            <a:r>
              <a:rPr lang="en-US" b="1" dirty="0"/>
              <a:t>data engineers and data scientists</a:t>
            </a:r>
            <a:r>
              <a:rPr lang="en-US" dirty="0"/>
              <a:t> who need flexibility, scalability, and advanced processing.</a:t>
            </a:r>
          </a:p>
          <a:p>
            <a:pPr marL="0" indent="0">
              <a:buNone/>
            </a:pPr>
            <a:r>
              <a:rPr lang="en-US" b="1" dirty="0"/>
              <a:t>In real projects:</a:t>
            </a:r>
          </a:p>
          <a:p>
            <a:r>
              <a:rPr lang="en-US" b="1" dirty="0"/>
              <a:t>Lakehouse → Raw, Bronze, Silver layers</a:t>
            </a:r>
            <a:endParaRPr lang="en-US" dirty="0"/>
          </a:p>
          <a:p>
            <a:r>
              <a:rPr lang="en-US" b="1" dirty="0"/>
              <a:t>Warehouse → Gold / Reporting layer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25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CF635-4BE8-6BCC-9C73-867635BEA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53917"/>
          </a:xfrm>
        </p:spPr>
        <p:txBody>
          <a:bodyPr>
            <a:normAutofit/>
          </a:bodyPr>
          <a:lstStyle/>
          <a:p>
            <a:r>
              <a:rPr lang="en-US" sz="2400" dirty="0"/>
              <a:t>1️⃣ Warehouse Architecture &amp; Design Principles (Fabric Warehouse)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B093E-DEA8-8C4E-5E9E-C216FB760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43" y="849086"/>
            <a:ext cx="10668000" cy="587828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What it is</a:t>
            </a:r>
          </a:p>
          <a:p>
            <a:r>
              <a:rPr lang="en-US" dirty="0"/>
              <a:t>A </a:t>
            </a:r>
            <a:r>
              <a:rPr lang="en-US" b="1" dirty="0"/>
              <a:t>relational, SQL-first analytics engine</a:t>
            </a:r>
            <a:r>
              <a:rPr lang="en-US" dirty="0"/>
              <a:t> in Microsoft Fabric.</a:t>
            </a:r>
          </a:p>
          <a:p>
            <a:r>
              <a:rPr lang="en-US" dirty="0"/>
              <a:t>Built for </a:t>
            </a:r>
            <a:r>
              <a:rPr lang="en-US" b="1" dirty="0"/>
              <a:t>BI reporting, dashboards, and structured analytics</a:t>
            </a:r>
            <a:r>
              <a:rPr lang="en-US" dirty="0"/>
              <a:t>.</a:t>
            </a:r>
          </a:p>
          <a:p>
            <a:r>
              <a:rPr lang="en-US" dirty="0"/>
              <a:t>Uses </a:t>
            </a:r>
            <a:r>
              <a:rPr lang="en-US" b="1" dirty="0"/>
              <a:t>T-SQL</a:t>
            </a:r>
            <a:r>
              <a:rPr lang="en-US" dirty="0"/>
              <a:t> and behaves like a modern cloud data warehouse.</a:t>
            </a:r>
          </a:p>
          <a:p>
            <a:r>
              <a:rPr lang="en-US" b="1" dirty="0"/>
              <a:t>Architecture</a:t>
            </a:r>
            <a:endParaRPr lang="en-US" dirty="0"/>
          </a:p>
          <a:p>
            <a:r>
              <a:rPr lang="en-US" dirty="0"/>
              <a:t>Storage: </a:t>
            </a:r>
            <a:r>
              <a:rPr lang="en-US" b="1" dirty="0" err="1"/>
              <a:t>OneLake</a:t>
            </a:r>
            <a:r>
              <a:rPr lang="en-US" b="1" dirty="0"/>
              <a:t> (internally Delta format, abstracted from users)</a:t>
            </a:r>
            <a:endParaRPr lang="en-US" dirty="0"/>
          </a:p>
          <a:p>
            <a:r>
              <a:rPr lang="en-US" dirty="0"/>
              <a:t>Compute: </a:t>
            </a:r>
            <a:r>
              <a:rPr lang="en-US" b="1" dirty="0"/>
              <a:t>SQL engine (MPP-like behavior, fully managed)</a:t>
            </a:r>
            <a:endParaRPr lang="en-US" dirty="0"/>
          </a:p>
          <a:p>
            <a:r>
              <a:rPr lang="en-US" dirty="0"/>
              <a:t>Schema: </a:t>
            </a:r>
            <a:r>
              <a:rPr lang="en-US" b="1" dirty="0"/>
              <a:t>Schema-on-write</a:t>
            </a:r>
            <a:endParaRPr lang="en-US" dirty="0"/>
          </a:p>
          <a:p>
            <a:r>
              <a:rPr lang="en-US" dirty="0"/>
              <a:t>Data access: Power BI, SQL clients, Fabric notebooks (read-only)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673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D621A-2A30-86E8-207A-E1674F4C4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73CBF-7C16-F6DA-2229-DD53A869A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Design Principles</a:t>
            </a:r>
            <a:endParaRPr lang="en-US" dirty="0"/>
          </a:p>
          <a:p>
            <a:r>
              <a:rPr lang="en-US" dirty="0"/>
              <a:t>Strong </a:t>
            </a:r>
            <a:r>
              <a:rPr lang="en-US" b="1" dirty="0"/>
              <a:t>data governance</a:t>
            </a:r>
            <a:endParaRPr lang="en-US" dirty="0"/>
          </a:p>
          <a:p>
            <a:r>
              <a:rPr lang="en-US" dirty="0"/>
              <a:t>Optimized for </a:t>
            </a:r>
            <a:r>
              <a:rPr lang="en-US" b="1" dirty="0"/>
              <a:t>structured data</a:t>
            </a:r>
            <a:endParaRPr lang="en-US" dirty="0"/>
          </a:p>
          <a:p>
            <a:r>
              <a:rPr lang="en-US" dirty="0"/>
              <a:t>Centralized </a:t>
            </a:r>
            <a:r>
              <a:rPr lang="en-US" b="1" dirty="0"/>
              <a:t>enterprise reporting</a:t>
            </a:r>
            <a:endParaRPr lang="en-US" dirty="0"/>
          </a:p>
          <a:p>
            <a:r>
              <a:rPr lang="en-US" dirty="0"/>
              <a:t>Predictable performance</a:t>
            </a:r>
          </a:p>
          <a:p>
            <a:r>
              <a:rPr lang="en-US" dirty="0"/>
              <a:t>Business-user friendly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564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F324B-E415-A158-FDEE-385F652B3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311743" cy="1524000"/>
          </a:xfrm>
        </p:spPr>
        <p:txBody>
          <a:bodyPr/>
          <a:lstStyle/>
          <a:p>
            <a:r>
              <a:rPr lang="en-US" dirty="0"/>
              <a:t>2️⃣ Lakehouse Architecture &amp; Delta Lake Benefits (Fabric Lakehouse)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06C03-F245-6B9F-386C-E901394F2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41715"/>
            <a:ext cx="10668000" cy="381808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What it is</a:t>
            </a:r>
            <a:endParaRPr lang="en-US" dirty="0"/>
          </a:p>
          <a:p>
            <a:r>
              <a:rPr lang="en-US" dirty="0"/>
              <a:t>Combines </a:t>
            </a:r>
            <a:r>
              <a:rPr lang="en-US" b="1" dirty="0"/>
              <a:t>data lake flexibility + warehouse reliability</a:t>
            </a:r>
            <a:endParaRPr lang="en-US" dirty="0"/>
          </a:p>
          <a:p>
            <a:r>
              <a:rPr lang="en-US" dirty="0"/>
              <a:t>Supports </a:t>
            </a:r>
            <a:r>
              <a:rPr lang="en-US" b="1" dirty="0"/>
              <a:t>structured, semi-structured, and unstructured data</a:t>
            </a:r>
            <a:endParaRPr lang="en-US" dirty="0"/>
          </a:p>
          <a:p>
            <a:r>
              <a:rPr lang="en-US" dirty="0"/>
              <a:t>Open format based on </a:t>
            </a:r>
            <a:r>
              <a:rPr lang="en-US" b="1" dirty="0"/>
              <a:t>Delta Lake</a:t>
            </a:r>
            <a:endParaRPr lang="en-US" dirty="0"/>
          </a:p>
          <a:p>
            <a:r>
              <a:rPr lang="en-US" b="1" dirty="0"/>
              <a:t>Architecture</a:t>
            </a:r>
            <a:endParaRPr lang="en-US" dirty="0"/>
          </a:p>
          <a:p>
            <a:r>
              <a:rPr lang="en-US" dirty="0"/>
              <a:t>Storage: </a:t>
            </a:r>
            <a:r>
              <a:rPr lang="en-US" b="1" dirty="0" err="1"/>
              <a:t>OneLake</a:t>
            </a:r>
            <a:r>
              <a:rPr lang="en-US" b="1" dirty="0"/>
              <a:t> (Delta tables + files)</a:t>
            </a:r>
            <a:endParaRPr lang="en-US" dirty="0"/>
          </a:p>
          <a:p>
            <a:r>
              <a:rPr lang="en-US" dirty="0"/>
              <a:t>Compute: </a:t>
            </a:r>
            <a:r>
              <a:rPr lang="en-US" b="1" dirty="0"/>
              <a:t>Spark engine</a:t>
            </a:r>
            <a:endParaRPr lang="en-US" dirty="0"/>
          </a:p>
          <a:p>
            <a:r>
              <a:rPr lang="en-US" dirty="0"/>
              <a:t>Schema: </a:t>
            </a:r>
            <a:r>
              <a:rPr lang="en-US" b="1" dirty="0"/>
              <a:t>Schema-on-read + optional schema enforcement</a:t>
            </a:r>
            <a:endParaRPr lang="en-US" dirty="0"/>
          </a:p>
          <a:p>
            <a:r>
              <a:rPr lang="en-US" dirty="0"/>
              <a:t>Data access: Spark, SQL endpoint, Power BI, ML tools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878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2BF95-D098-0D01-8D70-7924BCF9B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544286"/>
            <a:ext cx="10668000" cy="381808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Delta Lake Benefits</a:t>
            </a:r>
            <a:endParaRPr lang="en-US" dirty="0"/>
          </a:p>
          <a:p>
            <a:r>
              <a:rPr lang="en-US" dirty="0"/>
              <a:t>ACID transactions</a:t>
            </a:r>
          </a:p>
          <a:p>
            <a:r>
              <a:rPr lang="en-US" dirty="0"/>
              <a:t>Time travel (data versioning)</a:t>
            </a:r>
          </a:p>
          <a:p>
            <a:r>
              <a:rPr lang="en-US" dirty="0"/>
              <a:t>Schema evolution</a:t>
            </a:r>
          </a:p>
          <a:p>
            <a:r>
              <a:rPr lang="en-US" dirty="0"/>
              <a:t>Scalable for big data &amp; ML</a:t>
            </a:r>
          </a:p>
          <a:p>
            <a:r>
              <a:rPr lang="en-US" dirty="0"/>
              <a:t>Open format (no vendor lock-in)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415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9E778-7488-9A82-26FC-F40BE1471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0"/>
            <a:ext cx="10668000" cy="753917"/>
          </a:xfrm>
        </p:spPr>
        <p:txBody>
          <a:bodyPr/>
          <a:lstStyle/>
          <a:p>
            <a:r>
              <a:rPr lang="en-US" dirty="0"/>
              <a:t>3️⃣ When to Use Warehouse vs Lakehouse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9CE90D-2686-37EE-DE90-2EB3ADCCAD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754311"/>
              </p:ext>
            </p:extLst>
          </p:nvPr>
        </p:nvGraphicFramePr>
        <p:xfrm>
          <a:off x="957943" y="1305900"/>
          <a:ext cx="10668000" cy="4267584"/>
        </p:xfrm>
        <a:graphic>
          <a:graphicData uri="http://schemas.openxmlformats.org/drawingml/2006/table">
            <a:tbl>
              <a:tblPr/>
              <a:tblGrid>
                <a:gridCol w="3556000">
                  <a:extLst>
                    <a:ext uri="{9D8B030D-6E8A-4147-A177-3AD203B41FA5}">
                      <a16:colId xmlns:a16="http://schemas.microsoft.com/office/drawing/2014/main" val="182708738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662629583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212350540"/>
                    </a:ext>
                  </a:extLst>
                </a:gridCol>
              </a:tblGrid>
              <a:tr h="533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Scenario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Warehouse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Lakehouse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264133"/>
                  </a:ext>
                </a:extLst>
              </a:tr>
              <a:tr h="533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Power BI reporting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Best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537796"/>
                  </a:ext>
                </a:extLst>
              </a:tr>
              <a:tr h="533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Complex SQL analytics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⚠️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824853"/>
                  </a:ext>
                </a:extLst>
              </a:tr>
              <a:tr h="533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Big data 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Best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8984925"/>
                  </a:ext>
                </a:extLst>
              </a:tr>
              <a:tr h="533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science / 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055928"/>
                  </a:ext>
                </a:extLst>
              </a:tr>
              <a:tr h="533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Streaming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88919"/>
                  </a:ext>
                </a:extLst>
              </a:tr>
              <a:tr h="533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Enterprise governance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⚠️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26108"/>
                  </a:ext>
                </a:extLst>
              </a:tr>
              <a:tr h="533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Raw + curated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084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4043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B03B9-AC3B-9B9F-C300-A0B223FCA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1" y="1"/>
            <a:ext cx="10668000" cy="544286"/>
          </a:xfrm>
        </p:spPr>
        <p:txBody>
          <a:bodyPr>
            <a:normAutofit fontScale="90000"/>
          </a:bodyPr>
          <a:lstStyle/>
          <a:p>
            <a:r>
              <a:rPr lang="en-US" dirty="0"/>
              <a:t>4️⃣ Data Modeling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1BBCA-BF27-F2D3-36C3-EB5BE4E17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971" y="653143"/>
            <a:ext cx="10668000" cy="6335486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⭐ Star Schema (Best for Warehouse)</a:t>
            </a:r>
          </a:p>
          <a:p>
            <a:r>
              <a:rPr lang="en-US" dirty="0"/>
              <a:t>Fact tables + Dimension tables</a:t>
            </a:r>
          </a:p>
          <a:p>
            <a:r>
              <a:rPr lang="en-US" dirty="0"/>
              <a:t>Optimized for reporting</a:t>
            </a:r>
          </a:p>
          <a:p>
            <a:r>
              <a:rPr lang="en-US" dirty="0"/>
              <a:t>Simple joins</a:t>
            </a:r>
          </a:p>
          <a:p>
            <a:r>
              <a:rPr lang="en-US" dirty="0"/>
              <a:t>Used in Power BI</a:t>
            </a:r>
          </a:p>
          <a:p>
            <a:r>
              <a:rPr lang="en-US" b="1" dirty="0"/>
              <a:t>❄️ Snowflake Schema</a:t>
            </a:r>
          </a:p>
          <a:p>
            <a:r>
              <a:rPr lang="en-US" dirty="0"/>
              <a:t>Normalized dimensions</a:t>
            </a:r>
          </a:p>
          <a:p>
            <a:r>
              <a:rPr lang="en-US" dirty="0"/>
              <a:t>Slightly complex joins</a:t>
            </a:r>
          </a:p>
          <a:p>
            <a:r>
              <a:rPr lang="en-US" dirty="0"/>
              <a:t>Saves storage</a:t>
            </a:r>
          </a:p>
          <a:p>
            <a:r>
              <a:rPr lang="en-US" dirty="0"/>
              <a:t>Less common in Fabric Warehouse</a:t>
            </a:r>
          </a:p>
          <a:p>
            <a:r>
              <a:rPr lang="en-US" b="1" dirty="0"/>
              <a:t>🧱 Data Vault (Best for Lakehouse)</a:t>
            </a:r>
          </a:p>
          <a:p>
            <a:r>
              <a:rPr lang="en-US" dirty="0"/>
              <a:t>Hubs, Links, Satellites</a:t>
            </a:r>
          </a:p>
          <a:p>
            <a:r>
              <a:rPr lang="en-US" dirty="0"/>
              <a:t>Excellent for:</a:t>
            </a:r>
          </a:p>
          <a:p>
            <a:pPr lvl="1"/>
            <a:r>
              <a:rPr lang="en-US" dirty="0"/>
              <a:t>Historical tracking</a:t>
            </a:r>
          </a:p>
          <a:p>
            <a:pPr lvl="1"/>
            <a:r>
              <a:rPr lang="en-US" dirty="0"/>
              <a:t>Agile changes</a:t>
            </a:r>
          </a:p>
          <a:p>
            <a:pPr lvl="1"/>
            <a:r>
              <a:rPr lang="en-US" dirty="0"/>
              <a:t>Enterprise ingestion layers</a:t>
            </a:r>
          </a:p>
          <a:p>
            <a:r>
              <a:rPr lang="en-US" dirty="0"/>
              <a:t>Typically implemented in </a:t>
            </a:r>
            <a:r>
              <a:rPr lang="en-US" b="1" dirty="0"/>
              <a:t>Lakehouse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659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20644-BAA2-97C6-3E74-08AC0B0C5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743" y="0"/>
            <a:ext cx="10668000" cy="753917"/>
          </a:xfrm>
        </p:spPr>
        <p:txBody>
          <a:bodyPr/>
          <a:lstStyle/>
          <a:p>
            <a:r>
              <a:rPr lang="en-US" dirty="0"/>
              <a:t>5️⃣ Storage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275B9-BA1C-3A11-25AE-0E5A3EE6E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914400"/>
            <a:ext cx="10668000" cy="5780314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Warehouse</a:t>
            </a:r>
          </a:p>
          <a:p>
            <a:r>
              <a:rPr lang="en-US" dirty="0"/>
              <a:t>Columnar storage</a:t>
            </a:r>
          </a:p>
          <a:p>
            <a:r>
              <a:rPr lang="en-US" dirty="0"/>
              <a:t>Automatic compression</a:t>
            </a:r>
          </a:p>
          <a:p>
            <a:r>
              <a:rPr lang="en-US" dirty="0"/>
              <a:t>Indexing handled internally</a:t>
            </a:r>
          </a:p>
          <a:p>
            <a:r>
              <a:rPr lang="en-US" dirty="0"/>
              <a:t>Limited manual tuning</a:t>
            </a:r>
          </a:p>
          <a:p>
            <a:r>
              <a:rPr lang="en-US" b="1" dirty="0"/>
              <a:t>Lakehouse</a:t>
            </a:r>
          </a:p>
          <a:p>
            <a:r>
              <a:rPr lang="en-US" dirty="0"/>
              <a:t>Partitioning (date, region, etc.)</a:t>
            </a:r>
          </a:p>
          <a:p>
            <a:r>
              <a:rPr lang="en-US" dirty="0"/>
              <a:t>Z-Ordering (Delta optimization)</a:t>
            </a:r>
          </a:p>
          <a:p>
            <a:r>
              <a:rPr lang="en-US" dirty="0"/>
              <a:t>File compaction</a:t>
            </a:r>
          </a:p>
          <a:p>
            <a:r>
              <a:rPr lang="en-US" dirty="0"/>
              <a:t>Manual optimization via Spark</a:t>
            </a:r>
          </a:p>
          <a:p>
            <a:r>
              <a:rPr lang="en-US" b="1" dirty="0"/>
              <a:t>Example</a:t>
            </a:r>
            <a:endParaRPr lang="en-US" dirty="0"/>
          </a:p>
          <a:p>
            <a:r>
              <a:rPr lang="en-US" dirty="0"/>
              <a:t>Partition by: </a:t>
            </a:r>
            <a:r>
              <a:rPr lang="en-US" dirty="0" err="1"/>
              <a:t>transaction_date</a:t>
            </a:r>
            <a:endParaRPr lang="en-US" dirty="0"/>
          </a:p>
          <a:p>
            <a:r>
              <a:rPr lang="en-US" dirty="0"/>
              <a:t>Z-Order by: </a:t>
            </a:r>
            <a:r>
              <a:rPr lang="en-US" dirty="0" err="1"/>
              <a:t>customer_id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492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62050-92A7-F712-4AB9-C739BF1E2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0"/>
            <a:ext cx="10668000" cy="859971"/>
          </a:xfrm>
        </p:spPr>
        <p:txBody>
          <a:bodyPr/>
          <a:lstStyle/>
          <a:p>
            <a:r>
              <a:rPr lang="en-US" dirty="0"/>
              <a:t>6️⃣ Query Performance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0DD10-8A1C-61B4-939F-DFFB410C5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86" y="1034143"/>
            <a:ext cx="10668000" cy="5715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Warehouse</a:t>
            </a:r>
          </a:p>
          <a:p>
            <a:r>
              <a:rPr lang="en-US" dirty="0"/>
              <a:t>Best for:</a:t>
            </a:r>
          </a:p>
          <a:p>
            <a:pPr lvl="1"/>
            <a:r>
              <a:rPr lang="en-US" dirty="0"/>
              <a:t>Aggregations</a:t>
            </a:r>
          </a:p>
          <a:p>
            <a:pPr lvl="1"/>
            <a:r>
              <a:rPr lang="en-US" dirty="0"/>
              <a:t>Joins</a:t>
            </a:r>
          </a:p>
          <a:p>
            <a:pPr lvl="1"/>
            <a:r>
              <a:rPr lang="en-US" dirty="0"/>
              <a:t>BI workloads</a:t>
            </a:r>
          </a:p>
          <a:p>
            <a:r>
              <a:rPr lang="en-US" dirty="0"/>
              <a:t>Optimized SQL engine</a:t>
            </a:r>
          </a:p>
          <a:p>
            <a:r>
              <a:rPr lang="en-US" dirty="0"/>
              <a:t>Minimal tuning required</a:t>
            </a:r>
          </a:p>
          <a:p>
            <a:pPr marL="0" indent="0">
              <a:buNone/>
            </a:pPr>
            <a:r>
              <a:rPr lang="en-US" b="1" dirty="0"/>
              <a:t>Lakehouse</a:t>
            </a:r>
          </a:p>
          <a:p>
            <a:r>
              <a:rPr lang="en-US" dirty="0"/>
              <a:t>Performance depends on:</a:t>
            </a:r>
          </a:p>
          <a:p>
            <a:pPr lvl="1"/>
            <a:r>
              <a:rPr lang="en-US" dirty="0"/>
              <a:t>File size</a:t>
            </a:r>
          </a:p>
          <a:p>
            <a:pPr lvl="1"/>
            <a:r>
              <a:rPr lang="en-US" dirty="0"/>
              <a:t>Partitioning</a:t>
            </a:r>
          </a:p>
          <a:p>
            <a:pPr lvl="1"/>
            <a:r>
              <a:rPr lang="en-US" dirty="0"/>
              <a:t>Spark configuration</a:t>
            </a:r>
          </a:p>
          <a:p>
            <a:r>
              <a:rPr lang="en-US" dirty="0"/>
              <a:t>Excellent for:</a:t>
            </a:r>
          </a:p>
          <a:p>
            <a:pPr lvl="1"/>
            <a:r>
              <a:rPr lang="en-US" dirty="0"/>
              <a:t>Large-scale transformations</a:t>
            </a:r>
          </a:p>
          <a:p>
            <a:pPr lvl="1"/>
            <a:r>
              <a:rPr lang="en-US" dirty="0"/>
              <a:t>Complex data processing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772865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Blush 3">
      <a:dk1>
        <a:sysClr val="windowText" lastClr="000000"/>
      </a:dk1>
      <a:lt1>
        <a:sysClr val="window" lastClr="FFFFFF"/>
      </a:lt1>
      <a:dk2>
        <a:srgbClr val="B15E4E"/>
      </a:dk2>
      <a:lt2>
        <a:srgbClr val="FFFFFF"/>
      </a:lt2>
      <a:accent1>
        <a:srgbClr val="C5B096"/>
      </a:accent1>
      <a:accent2>
        <a:srgbClr val="ECA855"/>
      </a:accent2>
      <a:accent3>
        <a:srgbClr val="9BBFB0"/>
      </a:accent3>
      <a:accent4>
        <a:srgbClr val="A9AEA7"/>
      </a:accent4>
      <a:accent5>
        <a:srgbClr val="6A787C"/>
      </a:accent5>
      <a:accent6>
        <a:srgbClr val="3B4345"/>
      </a:accent6>
      <a:hlink>
        <a:srgbClr val="ECA855"/>
      </a:hlink>
      <a:folHlink>
        <a:srgbClr val="6A392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457</Words>
  <Application>Microsoft Office PowerPoint</Application>
  <PresentationFormat>Widescreen</PresentationFormat>
  <Paragraphs>111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Avenir Next LT Pro</vt:lpstr>
      <vt:lpstr>Avenir Next LT Pro Light</vt:lpstr>
      <vt:lpstr>Sitka Subheading</vt:lpstr>
      <vt:lpstr>PebbleVTI</vt:lpstr>
      <vt:lpstr>Microsoft Fabric Warehouse vs Lakehouse</vt:lpstr>
      <vt:lpstr>INTRO</vt:lpstr>
      <vt:lpstr>1️⃣ Warehouse Architecture &amp; Design Principles (Fabric Warehouse)</vt:lpstr>
      <vt:lpstr>PowerPoint Presentation</vt:lpstr>
      <vt:lpstr>2️⃣ Lakehouse Architecture &amp; Delta Lake Benefits (Fabric Lakehouse)</vt:lpstr>
      <vt:lpstr>PowerPoint Presentation</vt:lpstr>
      <vt:lpstr>3️⃣ When to Use Warehouse vs Lakehouse</vt:lpstr>
      <vt:lpstr>4️⃣ Data Modeling Approaches</vt:lpstr>
      <vt:lpstr>5️⃣ Storage Optimization</vt:lpstr>
      <vt:lpstr>6️⃣ Query Performance Considerations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3</cp:revision>
  <dcterms:created xsi:type="dcterms:W3CDTF">2026-01-07T14:25:48Z</dcterms:created>
  <dcterms:modified xsi:type="dcterms:W3CDTF">2026-01-07T14:34:48Z</dcterms:modified>
</cp:coreProperties>
</file>