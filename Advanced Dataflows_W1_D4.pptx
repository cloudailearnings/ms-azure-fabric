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F4CF-CD7E-3228-C7A5-289A51C31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AFF0D-6B8E-5FE8-33C6-25486E3EA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262FA-2D4B-18E7-BE4A-EDF8D05B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F4A8C-D593-3B48-2550-A0C5F1B2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1FD21-D3DA-274E-514E-B44E81FA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2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B12A-74CE-DD03-DB2E-BBCDB8C5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5C1DF-7213-7A89-0395-F55D5DA0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578EF-C177-A6DE-3491-9CFB55CA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C1A0D-9B34-74C0-6F9B-BD7C9106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66DBF-BC56-3094-2705-265B22A4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40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60C4-4A0B-9C63-118B-EBE66639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AE518-E1A8-981A-E973-70D1C7FA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189BA-1697-A8D5-5D5D-BBE93AB8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BBD7C-7C8A-27D8-A612-6ABD6548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0747-3CB7-B8DA-1F11-2CF68580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5C95-6F94-7E7E-C192-2D554F1D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7737F-DF59-00C1-34C7-C33286A74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EC81C-D75A-BD7B-706A-9B1282A4C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281F4-5347-60DE-DC9A-365D8206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94D76-6C72-5FAA-A241-D9C74262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49CB6-9151-DBD9-9D60-2BB3D8D3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5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1E76-83AA-786A-FAC0-D68FBCF9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CDEFF-06B5-5167-906C-31F161015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B97DA-5A19-EE87-EE74-914F63F56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DDE21-CCA9-F91A-E3DD-E870C1FD8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C2C6D-D421-E8E4-BAA6-F097B59B5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3F6B4-1108-7AE1-4D58-9A909391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DA868-A3F9-FD9E-9B9B-98EC4A362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D59A3-C0B6-5ACF-234B-7D5B6633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6B98-081B-45CD-C3F4-1E2A3F1E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8FD28-BD59-DE8A-A64F-83595F27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6574C-16C7-F21D-250E-6CCD08E5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0A110-500E-5899-7E4A-E3913F3C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D098E-7341-B1D0-DFF3-9A54DAA9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A462D-306E-E334-A484-2DD32CD0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EE6E5-186C-D785-0069-8E0927A2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8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FB0D-43B6-4F58-87C7-04674457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77EC4-75DF-366E-92FE-0644D99F1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5081B-47B1-A029-612B-9FBB2C53C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DF69E-5E20-2C73-0866-6C281855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22A21-6EB6-2FB1-343C-37C14195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BFC23-DF66-CE44-59AF-E882D6DC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19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CBEA-CFBF-76BF-FEB3-5754DE75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BC40F5-0A84-1F5C-E494-DCD16FB05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CA8DC-92E4-1D6E-F842-72305B013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FB701-073C-0270-38A2-664AD382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85570-41CA-3392-7E75-E13CD8EC1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1C066-E57B-9C6B-0FF9-E4226579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6071-3F00-698D-ADA2-A334092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52D6C-05DF-57AA-18D2-E6292E29E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3458-0DA3-D337-D839-987EAA0E9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5123C-B453-41B1-AAD1-6F027CC7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4AD3-B6C0-1BB7-52BF-9007A6C3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98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FD54E-E32A-DAD6-4432-4906347E5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14D66-6784-ED5A-67A4-F7F697123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62C7-6B47-6B2D-CABD-12E519C7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8DC4-9283-05A1-FEAB-F5F95A55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C9885-3050-B93C-91A5-DE4F49A2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534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53747B-3932-2EB8-A904-0A6F32BB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326D2-516A-8CBB-0A4D-0816752DD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B3EB1-B0B9-93AE-CAC8-F36A08959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D2F63-F019-41A9-B1E0-3C9148EA80B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024DD-7DD0-AE03-3380-8A66AC510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2AE11-9A3D-3857-C8DA-9664BCD69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6B316-F6FF-475D-9475-E5BCD3EA6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4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C9E5-794B-1DAE-F67A-D670D0826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⚙️ Creating Advanced Dataflows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7E460-BD28-F304-1BD9-BD65CEFE7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Transformations &amp; Functions (Dataflows Gen2)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6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E367-BA86-057B-FC6B-16DC54D01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64" y="1108652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Advanced Dataflow: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An advanced dataflow uses custom M functions, complex transformations, and reusable logic for enterprise-grade ETL.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Error Handling: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Power Query supports error handling using try…otherwise expressions.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45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1AFB-6C87-BA61-8BB8-4243D8CB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4" y="1"/>
            <a:ext cx="10515600" cy="820882"/>
          </a:xfrm>
        </p:spPr>
        <p:txBody>
          <a:bodyPr/>
          <a:lstStyle/>
          <a:p>
            <a:r>
              <a:rPr lang="en-US" dirty="0"/>
              <a:t>1️⃣ What Makes a Dataflow “Advanced”?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1576B-0A4E-95E5-E191-37F028692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Dataflow becomes </a:t>
            </a:r>
            <a:r>
              <a:rPr lang="en-IN" b="1" dirty="0"/>
              <a:t>advanced</a:t>
            </a:r>
            <a:r>
              <a:rPr lang="en-IN" dirty="0"/>
              <a:t> when it includes:</a:t>
            </a:r>
          </a:p>
          <a:p>
            <a:r>
              <a:rPr lang="en-IN" dirty="0"/>
              <a:t>✔️ Custom M functions</a:t>
            </a:r>
            <a:br>
              <a:rPr lang="en-IN" dirty="0"/>
            </a:br>
            <a:r>
              <a:rPr lang="en-IN" dirty="0"/>
              <a:t>✔️ Complex business rules</a:t>
            </a:r>
            <a:br>
              <a:rPr lang="en-IN" dirty="0"/>
            </a:br>
            <a:r>
              <a:rPr lang="en-IN" dirty="0"/>
              <a:t>✔️ Reusable logic</a:t>
            </a:r>
            <a:br>
              <a:rPr lang="en-IN" dirty="0"/>
            </a:br>
            <a:r>
              <a:rPr lang="en-IN" dirty="0"/>
              <a:t>✔️ Error handling</a:t>
            </a:r>
            <a:br>
              <a:rPr lang="en-IN" dirty="0"/>
            </a:br>
            <a:r>
              <a:rPr lang="en-IN" dirty="0"/>
              <a:t>✔️ Lookup &amp; reference tables</a:t>
            </a:r>
            <a:br>
              <a:rPr lang="en-IN" dirty="0"/>
            </a:br>
            <a:r>
              <a:rPr lang="en-IN" dirty="0"/>
              <a:t>✔️ Optimized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22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E8E6-EA60-65BC-2194-4925DF1A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2️⃣ Custom M Functions &amp;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9955-F5E5-0903-79B8-02C1DBD7B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40998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🔹 What is a Custom Function?</a:t>
            </a:r>
          </a:p>
          <a:p>
            <a:r>
              <a:rPr lang="en-US" dirty="0"/>
              <a:t>A reusable block of M logic.</a:t>
            </a:r>
          </a:p>
          <a:p>
            <a:r>
              <a:rPr lang="en-US" dirty="0"/>
              <a:t>📌 Used when:</a:t>
            </a:r>
          </a:p>
          <a:p>
            <a:r>
              <a:rPr lang="en-US" dirty="0"/>
              <a:t>Same transformation applies to multiple tables</a:t>
            </a:r>
          </a:p>
          <a:p>
            <a:r>
              <a:rPr lang="en-US" dirty="0"/>
              <a:t>Parameterized logic is required</a:t>
            </a:r>
          </a:p>
          <a:p>
            <a:endParaRPr lang="en-US" dirty="0"/>
          </a:p>
          <a:p>
            <a:r>
              <a:rPr lang="en-US" b="1" dirty="0"/>
              <a:t>🔹 Example: Custom Function (Tax Calculation)</a:t>
            </a:r>
          </a:p>
          <a:p>
            <a:r>
              <a:rPr lang="en-US" dirty="0"/>
              <a:t>(</a:t>
            </a:r>
            <a:r>
              <a:rPr lang="en-US" dirty="0" err="1"/>
              <a:t>TotalAmount</a:t>
            </a:r>
            <a:r>
              <a:rPr lang="en-US" dirty="0"/>
              <a:t> as number) =&gt;</a:t>
            </a:r>
          </a:p>
          <a:p>
            <a:r>
              <a:rPr lang="en-US" dirty="0"/>
              <a:t>    if </a:t>
            </a:r>
            <a:r>
              <a:rPr lang="en-US" dirty="0" err="1"/>
              <a:t>TotalAmount</a:t>
            </a:r>
            <a:r>
              <a:rPr lang="en-US" dirty="0"/>
              <a:t> &gt; 10000 then </a:t>
            </a:r>
            <a:r>
              <a:rPr lang="en-US" dirty="0" err="1"/>
              <a:t>TotalAmount</a:t>
            </a:r>
            <a:r>
              <a:rPr lang="en-US" dirty="0"/>
              <a:t> * 0.18</a:t>
            </a:r>
          </a:p>
          <a:p>
            <a:r>
              <a:rPr lang="en-US" dirty="0"/>
              <a:t>    else </a:t>
            </a:r>
            <a:r>
              <a:rPr lang="en-US" dirty="0" err="1"/>
              <a:t>TotalAmount</a:t>
            </a:r>
            <a:r>
              <a:rPr lang="en-US" dirty="0"/>
              <a:t> * 0.10</a:t>
            </a:r>
          </a:p>
          <a:p>
            <a:r>
              <a:rPr lang="en-US" dirty="0"/>
              <a:t>✔️ Reusable</a:t>
            </a:r>
            <a:br>
              <a:rPr lang="en-US" dirty="0"/>
            </a:br>
            <a:r>
              <a:rPr lang="en-US" dirty="0"/>
              <a:t>✔️ Cleaner queries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08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86FE-3C12-A58C-F67E-0588E66A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0"/>
            <a:ext cx="10515600" cy="945573"/>
          </a:xfrm>
        </p:spPr>
        <p:txBody>
          <a:bodyPr/>
          <a:lstStyle/>
          <a:p>
            <a:r>
              <a:rPr lang="en-US" dirty="0"/>
              <a:t>3️⃣ Advanced Filtering &amp; Conditional Logic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6BF03-8FF4-CF07-149E-6B3011C0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🔹 Multi-Condition Filtering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Country = "India" AND Sales &gt; 5000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Nested Conditions</a:t>
            </a:r>
          </a:p>
          <a:p>
            <a:r>
              <a:rPr lang="en-US" dirty="0"/>
              <a:t>if [Sales] &gt; 20000 then "High"</a:t>
            </a:r>
          </a:p>
          <a:p>
            <a:r>
              <a:rPr lang="en-US" dirty="0"/>
              <a:t>else if [Sales] &gt; 10000 then "Medium"</a:t>
            </a:r>
          </a:p>
          <a:p>
            <a:r>
              <a:rPr lang="en-US" dirty="0"/>
              <a:t>else "Low"</a:t>
            </a:r>
          </a:p>
          <a:p>
            <a:r>
              <a:rPr lang="en-US" dirty="0"/>
              <a:t>📌 Used for segmentation &amp; categorization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68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6105-60D0-7098-F261-621DE8D0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4️⃣ Statistical Functions &amp; Aggregations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A70C-0CBB-2CC8-9136-D69D926DD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🔹 Common Statistical Functions</a:t>
            </a:r>
          </a:p>
          <a:p>
            <a:r>
              <a:rPr lang="en-IN" dirty="0"/>
              <a:t>Average</a:t>
            </a:r>
          </a:p>
          <a:p>
            <a:r>
              <a:rPr lang="en-IN" dirty="0"/>
              <a:t>Median</a:t>
            </a:r>
          </a:p>
          <a:p>
            <a:r>
              <a:rPr lang="en-IN" dirty="0"/>
              <a:t>Standard Deviation</a:t>
            </a:r>
          </a:p>
          <a:p>
            <a:r>
              <a:rPr lang="en-IN" dirty="0"/>
              <a:t>Variance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Advanced Aggregations</a:t>
            </a:r>
          </a:p>
          <a:p>
            <a:r>
              <a:rPr lang="en-IN" dirty="0"/>
              <a:t>Running totals</a:t>
            </a:r>
          </a:p>
          <a:p>
            <a:r>
              <a:rPr lang="en-IN" dirty="0"/>
              <a:t>Percentiles</a:t>
            </a:r>
          </a:p>
          <a:p>
            <a:r>
              <a:rPr lang="en-IN" dirty="0"/>
              <a:t>Ranking logic</a:t>
            </a:r>
          </a:p>
          <a:p>
            <a:r>
              <a:rPr lang="en-IN" dirty="0"/>
              <a:t>📌 Mostly used in analytics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19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DE70-A94A-3F53-12EC-1D6D65D5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Regular Expressions (Pattern Matching)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B103-667D-3F44-4CAA-6784C8DBE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8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🔹 What is Regex?</a:t>
            </a:r>
          </a:p>
          <a:p>
            <a:r>
              <a:rPr lang="en-US" dirty="0"/>
              <a:t>Used for </a:t>
            </a:r>
            <a:r>
              <a:rPr lang="en-US" b="1" dirty="0"/>
              <a:t>pattern-based text matching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Examples</a:t>
            </a:r>
          </a:p>
          <a:p>
            <a:r>
              <a:rPr lang="en-US" dirty="0"/>
              <a:t>Validate email formats</a:t>
            </a:r>
          </a:p>
          <a:p>
            <a:r>
              <a:rPr lang="en-US" dirty="0"/>
              <a:t>Extract numbers from text</a:t>
            </a:r>
          </a:p>
          <a:p>
            <a:r>
              <a:rPr lang="en-US" dirty="0"/>
              <a:t>Clean phone numbers</a:t>
            </a:r>
          </a:p>
          <a:p>
            <a:r>
              <a:rPr lang="en-US" dirty="0" err="1"/>
              <a:t>Text.RegexReplace</a:t>
            </a:r>
            <a:r>
              <a:rPr lang="en-US" dirty="0"/>
              <a:t>([Email], "[^a-zA-Z0-9@.]", "")</a:t>
            </a:r>
          </a:p>
          <a:p>
            <a:r>
              <a:rPr lang="en-US" dirty="0"/>
              <a:t>📌 Very powerful for messy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13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60E7-85A9-8A40-5B98-4E37A492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6️⃣ Lookup Operations &amp; Reference Tables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2EB3-44F5-8A01-F92B-190CE028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🔹 Lookup / Merge Queries</a:t>
            </a:r>
          </a:p>
          <a:p>
            <a:r>
              <a:rPr lang="en-IN" dirty="0"/>
              <a:t>Used to enrich data from:</a:t>
            </a:r>
          </a:p>
          <a:p>
            <a:r>
              <a:rPr lang="en-IN" dirty="0"/>
              <a:t>Master tables</a:t>
            </a:r>
          </a:p>
          <a:p>
            <a:r>
              <a:rPr lang="en-IN" dirty="0"/>
              <a:t>Dimension tables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Sales + Customer Master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Reference Queries</a:t>
            </a:r>
          </a:p>
          <a:p>
            <a:r>
              <a:rPr lang="en-IN" dirty="0"/>
              <a:t>Reuse query without duplicating data</a:t>
            </a:r>
          </a:p>
          <a:p>
            <a:r>
              <a:rPr lang="en-IN" dirty="0"/>
              <a:t>Improves performance</a:t>
            </a:r>
          </a:p>
          <a:p>
            <a:r>
              <a:rPr lang="en-IN" dirty="0"/>
              <a:t>📌 Best practice for star schema preparation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41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9BA8-0F2A-E654-40DE-CFFD8942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961"/>
            <a:ext cx="10515600" cy="1325563"/>
          </a:xfrm>
        </p:spPr>
        <p:txBody>
          <a:bodyPr/>
          <a:lstStyle/>
          <a:p>
            <a:r>
              <a:rPr lang="sv-SE" b="1" dirty="0"/>
              <a:t>7️⃣ Error Handling in Transformations</a:t>
            </a:r>
            <a:br>
              <a:rPr lang="sv-SE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F4E13-6558-465B-9AC7-06727A729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🔹 Common Errors</a:t>
            </a:r>
          </a:p>
          <a:p>
            <a:r>
              <a:rPr lang="en-IN" dirty="0"/>
              <a:t>Type conversion errors</a:t>
            </a:r>
          </a:p>
          <a:p>
            <a:r>
              <a:rPr lang="en-IN" dirty="0"/>
              <a:t>Null values</a:t>
            </a:r>
          </a:p>
          <a:p>
            <a:r>
              <a:rPr lang="en-IN" dirty="0"/>
              <a:t>Divide by zero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Handling Techniques</a:t>
            </a:r>
          </a:p>
          <a:p>
            <a:r>
              <a:rPr lang="en-IN" dirty="0"/>
              <a:t>Replace errors</a:t>
            </a:r>
          </a:p>
          <a:p>
            <a:r>
              <a:rPr lang="en-IN" dirty="0"/>
              <a:t>Try…Otherwise</a:t>
            </a:r>
          </a:p>
          <a:p>
            <a:r>
              <a:rPr lang="en-IN" dirty="0"/>
              <a:t>Conditional checks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try [Amount]/[Qty] otherwise 0</a:t>
            </a:r>
          </a:p>
          <a:p>
            <a:r>
              <a:rPr lang="en-IN" dirty="0"/>
              <a:t>✔️ Prevents refresh failures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25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929B-64B2-8194-1DE8-000FA52C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76745"/>
          </a:xfrm>
        </p:spPr>
        <p:txBody>
          <a:bodyPr/>
          <a:lstStyle/>
          <a:p>
            <a:r>
              <a:rPr lang="en-IN" dirty="0"/>
              <a:t>8️⃣ Performance Optimization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0C006-F605-8742-7826-8FD821715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✔️ Use reference queries</a:t>
            </a:r>
            <a:br>
              <a:rPr lang="en-IN" dirty="0"/>
            </a:br>
            <a:r>
              <a:rPr lang="en-IN" dirty="0"/>
              <a:t>✔️ Minimize custom M code</a:t>
            </a:r>
            <a:br>
              <a:rPr lang="en-IN" dirty="0"/>
            </a:br>
            <a:r>
              <a:rPr lang="en-IN" dirty="0"/>
              <a:t>✔️ Apply filters early</a:t>
            </a:r>
            <a:br>
              <a:rPr lang="en-IN" dirty="0"/>
            </a:br>
            <a:r>
              <a:rPr lang="en-IN" dirty="0"/>
              <a:t>✔️ Keep query folding enabled</a:t>
            </a:r>
            <a:br>
              <a:rPr lang="en-IN" dirty="0"/>
            </a:br>
            <a:r>
              <a:rPr lang="en-IN" dirty="0"/>
              <a:t>✔️ Avoid row-by-row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34127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626C-2D98-60DB-6EB2-93B817DD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9️⃣ Real-Time Business Use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9DC8-3BCD-816B-4367-C13F8677F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Scenario:</a:t>
            </a:r>
            <a:endParaRPr lang="en-IN" dirty="0"/>
          </a:p>
          <a:p>
            <a:r>
              <a:rPr lang="en-IN" dirty="0"/>
              <a:t>Multiple source systems</a:t>
            </a:r>
          </a:p>
          <a:p>
            <a:r>
              <a:rPr lang="en-IN" dirty="0"/>
              <a:t>Country-specific tax rules</a:t>
            </a:r>
          </a:p>
          <a:p>
            <a:r>
              <a:rPr lang="en-IN" dirty="0"/>
              <a:t>Complex data cleansing</a:t>
            </a:r>
          </a:p>
          <a:p>
            <a:r>
              <a:rPr lang="en-IN" dirty="0"/>
              <a:t>Master data enrichment</a:t>
            </a:r>
          </a:p>
          <a:p>
            <a:r>
              <a:rPr lang="en-IN" dirty="0"/>
              <a:t>👉 Solved using:</a:t>
            </a:r>
            <a:br>
              <a:rPr lang="en-IN" dirty="0"/>
            </a:br>
            <a:r>
              <a:rPr lang="en-IN" dirty="0"/>
              <a:t>✔️ Custom functions</a:t>
            </a:r>
            <a:br>
              <a:rPr lang="en-IN" dirty="0"/>
            </a:br>
            <a:r>
              <a:rPr lang="en-IN" dirty="0"/>
              <a:t>✔️ Lookups</a:t>
            </a:r>
            <a:br>
              <a:rPr lang="en-IN" dirty="0"/>
            </a:br>
            <a:r>
              <a:rPr lang="en-IN" dirty="0"/>
              <a:t>✔️ Conditional logic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07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⚙️ Creating Advanced Dataflows</vt:lpstr>
      <vt:lpstr>PowerPoint Presentation</vt:lpstr>
      <vt:lpstr>1️⃣ What Makes a Dataflow “Advanced”?</vt:lpstr>
      <vt:lpstr>2️⃣ Custom M Functions &amp; Expressions</vt:lpstr>
      <vt:lpstr>3️⃣ Advanced Filtering &amp; Conditional Logic</vt:lpstr>
      <vt:lpstr>4️⃣ Statistical Functions &amp; Aggregations </vt:lpstr>
      <vt:lpstr>5️⃣ Regular Expressions (Pattern Matching)</vt:lpstr>
      <vt:lpstr>6️⃣ Lookup Operations &amp; Reference Tables</vt:lpstr>
      <vt:lpstr>7️⃣ Error Handling in Transformations </vt:lpstr>
      <vt:lpstr>8️⃣ Performance Optimization Tips</vt:lpstr>
      <vt:lpstr>9️⃣ Real-Time Business Use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</cp:revision>
  <dcterms:created xsi:type="dcterms:W3CDTF">2026-01-07T08:15:36Z</dcterms:created>
  <dcterms:modified xsi:type="dcterms:W3CDTF">2026-01-07T08:15:36Z</dcterms:modified>
</cp:coreProperties>
</file>