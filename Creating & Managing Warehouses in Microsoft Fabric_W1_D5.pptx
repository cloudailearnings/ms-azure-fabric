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0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2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7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0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0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7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9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7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7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7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3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olorized light photo effects">
            <a:extLst>
              <a:ext uri="{FF2B5EF4-FFF2-40B4-BE49-F238E27FC236}">
                <a16:creationId xmlns:a16="http://schemas.microsoft.com/office/drawing/2014/main" id="{9CA3A1E6-D4D0-6AC2-F370-318DFE28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44" b="3286"/>
          <a:stretch>
            <a:fillRect/>
          </a:stretch>
        </p:blipFill>
        <p:spPr>
          <a:xfrm>
            <a:off x="-2" y="1525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6B303-5B13-F73D-7F82-453BF2568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5731580"/>
            <a:ext cx="12366172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Creating &amp; Managing Warehouses in Microsoft Fabric</a:t>
            </a:r>
          </a:p>
        </p:txBody>
      </p:sp>
    </p:spTree>
    <p:extLst>
      <p:ext uri="{BB962C8B-B14F-4D97-AF65-F5344CB8AC3E}">
        <p14:creationId xmlns:p14="http://schemas.microsoft.com/office/powerpoint/2010/main" val="1679602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0ABE-E0E4-D905-F018-573356C7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66" y="129322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1️⃣ Warehouse Creation &amp; Configuration (Fabric Warehouse)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45C92-B910-A464-E6F1-DE8C4551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860842"/>
            <a:ext cx="11155680" cy="5867836"/>
          </a:xfrm>
        </p:spPr>
        <p:txBody>
          <a:bodyPr>
            <a:normAutofit/>
          </a:bodyPr>
          <a:lstStyle/>
          <a:p>
            <a:r>
              <a:rPr lang="en-US" b="1" dirty="0"/>
              <a:t>Creation Steps</a:t>
            </a:r>
          </a:p>
          <a:p>
            <a:r>
              <a:rPr lang="en-US" dirty="0"/>
              <a:t>Go to </a:t>
            </a:r>
            <a:r>
              <a:rPr lang="en-US" b="1" dirty="0"/>
              <a:t>Microsoft Fabric</a:t>
            </a:r>
            <a:endParaRPr lang="en-US" dirty="0"/>
          </a:p>
          <a:p>
            <a:r>
              <a:rPr lang="en-US" dirty="0"/>
              <a:t>Select a </a:t>
            </a:r>
            <a:r>
              <a:rPr lang="en-US" b="1" dirty="0"/>
              <a:t>Workspace (Fabric capacity enabled)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New → Warehouse</a:t>
            </a:r>
            <a:endParaRPr lang="en-US" dirty="0"/>
          </a:p>
          <a:p>
            <a:r>
              <a:rPr lang="en-US" dirty="0"/>
              <a:t>Provide:</a:t>
            </a:r>
          </a:p>
          <a:p>
            <a:pPr lvl="1"/>
            <a:r>
              <a:rPr lang="en-US" dirty="0"/>
              <a:t>Warehouse name</a:t>
            </a:r>
          </a:p>
          <a:p>
            <a:pPr lvl="1"/>
            <a:r>
              <a:rPr lang="en-US" dirty="0"/>
              <a:t>Workspace</a:t>
            </a:r>
          </a:p>
          <a:p>
            <a:pPr lvl="1"/>
            <a:r>
              <a:rPr lang="en-US" dirty="0"/>
              <a:t>Sensitivity label (optional but recommended)</a:t>
            </a:r>
          </a:p>
          <a:p>
            <a:r>
              <a:rPr lang="en-US" b="1" dirty="0"/>
              <a:t>Configuration Options</a:t>
            </a:r>
          </a:p>
          <a:p>
            <a:r>
              <a:rPr lang="en-US" b="1" dirty="0"/>
              <a:t>Capacity-based compute</a:t>
            </a:r>
            <a:r>
              <a:rPr lang="en-US" dirty="0"/>
              <a:t> (no manual scaling)</a:t>
            </a:r>
          </a:p>
          <a:p>
            <a:r>
              <a:rPr lang="en-US" b="1" dirty="0"/>
              <a:t>Auto-managed performance</a:t>
            </a:r>
            <a:endParaRPr lang="en-US" dirty="0"/>
          </a:p>
          <a:p>
            <a:r>
              <a:rPr lang="en-US" b="1" dirty="0"/>
              <a:t>Security via Azure AD</a:t>
            </a:r>
            <a:endParaRPr lang="en-US" dirty="0"/>
          </a:p>
          <a:p>
            <a:r>
              <a:rPr lang="en-US" b="1" dirty="0"/>
              <a:t>Integrated with </a:t>
            </a:r>
            <a:r>
              <a:rPr lang="en-US" b="1" dirty="0" err="1"/>
              <a:t>OneLake</a:t>
            </a:r>
            <a:endParaRPr lang="en-US" dirty="0"/>
          </a:p>
          <a:p>
            <a:r>
              <a:rPr lang="en-US" dirty="0"/>
              <a:t>✅ No server sizing, no cluster setup, no patching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7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A010-CA0F-10FE-843B-CE4BDA2F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65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1800" dirty="0"/>
              <a:t>2️⃣ Table Creation: Managed vs External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AEDDC-4291-9093-1349-AE34ECA1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011064"/>
            <a:ext cx="11155680" cy="5683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🔹 Managed Tables (Recommended)</a:t>
            </a:r>
          </a:p>
          <a:p>
            <a:r>
              <a:rPr lang="en-US" dirty="0"/>
              <a:t>Data stored &amp; managed by Fabric</a:t>
            </a:r>
          </a:p>
          <a:p>
            <a:r>
              <a:rPr lang="en-US" dirty="0"/>
              <a:t>Stored in </a:t>
            </a:r>
            <a:r>
              <a:rPr lang="en-US" b="1" dirty="0" err="1"/>
              <a:t>OneLake</a:t>
            </a:r>
            <a:endParaRPr lang="en-US" dirty="0"/>
          </a:p>
          <a:p>
            <a:r>
              <a:rPr lang="en-US" dirty="0"/>
              <a:t>Lifecycle fully controlled by warehouse</a:t>
            </a:r>
          </a:p>
          <a:p>
            <a:r>
              <a:rPr lang="en-US" dirty="0"/>
              <a:t>CREATE TABLE </a:t>
            </a:r>
            <a:r>
              <a:rPr lang="en-US" dirty="0" err="1"/>
              <a:t>sales_fact</a:t>
            </a:r>
            <a:r>
              <a:rPr lang="en-US" dirty="0"/>
              <a:t> (</a:t>
            </a:r>
          </a:p>
          <a:p>
            <a:r>
              <a:rPr lang="en-US" dirty="0"/>
              <a:t>  </a:t>
            </a:r>
            <a:r>
              <a:rPr lang="en-US" dirty="0" err="1"/>
              <a:t>sale_id</a:t>
            </a:r>
            <a:r>
              <a:rPr lang="en-US" dirty="0"/>
              <a:t> INT,</a:t>
            </a:r>
          </a:p>
          <a:p>
            <a:r>
              <a:rPr lang="en-US" dirty="0"/>
              <a:t>  </a:t>
            </a:r>
            <a:r>
              <a:rPr lang="en-US" dirty="0" err="1"/>
              <a:t>sale_date</a:t>
            </a:r>
            <a:r>
              <a:rPr lang="en-US" dirty="0"/>
              <a:t> DATE,</a:t>
            </a:r>
          </a:p>
          <a:p>
            <a:r>
              <a:rPr lang="en-US" dirty="0"/>
              <a:t>  amount DECIMAL(10,2)</a:t>
            </a:r>
          </a:p>
          <a:p>
            <a:r>
              <a:rPr lang="en-US" dirty="0"/>
              <a:t>);</a:t>
            </a:r>
          </a:p>
          <a:p>
            <a:r>
              <a:rPr lang="en-US" b="1" dirty="0"/>
              <a:t>Use when</a:t>
            </a:r>
            <a:endParaRPr lang="en-US" dirty="0"/>
          </a:p>
          <a:p>
            <a:r>
              <a:rPr lang="en-US" dirty="0"/>
              <a:t>Core reporting tables</a:t>
            </a:r>
          </a:p>
          <a:p>
            <a:r>
              <a:rPr lang="en-US" dirty="0"/>
              <a:t>Fact &amp; dimension tables</a:t>
            </a:r>
          </a:p>
          <a:p>
            <a:r>
              <a:rPr lang="en-US" dirty="0"/>
              <a:t>Enterprise BI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3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EBAC-882A-DE58-9D48-8870E33E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79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2400" dirty="0"/>
              <a:t>🔹 External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55D7-823A-095E-E4AB-D5B065CC2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79" y="1032836"/>
            <a:ext cx="11155680" cy="5661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stored outside warehouse (Lakehouse / ADLS)</a:t>
            </a:r>
          </a:p>
          <a:p>
            <a:r>
              <a:rPr lang="en-US" dirty="0"/>
              <a:t>Metadata only in warehouse</a:t>
            </a:r>
          </a:p>
          <a:p>
            <a:pPr marL="0" indent="0">
              <a:buNone/>
            </a:pPr>
            <a:r>
              <a:rPr lang="en-US" dirty="0"/>
              <a:t>CREATE EXTERNAL TABLE </a:t>
            </a:r>
            <a:r>
              <a:rPr lang="en-US" dirty="0" err="1"/>
              <a:t>ext_sales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(</a:t>
            </a:r>
          </a:p>
          <a:p>
            <a:pPr marL="0" indent="0">
              <a:buNone/>
            </a:pPr>
            <a:r>
              <a:rPr lang="en-US" dirty="0"/>
              <a:t>  LOCATION = 'Files/sales/',</a:t>
            </a:r>
          </a:p>
          <a:p>
            <a:pPr marL="0" indent="0">
              <a:buNone/>
            </a:pPr>
            <a:r>
              <a:rPr lang="en-US" dirty="0"/>
              <a:t>  DATA_SOURCE = </a:t>
            </a:r>
            <a:r>
              <a:rPr lang="en-US" dirty="0" err="1"/>
              <a:t>MyLakehouse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FILE_FORMAT = </a:t>
            </a:r>
            <a:r>
              <a:rPr lang="en-US" dirty="0" err="1"/>
              <a:t>ParquetFormat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Use when</a:t>
            </a:r>
            <a:endParaRPr lang="en-US" dirty="0"/>
          </a:p>
          <a:p>
            <a:r>
              <a:rPr lang="en-US" dirty="0"/>
              <a:t>Sharing data across engines</a:t>
            </a:r>
          </a:p>
          <a:p>
            <a:r>
              <a:rPr lang="en-US" dirty="0"/>
              <a:t>Reading Lakehouse data</a:t>
            </a:r>
          </a:p>
          <a:p>
            <a:r>
              <a:rPr lang="en-US" dirty="0"/>
              <a:t>Avoiding data duplication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441A-4D54-F816-8A54-B12F57A8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151094"/>
            <a:ext cx="11155680" cy="1463040"/>
          </a:xfrm>
        </p:spPr>
        <p:txBody>
          <a:bodyPr>
            <a:normAutofit/>
          </a:bodyPr>
          <a:lstStyle/>
          <a:p>
            <a:r>
              <a:rPr lang="en-US" sz="1600" dirty="0"/>
              <a:t>3️⃣ Data Types &amp;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6D8E6-D63D-06BB-0057-760BA84B3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065" y="1174351"/>
            <a:ext cx="11155680" cy="3767328"/>
          </a:xfrm>
        </p:spPr>
        <p:txBody>
          <a:bodyPr/>
          <a:lstStyle/>
          <a:p>
            <a:r>
              <a:rPr lang="en-US" b="1" dirty="0"/>
              <a:t>Common Data Types</a:t>
            </a:r>
          </a:p>
          <a:p>
            <a:r>
              <a:rPr lang="en-US" dirty="0"/>
              <a:t>INT, BIGINT</a:t>
            </a:r>
          </a:p>
          <a:p>
            <a:r>
              <a:rPr lang="en-US" dirty="0"/>
              <a:t>DECIMAL(</a:t>
            </a:r>
            <a:r>
              <a:rPr lang="en-US" dirty="0" err="1"/>
              <a:t>p,s</a:t>
            </a:r>
            <a:r>
              <a:rPr lang="en-US" dirty="0"/>
              <a:t>)</a:t>
            </a:r>
          </a:p>
          <a:p>
            <a:r>
              <a:rPr lang="en-US" dirty="0"/>
              <a:t>VARCHAR, NVARCHAR</a:t>
            </a:r>
          </a:p>
          <a:p>
            <a:r>
              <a:rPr lang="en-US" dirty="0"/>
              <a:t>DATE, DATETIME2</a:t>
            </a:r>
          </a:p>
          <a:p>
            <a:r>
              <a:rPr lang="en-US" dirty="0"/>
              <a:t>BIT</a:t>
            </a:r>
          </a:p>
          <a:p>
            <a:endParaRPr lang="en-US" dirty="0"/>
          </a:p>
          <a:p>
            <a:r>
              <a:rPr lang="en-US" dirty="0"/>
              <a:t>Constraints Support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028014-9591-0DDC-B5CD-963839EB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334300"/>
              </p:ext>
            </p:extLst>
          </p:nvPr>
        </p:nvGraphicFramePr>
        <p:xfrm>
          <a:off x="3388135" y="4243955"/>
          <a:ext cx="8554800" cy="1828800"/>
        </p:xfrm>
        <a:graphic>
          <a:graphicData uri="http://schemas.openxmlformats.org/drawingml/2006/table">
            <a:tbl>
              <a:tblPr/>
              <a:tblGrid>
                <a:gridCol w="4277400">
                  <a:extLst>
                    <a:ext uri="{9D8B030D-6E8A-4147-A177-3AD203B41FA5}">
                      <a16:colId xmlns:a16="http://schemas.microsoft.com/office/drawing/2014/main" val="858836767"/>
                    </a:ext>
                  </a:extLst>
                </a:gridCol>
                <a:gridCol w="4277400">
                  <a:extLst>
                    <a:ext uri="{9D8B030D-6E8A-4147-A177-3AD203B41FA5}">
                      <a16:colId xmlns:a16="http://schemas.microsoft.com/office/drawing/2014/main" val="383772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Constraint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33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PRIMARY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353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FOREIGN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enforced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533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90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Enforced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31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529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4F62-C406-78B5-F2BE-44EE8450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51" y="96665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4️⃣ Partitioning &amp; Distribution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0D451-2F9A-2C8C-E8BA-7D13E8C22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94" y="1130808"/>
            <a:ext cx="11155680" cy="503050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Partitioning</a:t>
            </a:r>
          </a:p>
          <a:p>
            <a:r>
              <a:rPr lang="en-US" dirty="0"/>
              <a:t>Used to improve </a:t>
            </a:r>
            <a:r>
              <a:rPr lang="en-US" b="1" dirty="0"/>
              <a:t>query pruning &amp; performance</a:t>
            </a:r>
            <a:endParaRPr lang="en-US" dirty="0"/>
          </a:p>
          <a:p>
            <a:r>
              <a:rPr lang="en-US" dirty="0"/>
              <a:t>PARTITION BY </a:t>
            </a:r>
            <a:r>
              <a:rPr lang="en-US" dirty="0" err="1"/>
              <a:t>sale_date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Best columns</a:t>
            </a:r>
            <a:endParaRPr lang="en-US" dirty="0"/>
          </a:p>
          <a:p>
            <a:r>
              <a:rPr lang="en-US" dirty="0"/>
              <a:t>Date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Business period</a:t>
            </a:r>
          </a:p>
          <a:p>
            <a:endParaRPr lang="en-US" dirty="0"/>
          </a:p>
          <a:p>
            <a:r>
              <a:rPr lang="en-US" b="1" dirty="0"/>
              <a:t>Distribution (Fabric-Managed)</a:t>
            </a:r>
          </a:p>
          <a:p>
            <a:r>
              <a:rPr lang="en-US" dirty="0"/>
              <a:t>Fabric automatically distributes data</a:t>
            </a:r>
          </a:p>
          <a:p>
            <a:r>
              <a:rPr lang="en-US" dirty="0"/>
              <a:t>No manual HASH / ROUND ROBIN like Synapse</a:t>
            </a:r>
          </a:p>
          <a:p>
            <a:r>
              <a:rPr lang="en-US" dirty="0"/>
              <a:t>Optimized for BI workloads</a:t>
            </a:r>
          </a:p>
          <a:p>
            <a:r>
              <a:rPr lang="en-US" dirty="0"/>
              <a:t>✅ Simplified compared to Synapse Dedicated SQL Pools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29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C6B1-6A9C-6451-F100-8CBA3E11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22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1800" dirty="0"/>
              <a:t>5️⃣ Index Types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A8B3C-2C92-9101-BC24-FB489061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22" y="1283208"/>
            <a:ext cx="11155680" cy="37673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Supported Indexing</a:t>
            </a:r>
          </a:p>
          <a:p>
            <a:r>
              <a:rPr lang="en-US" b="1" dirty="0"/>
              <a:t>Clustered </a:t>
            </a:r>
            <a:r>
              <a:rPr lang="en-US" b="1" dirty="0" err="1"/>
              <a:t>columnstore</a:t>
            </a:r>
            <a:r>
              <a:rPr lang="en-US" b="1" dirty="0"/>
              <a:t> (default)</a:t>
            </a:r>
            <a:endParaRPr lang="en-US" dirty="0"/>
          </a:p>
          <a:p>
            <a:r>
              <a:rPr lang="en-US" dirty="0"/>
              <a:t>Columnar storage optimized for analytics</a:t>
            </a:r>
          </a:p>
          <a:p>
            <a:pPr marL="0" indent="0">
              <a:buNone/>
            </a:pPr>
            <a:r>
              <a:rPr lang="en-US" b="1" dirty="0"/>
              <a:t>Best Practices</a:t>
            </a:r>
          </a:p>
          <a:p>
            <a:r>
              <a:rPr lang="en-US" dirty="0"/>
              <a:t>Avoid small tables with frequent updates</a:t>
            </a:r>
          </a:p>
          <a:p>
            <a:r>
              <a:rPr lang="en-US" dirty="0"/>
              <a:t>Batch inserts preferred</a:t>
            </a:r>
          </a:p>
          <a:p>
            <a:r>
              <a:rPr lang="en-US" dirty="0"/>
              <a:t>Use staging tables before final load</a:t>
            </a:r>
          </a:p>
          <a:p>
            <a:r>
              <a:rPr lang="en-US" dirty="0"/>
              <a:t>Keep fact tables wide, dimensions slim</a:t>
            </a:r>
          </a:p>
          <a:p>
            <a:r>
              <a:rPr lang="en-US" dirty="0"/>
              <a:t>⚠️ No traditional B-tree indexes needed for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35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E398F-D419-E58E-6148-6583B527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107551"/>
            <a:ext cx="11155680" cy="1463040"/>
          </a:xfrm>
        </p:spPr>
        <p:txBody>
          <a:bodyPr>
            <a:normAutofit/>
          </a:bodyPr>
          <a:lstStyle/>
          <a:p>
            <a:r>
              <a:rPr lang="en-US" sz="1600" dirty="0"/>
              <a:t>6️⃣ Warehouse Maintenance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3A07-F30E-3F7D-2EFB-0FEF3DFA1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08" y="839070"/>
            <a:ext cx="11155680" cy="5322243"/>
          </a:xfrm>
        </p:spPr>
        <p:txBody>
          <a:bodyPr>
            <a:normAutofit/>
          </a:bodyPr>
          <a:lstStyle/>
          <a:p>
            <a:r>
              <a:rPr lang="en-US" b="1" dirty="0"/>
              <a:t>Automatic Operations (Handled by Fabric)</a:t>
            </a:r>
          </a:p>
          <a:p>
            <a:r>
              <a:rPr lang="en-US" dirty="0"/>
              <a:t>Compression</a:t>
            </a:r>
          </a:p>
          <a:p>
            <a:r>
              <a:rPr lang="en-US" dirty="0"/>
              <a:t>Statistics updates</a:t>
            </a:r>
          </a:p>
          <a:p>
            <a:r>
              <a:rPr lang="en-US" dirty="0"/>
              <a:t>Storage management</a:t>
            </a:r>
          </a:p>
          <a:p>
            <a:r>
              <a:rPr lang="en-US" dirty="0"/>
              <a:t>Scaling</a:t>
            </a:r>
          </a:p>
          <a:p>
            <a:r>
              <a:rPr lang="en-US" b="1" dirty="0"/>
              <a:t>Manual Best Practices</a:t>
            </a:r>
          </a:p>
          <a:p>
            <a:r>
              <a:rPr lang="en-US" dirty="0"/>
              <a:t>Periodic data cleanup</a:t>
            </a:r>
          </a:p>
          <a:p>
            <a:r>
              <a:rPr lang="en-US" dirty="0"/>
              <a:t>Drop unused tables</a:t>
            </a:r>
          </a:p>
          <a:p>
            <a:r>
              <a:rPr lang="en-US" dirty="0"/>
              <a:t>Archive historical data</a:t>
            </a:r>
          </a:p>
          <a:p>
            <a:r>
              <a:rPr lang="en-US" dirty="0"/>
              <a:t>Monitor query performance in </a:t>
            </a:r>
            <a:r>
              <a:rPr lang="en-US" b="1" dirty="0"/>
              <a:t>Fabric Monitoring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5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31E0-3928-2039-76E0-7347DEBD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6665"/>
            <a:ext cx="11155680" cy="1463040"/>
          </a:xfrm>
        </p:spPr>
        <p:txBody>
          <a:bodyPr>
            <a:normAutofit/>
          </a:bodyPr>
          <a:lstStyle/>
          <a:p>
            <a:r>
              <a:rPr lang="en-US" sz="1800" dirty="0"/>
              <a:t>Typical Real-Time Project Flow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C70B-575E-171A-FEEA-DE50B0E4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207008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Source Systems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Lakehouse (Raw / Silver)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Warehouse (Gold)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Power BI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429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400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Bierstadt</vt:lpstr>
      <vt:lpstr>GestaltVTI</vt:lpstr>
      <vt:lpstr>Creating &amp; Managing Warehouses in Microsoft Fabric</vt:lpstr>
      <vt:lpstr>1️⃣ Warehouse Creation &amp; Configuration (Fabric Warehouse)</vt:lpstr>
      <vt:lpstr>2️⃣ Table Creation: Managed vs External Tables</vt:lpstr>
      <vt:lpstr>🔹 External Tables</vt:lpstr>
      <vt:lpstr>3️⃣ Data Types &amp; Constraints</vt:lpstr>
      <vt:lpstr>4️⃣ Partitioning &amp; Distribution Strategies</vt:lpstr>
      <vt:lpstr>5️⃣ Index Types &amp; Optimization</vt:lpstr>
      <vt:lpstr>6️⃣ Warehouse Maintenance Operations</vt:lpstr>
      <vt:lpstr>Typical Real-Time Project 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2026-01-07T14:39:37Z</dcterms:created>
  <dcterms:modified xsi:type="dcterms:W3CDTF">2026-01-07T14:59:01Z</dcterms:modified>
</cp:coreProperties>
</file>