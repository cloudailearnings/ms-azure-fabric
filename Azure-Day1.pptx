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2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310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3" r:id="rId50"/>
    <p:sldId id="302" r:id="rId51"/>
    <p:sldId id="304" r:id="rId52"/>
    <p:sldId id="312" r:id="rId53"/>
    <p:sldId id="313" r:id="rId54"/>
    <p:sldId id="316" r:id="rId55"/>
    <p:sldId id="314" r:id="rId56"/>
    <p:sldId id="322" r:id="rId57"/>
    <p:sldId id="323" r:id="rId58"/>
    <p:sldId id="315" r:id="rId59"/>
    <p:sldId id="311" r:id="rId60"/>
    <p:sldId id="317" r:id="rId61"/>
    <p:sldId id="318" r:id="rId62"/>
    <p:sldId id="319" r:id="rId63"/>
    <p:sldId id="321" r:id="rId64"/>
    <p:sldId id="320" r:id="rId65"/>
    <p:sldId id="305" r:id="rId66"/>
    <p:sldId id="306" r:id="rId67"/>
    <p:sldId id="307" r:id="rId68"/>
    <p:sldId id="308" r:id="rId69"/>
    <p:sldId id="309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C2E6-4210-C538-53B3-8CE7FB2D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FA455-06C7-B646-3D15-E662DFAFA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A65C-53EB-2793-9B23-0D5C8497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77777-CA8F-54B9-838A-9278690B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8F2AB-BC14-F39A-4B7E-3307D369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2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1C14-6988-8510-0545-6F7B5B37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02C7-1F86-B5AF-CF57-C95396B74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3153-9C6F-C940-CDA0-3E8D40AD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78D8B-59B6-FA96-7041-16EF14FF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417F0-95A5-6245-C69C-6FFB40DD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6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D27F-5619-B8DE-E51E-F99A524C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C01DF-341F-45E8-A81D-1AEF48E4B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BE8E-938B-3131-4A3D-6A5B407B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BB0CC-128A-4755-835A-70B2C46B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5EBC-0C01-4D80-838C-5830F91A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63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67AE-19F2-F0B8-3D95-9D4D1F77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BCBA-478B-A241-A7BD-F77049102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78763-BBB3-6FBE-C0BE-E3C9615CB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D5130-37D0-66CD-4E3E-09381EE3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F38E-ECAE-EF1D-D4F9-63F7EA29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2B834-92FD-BAF7-36F9-7791C511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3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7956-B1D7-470D-5640-BFF0E9B5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4D1FB-45CE-3F73-37E7-0ADF7C522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9EFE7-174B-D381-B4CD-A7050159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81018-2506-C66C-2731-DA7737F58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58D96-268B-10EC-D255-89C5C8338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0563E-5654-A866-D9E8-5133B3A3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D46BE-2895-0205-4D43-4D4BD7F5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10574-C6FA-46A2-2F03-46A73B8E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32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F7D6-A116-DC11-07AB-40830D00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1143E-37CE-9AE6-66E7-38EBD336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5D2D-A8D0-48F4-2A2C-5B0D2F00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E7C8C-02B1-CD02-9359-619AD791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88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FFB33-C5B4-70FE-EEF5-E50DA48C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882BC-8C42-1457-3ABC-DEAB0152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E1A20-70AD-0CF7-BF5D-97FDF121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54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EDCF-DA0C-60AC-4EA0-55A95A83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5A06-5D87-C60B-A918-AB2050D7E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D4B8F-23D1-24EA-F4D9-9E89847CF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90B75-D259-70D7-BBA0-9F69CABD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EC5D4-22F2-236B-B404-F24E17C8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579A1-4994-5BAC-873C-B4C06908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20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D78D-F37F-C6E0-94D6-1675B56D2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9001B-94F8-5040-6C5B-A6081A9F3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ACA77-0E90-F46C-B549-6D297E1E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F2C36-2F84-6E98-D676-905C7863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858B7-6080-F4E5-E8E1-D9DEE517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3B1CD-1B46-265D-1AB7-A46C09A9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01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8F36-BE45-8DD4-2230-955BECF6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75B10-D0B7-84F4-383C-80CF0E184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128F2-E613-6BDB-A26E-CB66B6C6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C0CEE-4A3E-B90A-9CDD-ABB8F273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59D31-03CD-201D-C5CC-BC2DC31A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24AB10-6808-7FC2-821D-5AF805D1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8F32F-4D1E-8938-C7A9-622AD0CA9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947C9-C032-194C-9FF6-ED85E76D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368C9-21BA-B869-72EE-D7BF332F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926C7-08F7-EB5E-7A55-73D4B346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51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5C07B-2FA0-815F-D3A9-1B3F91A5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EE50A-5644-B0B0-FFF2-25E47EEB9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F713B-913D-1DC6-8AD0-DEB265407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0DD-3DE0-4254-9FE9-6C54D07DFFF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BC48A-E12E-CE16-C458-3EBE23A16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FC4FD-4DA9-A417-90B5-21E78E6E0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F4C39-6C30-4306-B375-53D7591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94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F050-283B-AC70-CE19-EE2324D8BE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374797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71CA-4177-3A47-D683-C98024BB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0"/>
            <a:ext cx="10515600" cy="796413"/>
          </a:xfrm>
        </p:spPr>
        <p:txBody>
          <a:bodyPr/>
          <a:lstStyle/>
          <a:p>
            <a:r>
              <a:rPr lang="en-IN" b="1" dirty="0"/>
              <a:t>Azure Global Infrastructure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56AB3-769B-E1B9-6B78-EA37A52AD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1️⃣ Azure Datacenters (Foundation Level)</a:t>
            </a:r>
          </a:p>
          <a:p>
            <a:r>
              <a:rPr lang="en-US" dirty="0"/>
              <a:t>2️⃣ Azure Regions (Geographical Level)</a:t>
            </a:r>
          </a:p>
          <a:p>
            <a:r>
              <a:rPr lang="en-US" dirty="0"/>
              <a:t>3️⃣ Availability Zones (High Availability Level)</a:t>
            </a:r>
          </a:p>
          <a:p>
            <a:r>
              <a:rPr lang="en-US" dirty="0"/>
              <a:t>4️⃣ Region Pairs (Disaster Recovery Level)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74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47C3-2692-4171-A46B-9C13C892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Azure Datacenters (Foundation Level)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9988-E4FB-9796-3092-882DBB71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157981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Datacenters</a:t>
            </a:r>
            <a:r>
              <a:rPr lang="en-US" dirty="0"/>
              <a:t> are the </a:t>
            </a:r>
            <a:r>
              <a:rPr lang="en-US" b="1" dirty="0"/>
              <a:t>physical buildings</a:t>
            </a:r>
            <a:r>
              <a:rPr lang="en-US" dirty="0"/>
              <a:t> that contain:</a:t>
            </a:r>
          </a:p>
          <a:p>
            <a:pPr lvl="1"/>
            <a:r>
              <a:rPr lang="en-US" dirty="0"/>
              <a:t>Servers</a:t>
            </a:r>
          </a:p>
          <a:p>
            <a:pPr lvl="1"/>
            <a:r>
              <a:rPr lang="en-US" dirty="0"/>
              <a:t>Storage</a:t>
            </a:r>
          </a:p>
          <a:p>
            <a:pPr lvl="1"/>
            <a:r>
              <a:rPr lang="en-US" dirty="0"/>
              <a:t>Networking hardware</a:t>
            </a:r>
          </a:p>
          <a:p>
            <a:r>
              <a:rPr lang="en-US" dirty="0"/>
              <a:t>Microsoft owns and operates these datacenters.</a:t>
            </a:r>
          </a:p>
          <a:p>
            <a:r>
              <a:rPr lang="en-US" dirty="0"/>
              <a:t>Each datacenter has:</a:t>
            </a:r>
          </a:p>
          <a:p>
            <a:pPr lvl="1"/>
            <a:r>
              <a:rPr lang="en-US" dirty="0"/>
              <a:t>Power, cooling, physical security</a:t>
            </a:r>
          </a:p>
          <a:p>
            <a:pPr lvl="1"/>
            <a:r>
              <a:rPr lang="en-US" dirty="0"/>
              <a:t>High-speed networking</a:t>
            </a:r>
          </a:p>
          <a:p>
            <a:r>
              <a:rPr lang="en-US" dirty="0"/>
              <a:t>📌 </a:t>
            </a:r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👉 Datacenters are </a:t>
            </a:r>
            <a:r>
              <a:rPr lang="en-US" b="1" dirty="0"/>
              <a:t>not directly chosen</a:t>
            </a:r>
            <a:r>
              <a:rPr lang="en-US" dirty="0"/>
              <a:t> by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14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3D41-0614-4C0E-30D3-1EEDF626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91345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Azure Regions (Geographical Level)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CD683-5572-3B85-81F5-88C4A529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4" y="1147200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Azure Region</a:t>
            </a:r>
            <a:r>
              <a:rPr lang="en-US" dirty="0"/>
              <a:t> is a </a:t>
            </a:r>
            <a:r>
              <a:rPr lang="en-US" b="1" dirty="0"/>
              <a:t>geographical area</a:t>
            </a:r>
            <a:r>
              <a:rPr lang="en-US" dirty="0"/>
              <a:t> that contains </a:t>
            </a:r>
            <a:r>
              <a:rPr lang="en-US" b="1" dirty="0"/>
              <a:t>one or more datacenters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East US</a:t>
            </a:r>
          </a:p>
          <a:p>
            <a:pPr lvl="1"/>
            <a:r>
              <a:rPr lang="en-US" dirty="0"/>
              <a:t>West Europe</a:t>
            </a:r>
          </a:p>
          <a:p>
            <a:pPr lvl="1"/>
            <a:r>
              <a:rPr lang="en-US" dirty="0"/>
              <a:t>Central India</a:t>
            </a:r>
          </a:p>
          <a:p>
            <a:pPr lvl="1"/>
            <a:r>
              <a:rPr lang="en-US" dirty="0"/>
              <a:t>South East Asia</a:t>
            </a:r>
          </a:p>
          <a:p>
            <a:r>
              <a:rPr lang="en-US" b="1" dirty="0"/>
              <a:t>Characteristics of a Region:</a:t>
            </a:r>
          </a:p>
          <a:p>
            <a:r>
              <a:rPr lang="en-US" dirty="0"/>
              <a:t>Connected with </a:t>
            </a:r>
            <a:r>
              <a:rPr lang="en-US" b="1" dirty="0"/>
              <a:t>low-latency, high-bandwidth network</a:t>
            </a:r>
            <a:endParaRPr lang="en-US" dirty="0"/>
          </a:p>
          <a:p>
            <a:r>
              <a:rPr lang="en-US" dirty="0"/>
              <a:t>Data residency and compliance apply at region level</a:t>
            </a:r>
          </a:p>
          <a:p>
            <a:r>
              <a:rPr lang="en-US" dirty="0"/>
              <a:t>Most Azure services are deployed </a:t>
            </a:r>
            <a:r>
              <a:rPr lang="en-US" b="1" dirty="0"/>
              <a:t>per region</a:t>
            </a:r>
            <a:endParaRPr lang="en-US" dirty="0"/>
          </a:p>
          <a:p>
            <a:r>
              <a:rPr lang="en-US" dirty="0"/>
              <a:t>📌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Central India Region</a:t>
            </a:r>
            <a:r>
              <a:rPr lang="en-US" dirty="0"/>
              <a:t> = Multiple Microsoft datacenters located in India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93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0A89-C410-F03D-D637-E5BFF0D5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3️⃣ Availability Zones (High Availability Level)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FC8C-4329-AC1F-4FC3-453CE9447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Availability Zones (AZs)</a:t>
            </a:r>
            <a:r>
              <a:rPr lang="en-IN" dirty="0"/>
              <a:t> are </a:t>
            </a:r>
            <a:r>
              <a:rPr lang="en-IN" b="1" dirty="0"/>
              <a:t>physically separate </a:t>
            </a:r>
            <a:r>
              <a:rPr lang="en-IN" b="1" dirty="0" err="1"/>
              <a:t>datacenters</a:t>
            </a:r>
            <a:r>
              <a:rPr lang="en-IN" b="1" dirty="0"/>
              <a:t> within the same region</a:t>
            </a:r>
            <a:r>
              <a:rPr lang="en-IN" dirty="0"/>
              <a:t>.</a:t>
            </a:r>
          </a:p>
          <a:p>
            <a:r>
              <a:rPr lang="en-IN" dirty="0"/>
              <a:t>Each AZ has:</a:t>
            </a:r>
          </a:p>
          <a:p>
            <a:pPr lvl="1"/>
            <a:r>
              <a:rPr lang="en-IN" dirty="0"/>
              <a:t>Independent power</a:t>
            </a:r>
          </a:p>
          <a:p>
            <a:pPr lvl="1"/>
            <a:r>
              <a:rPr lang="en-IN" dirty="0"/>
              <a:t>Independent cooling</a:t>
            </a:r>
          </a:p>
          <a:p>
            <a:pPr lvl="1"/>
            <a:r>
              <a:rPr lang="en-IN" dirty="0"/>
              <a:t>Independent networking</a:t>
            </a:r>
          </a:p>
          <a:p>
            <a:r>
              <a:rPr lang="en-IN" b="1" dirty="0"/>
              <a:t>Typical Structure:</a:t>
            </a:r>
          </a:p>
          <a:p>
            <a:r>
              <a:rPr lang="en-IN" dirty="0"/>
              <a:t>A region can have </a:t>
            </a:r>
            <a:r>
              <a:rPr lang="en-IN" b="1" dirty="0"/>
              <a:t>3 Availability Zones</a:t>
            </a:r>
            <a:endParaRPr lang="en-IN" dirty="0"/>
          </a:p>
          <a:p>
            <a:pPr lvl="1"/>
            <a:r>
              <a:rPr lang="en-IN" dirty="0"/>
              <a:t>Zone 1</a:t>
            </a:r>
          </a:p>
          <a:p>
            <a:pPr lvl="1"/>
            <a:r>
              <a:rPr lang="en-IN" dirty="0"/>
              <a:t>Zone 2</a:t>
            </a:r>
          </a:p>
          <a:p>
            <a:pPr lvl="1"/>
            <a:r>
              <a:rPr lang="en-IN" dirty="0"/>
              <a:t>Zone 3</a:t>
            </a:r>
          </a:p>
          <a:p>
            <a:r>
              <a:rPr lang="en-IN" dirty="0"/>
              <a:t>📌 </a:t>
            </a:r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👉 Protect applications from </a:t>
            </a:r>
            <a:r>
              <a:rPr lang="en-IN" b="1" dirty="0" err="1"/>
              <a:t>datacenter</a:t>
            </a:r>
            <a:r>
              <a:rPr lang="en-IN" b="1" dirty="0"/>
              <a:t>-level failures</a:t>
            </a:r>
            <a:endParaRPr lang="en-IN" dirty="0"/>
          </a:p>
          <a:p>
            <a:r>
              <a:rPr lang="en-IN" b="1" dirty="0"/>
              <a:t>Example:</a:t>
            </a:r>
          </a:p>
          <a:p>
            <a:r>
              <a:rPr lang="en-IN" b="1" dirty="0"/>
              <a:t>East US Region</a:t>
            </a:r>
            <a:endParaRPr lang="en-IN" dirty="0"/>
          </a:p>
          <a:p>
            <a:r>
              <a:rPr lang="en-IN" dirty="0"/>
              <a:t>AZ1 → </a:t>
            </a:r>
            <a:r>
              <a:rPr lang="en-IN" dirty="0" err="1"/>
              <a:t>Datacenter</a:t>
            </a:r>
            <a:r>
              <a:rPr lang="en-IN" dirty="0"/>
              <a:t> A</a:t>
            </a:r>
          </a:p>
          <a:p>
            <a:r>
              <a:rPr lang="en-IN" dirty="0"/>
              <a:t>AZ2 → </a:t>
            </a:r>
            <a:r>
              <a:rPr lang="en-IN" dirty="0" err="1"/>
              <a:t>Datacenter</a:t>
            </a:r>
            <a:r>
              <a:rPr lang="en-IN" dirty="0"/>
              <a:t> B</a:t>
            </a:r>
          </a:p>
          <a:p>
            <a:r>
              <a:rPr lang="en-IN" dirty="0"/>
              <a:t>AZ3 → </a:t>
            </a:r>
            <a:r>
              <a:rPr lang="en-IN" dirty="0" err="1"/>
              <a:t>Datacenter</a:t>
            </a:r>
            <a:r>
              <a:rPr lang="en-IN" dirty="0"/>
              <a:t> C</a:t>
            </a:r>
          </a:p>
          <a:p>
            <a:r>
              <a:rPr lang="en-IN" dirty="0"/>
              <a:t>All are close enough for low latency but isolated for fault tolerance.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75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B75E-ACE1-9D29-0D98-1087C03D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4️⃣ Region Pairs (Disaster Recovery Level)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E251-CC6D-6F5F-1E30-0A516D5AE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Every Azure region has a </a:t>
            </a:r>
            <a:r>
              <a:rPr lang="en-US" b="1" dirty="0"/>
              <a:t>paired region</a:t>
            </a:r>
            <a:r>
              <a:rPr lang="en-US" dirty="0"/>
              <a:t> in the same geography.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Central India ↔ South India</a:t>
            </a:r>
          </a:p>
          <a:p>
            <a:pPr lvl="1"/>
            <a:r>
              <a:rPr lang="en-US" dirty="0"/>
              <a:t>East US ↔ West US</a:t>
            </a:r>
          </a:p>
          <a:p>
            <a:r>
              <a:rPr lang="en-US" b="1" dirty="0"/>
              <a:t>Benefits:</a:t>
            </a:r>
          </a:p>
          <a:p>
            <a:r>
              <a:rPr lang="en-US" dirty="0"/>
              <a:t>Platform-managed replication</a:t>
            </a:r>
          </a:p>
          <a:p>
            <a:r>
              <a:rPr lang="en-US" dirty="0"/>
              <a:t>Disaster recovery support</a:t>
            </a:r>
          </a:p>
          <a:p>
            <a:r>
              <a:rPr lang="en-US" dirty="0"/>
              <a:t>Planned maintenance happens one region at a time</a:t>
            </a:r>
          </a:p>
          <a:p>
            <a:r>
              <a:rPr lang="en-US" dirty="0"/>
              <a:t>📌 </a:t>
            </a:r>
            <a:r>
              <a:rPr lang="en-US" b="1" dirty="0"/>
              <a:t>Used for:</a:t>
            </a:r>
            <a:br>
              <a:rPr lang="en-US" dirty="0"/>
            </a:br>
            <a:r>
              <a:rPr lang="en-US" dirty="0"/>
              <a:t>👉 Business Continuity &amp; Disaster Recovery (BCDR)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69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0162-513B-5025-6769-B09D0F61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57084"/>
          </a:xfrm>
        </p:spPr>
        <p:txBody>
          <a:bodyPr/>
          <a:lstStyle/>
          <a:p>
            <a:r>
              <a:rPr lang="en-US" dirty="0"/>
              <a:t>How All Fit Together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ECCE2-433F-E9B4-D2D3-7602470C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Azure Global Infrastructure</a:t>
            </a:r>
          </a:p>
          <a:p>
            <a:pPr marL="0" indent="0">
              <a:buNone/>
            </a:pPr>
            <a:r>
              <a:rPr lang="en-IN" dirty="0"/>
              <a:t> └── Geography (India, US, Europe)</a:t>
            </a:r>
          </a:p>
          <a:p>
            <a:pPr marL="0" indent="0">
              <a:buNone/>
            </a:pPr>
            <a:r>
              <a:rPr lang="en-IN" dirty="0"/>
              <a:t>     └── Region (Central India)</a:t>
            </a:r>
          </a:p>
          <a:p>
            <a:pPr marL="0" indent="0">
              <a:buNone/>
            </a:pPr>
            <a:r>
              <a:rPr lang="en-IN" dirty="0"/>
              <a:t>         └── Availability Zone 1 → </a:t>
            </a:r>
            <a:r>
              <a:rPr lang="en-IN" dirty="0" err="1"/>
              <a:t>Datacenter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└── Availability Zone 2 → </a:t>
            </a:r>
            <a:r>
              <a:rPr lang="en-IN" dirty="0" err="1"/>
              <a:t>Datacenter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└── Availability Zone 3 → </a:t>
            </a:r>
            <a:r>
              <a:rPr lang="en-IN" dirty="0" err="1"/>
              <a:t>Datacenter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66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4F6E-8C03-8208-C1F3-2FB487FA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381" y="2675705"/>
            <a:ext cx="10515600" cy="1325563"/>
          </a:xfrm>
        </p:spPr>
        <p:txBody>
          <a:bodyPr/>
          <a:lstStyle/>
          <a:p>
            <a:r>
              <a:rPr lang="en-IN" b="1" dirty="0"/>
              <a:t>Core Azure Services Overview</a:t>
            </a:r>
          </a:p>
        </p:txBody>
      </p:sp>
    </p:spTree>
    <p:extLst>
      <p:ext uri="{BB962C8B-B14F-4D97-AF65-F5344CB8AC3E}">
        <p14:creationId xmlns:p14="http://schemas.microsoft.com/office/powerpoint/2010/main" val="226504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E7D9-727D-D04A-32A2-8BCFA40A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Azure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D586-1038-1961-087F-1F15AD04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1️⃣ Azure Compute Services</a:t>
            </a:r>
          </a:p>
          <a:p>
            <a:pPr marL="0" indent="0">
              <a:buNone/>
            </a:pPr>
            <a:r>
              <a:rPr lang="en-IN" dirty="0"/>
              <a:t>2️⃣ Azure Storage Services</a:t>
            </a:r>
          </a:p>
          <a:p>
            <a:pPr marL="0" indent="0">
              <a:buNone/>
            </a:pPr>
            <a:r>
              <a:rPr lang="en-IN" dirty="0"/>
              <a:t>3️⃣ Azure Networking Services</a:t>
            </a:r>
          </a:p>
          <a:p>
            <a:pPr marL="0" indent="0">
              <a:buNone/>
            </a:pPr>
            <a:r>
              <a:rPr lang="en-IN" dirty="0"/>
              <a:t>4️⃣ Azure Database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79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BA1A-7606-5FA1-2753-99DCC2B7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82" y="2266661"/>
            <a:ext cx="10515600" cy="1325563"/>
          </a:xfrm>
        </p:spPr>
        <p:txBody>
          <a:bodyPr/>
          <a:lstStyle/>
          <a:p>
            <a:r>
              <a:rPr lang="en-IN" b="1" dirty="0"/>
              <a:t>Azure Compute Services</a:t>
            </a:r>
          </a:p>
        </p:txBody>
      </p:sp>
    </p:spTree>
    <p:extLst>
      <p:ext uri="{BB962C8B-B14F-4D97-AF65-F5344CB8AC3E}">
        <p14:creationId xmlns:p14="http://schemas.microsoft.com/office/powerpoint/2010/main" val="16192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0796-B0B9-2DE1-09BA-DF45C593D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200" y="0"/>
            <a:ext cx="10515600" cy="6858000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👉 Used to </a:t>
            </a:r>
            <a:r>
              <a:rPr lang="en-IN" b="1" dirty="0"/>
              <a:t>run applications, code, and workloads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🔹 Azure Virtual Machines (VMs)</a:t>
            </a:r>
          </a:p>
          <a:p>
            <a:r>
              <a:rPr lang="en-IN" dirty="0"/>
              <a:t>Windows / Linux servers</a:t>
            </a:r>
          </a:p>
          <a:p>
            <a:r>
              <a:rPr lang="en-IN" dirty="0"/>
              <a:t>Full OS control</a:t>
            </a:r>
          </a:p>
          <a:p>
            <a:r>
              <a:rPr lang="en-IN" dirty="0"/>
              <a:t>Used for legacy apps, lift-and-shift</a:t>
            </a:r>
          </a:p>
          <a:p>
            <a:r>
              <a:rPr lang="en-IN" b="1" dirty="0"/>
              <a:t>Example:</a:t>
            </a:r>
            <a:r>
              <a:rPr lang="en-IN" dirty="0"/>
              <a:t> Hosting SQL Server, app servers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App Service</a:t>
            </a:r>
          </a:p>
          <a:p>
            <a:r>
              <a:rPr lang="en-IN" dirty="0"/>
              <a:t>Platform as a Service (PaaS)</a:t>
            </a:r>
          </a:p>
          <a:p>
            <a:r>
              <a:rPr lang="en-IN" dirty="0"/>
              <a:t>No server management</a:t>
            </a:r>
          </a:p>
          <a:p>
            <a:r>
              <a:rPr lang="en-IN" dirty="0"/>
              <a:t>Supports .NET, Java, Python, Node.js</a:t>
            </a:r>
          </a:p>
          <a:p>
            <a:r>
              <a:rPr lang="en-IN" b="1" dirty="0"/>
              <a:t>Example:</a:t>
            </a:r>
            <a:r>
              <a:rPr lang="en-IN" dirty="0"/>
              <a:t> Web apps, APIs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Functions</a:t>
            </a:r>
          </a:p>
          <a:p>
            <a:r>
              <a:rPr lang="en-IN" dirty="0"/>
              <a:t>Serverless compute</a:t>
            </a:r>
          </a:p>
          <a:p>
            <a:r>
              <a:rPr lang="en-IN" dirty="0"/>
              <a:t>Event-driven execution</a:t>
            </a:r>
          </a:p>
          <a:p>
            <a:r>
              <a:rPr lang="en-IN" dirty="0"/>
              <a:t>Pay per execution</a:t>
            </a:r>
          </a:p>
          <a:p>
            <a:r>
              <a:rPr lang="en-IN" b="1" dirty="0"/>
              <a:t>Example:</a:t>
            </a:r>
            <a:r>
              <a:rPr lang="en-IN" dirty="0"/>
              <a:t> Data processing, triggers, automation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Kubernetes Service (AKS)</a:t>
            </a:r>
          </a:p>
          <a:p>
            <a:r>
              <a:rPr lang="en-IN" dirty="0"/>
              <a:t>Managed Kubernetes</a:t>
            </a:r>
          </a:p>
          <a:p>
            <a:r>
              <a:rPr lang="en-IN" dirty="0"/>
              <a:t>Container orchestration</a:t>
            </a:r>
          </a:p>
          <a:p>
            <a:r>
              <a:rPr lang="en-IN" b="1" dirty="0"/>
              <a:t>Example:</a:t>
            </a:r>
            <a:r>
              <a:rPr lang="en-IN" dirty="0"/>
              <a:t> Microservices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706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DF47-4604-B20F-0A7D-BFA09831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019" y="2282415"/>
            <a:ext cx="10515600" cy="1325563"/>
          </a:xfrm>
        </p:spPr>
        <p:txBody>
          <a:bodyPr/>
          <a:lstStyle/>
          <a:p>
            <a:r>
              <a:rPr lang="en-IN" dirty="0"/>
              <a:t>2️⃣ Azure Storage Services</a:t>
            </a:r>
          </a:p>
        </p:txBody>
      </p:sp>
    </p:spTree>
    <p:extLst>
      <p:ext uri="{BB962C8B-B14F-4D97-AF65-F5344CB8AC3E}">
        <p14:creationId xmlns:p14="http://schemas.microsoft.com/office/powerpoint/2010/main" val="937814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0DBD-CCA5-D8AA-37B7-82BE76714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482"/>
            <a:ext cx="10515600" cy="678251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👉 Used to </a:t>
            </a:r>
            <a:r>
              <a:rPr lang="en-IN" b="1" dirty="0"/>
              <a:t>store structured &amp; unstructured data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🔹 Blob Storage</a:t>
            </a:r>
          </a:p>
          <a:p>
            <a:r>
              <a:rPr lang="en-IN" dirty="0"/>
              <a:t>Object storage</a:t>
            </a:r>
          </a:p>
          <a:p>
            <a:r>
              <a:rPr lang="en-IN" dirty="0"/>
              <a:t>Hot / Cool / Archive tiers</a:t>
            </a:r>
          </a:p>
          <a:p>
            <a:r>
              <a:rPr lang="en-IN" b="1" dirty="0"/>
              <a:t>Example:</a:t>
            </a:r>
            <a:r>
              <a:rPr lang="en-IN" dirty="0"/>
              <a:t> Images, videos, logs, data lake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Data Lake Storage Gen2</a:t>
            </a:r>
          </a:p>
          <a:p>
            <a:r>
              <a:rPr lang="en-IN" dirty="0"/>
              <a:t>Optimized for analytics</a:t>
            </a:r>
          </a:p>
          <a:p>
            <a:r>
              <a:rPr lang="en-IN" dirty="0"/>
              <a:t>Hadoop compatible</a:t>
            </a:r>
          </a:p>
          <a:p>
            <a:r>
              <a:rPr lang="en-IN" b="1" dirty="0"/>
              <a:t>Example:</a:t>
            </a:r>
            <a:r>
              <a:rPr lang="en-IN" dirty="0"/>
              <a:t> Big data, Snowflake, Synapse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File Storage</a:t>
            </a:r>
          </a:p>
          <a:p>
            <a:r>
              <a:rPr lang="en-IN" dirty="0"/>
              <a:t>Managed file shares</a:t>
            </a:r>
          </a:p>
          <a:p>
            <a:r>
              <a:rPr lang="en-IN" dirty="0"/>
              <a:t>SMB &amp; NFS</a:t>
            </a:r>
          </a:p>
          <a:p>
            <a:r>
              <a:rPr lang="en-IN" b="1" dirty="0"/>
              <a:t>Example:</a:t>
            </a:r>
            <a:r>
              <a:rPr lang="en-IN" dirty="0"/>
              <a:t> Lift-and-shift file servers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602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B37D-E49E-67DA-9113-B0D4C0B29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🔹 Azure Disk Storage</a:t>
            </a:r>
          </a:p>
          <a:p>
            <a:r>
              <a:rPr lang="en-IN" dirty="0"/>
              <a:t>Managed disks for VMs</a:t>
            </a:r>
          </a:p>
          <a:p>
            <a:r>
              <a:rPr lang="en-IN" dirty="0"/>
              <a:t>OS disks &amp; data disks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Queue Storage</a:t>
            </a:r>
          </a:p>
          <a:p>
            <a:r>
              <a:rPr lang="en-IN" dirty="0"/>
              <a:t>Message-based storage</a:t>
            </a:r>
          </a:p>
          <a:p>
            <a:r>
              <a:rPr lang="en-IN" b="1" dirty="0"/>
              <a:t>Example:</a:t>
            </a:r>
            <a:r>
              <a:rPr lang="en-IN" dirty="0"/>
              <a:t> Async processing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Table Storage</a:t>
            </a:r>
          </a:p>
          <a:p>
            <a:r>
              <a:rPr lang="en-IN" dirty="0"/>
              <a:t>NoSQL key-value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47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0E30-6C69-00BA-ED4B-7BBEBB24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064" y="2488893"/>
            <a:ext cx="10515600" cy="1325563"/>
          </a:xfrm>
        </p:spPr>
        <p:txBody>
          <a:bodyPr/>
          <a:lstStyle/>
          <a:p>
            <a:r>
              <a:rPr lang="en-IN" dirty="0"/>
              <a:t>3️⃣ Azure Networking Services</a:t>
            </a:r>
          </a:p>
        </p:txBody>
      </p:sp>
    </p:spTree>
    <p:extLst>
      <p:ext uri="{BB962C8B-B14F-4D97-AF65-F5344CB8AC3E}">
        <p14:creationId xmlns:p14="http://schemas.microsoft.com/office/powerpoint/2010/main" val="3316609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F701-C3FF-377E-A118-775F56B1B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👉 Used to </a:t>
            </a:r>
            <a:r>
              <a:rPr lang="en-IN" b="1" dirty="0"/>
              <a:t>connect, secure, and route traffic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🔹 Virtual Network (</a:t>
            </a:r>
            <a:r>
              <a:rPr lang="en-IN" b="1" dirty="0" err="1"/>
              <a:t>VNet</a:t>
            </a:r>
            <a:r>
              <a:rPr lang="en-IN" b="1" dirty="0"/>
              <a:t>)</a:t>
            </a:r>
          </a:p>
          <a:p>
            <a:r>
              <a:rPr lang="en-IN" dirty="0"/>
              <a:t>Private Azure network</a:t>
            </a:r>
          </a:p>
          <a:p>
            <a:r>
              <a:rPr lang="en-IN" dirty="0"/>
              <a:t>IP address range, subnets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Subnets</a:t>
            </a:r>
          </a:p>
          <a:p>
            <a:r>
              <a:rPr lang="en-IN" dirty="0"/>
              <a:t>Logical segmentation inside </a:t>
            </a:r>
            <a:r>
              <a:rPr lang="en-IN" dirty="0" err="1"/>
              <a:t>VNet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Network Security Group (NSG)</a:t>
            </a:r>
          </a:p>
          <a:p>
            <a:r>
              <a:rPr lang="en-IN" dirty="0"/>
              <a:t>Inbound &amp; outbound rules</a:t>
            </a:r>
          </a:p>
          <a:p>
            <a:r>
              <a:rPr lang="en-IN" dirty="0"/>
              <a:t>Layer 4 security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Load Balancer</a:t>
            </a:r>
          </a:p>
          <a:p>
            <a:r>
              <a:rPr lang="en-IN" dirty="0"/>
              <a:t>Layer 4 load balancing</a:t>
            </a:r>
          </a:p>
          <a:p>
            <a:r>
              <a:rPr lang="en-IN" b="1" dirty="0"/>
              <a:t>Example:</a:t>
            </a:r>
            <a:r>
              <a:rPr lang="en-IN" dirty="0"/>
              <a:t> VM traffic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717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9FB5-86A1-9A1C-B9DD-B411A2CD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7842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🔹 Azure Application Gateway</a:t>
            </a:r>
          </a:p>
          <a:p>
            <a:r>
              <a:rPr lang="en-IN" dirty="0"/>
              <a:t>Layer 7 load balancing</a:t>
            </a:r>
          </a:p>
          <a:p>
            <a:r>
              <a:rPr lang="en-IN" dirty="0"/>
              <a:t>Web Application Firewall (WAF)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VPN Gateway</a:t>
            </a:r>
          </a:p>
          <a:p>
            <a:r>
              <a:rPr lang="en-IN" dirty="0"/>
              <a:t>Site-to-Site &amp; Point-to-Site VPN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ExpressRoute</a:t>
            </a:r>
          </a:p>
          <a:p>
            <a:r>
              <a:rPr lang="en-IN" dirty="0"/>
              <a:t>Private dedicated connectivity</a:t>
            </a:r>
          </a:p>
          <a:p>
            <a:r>
              <a:rPr lang="en-IN" dirty="0"/>
              <a:t>On-prem ↔ Azure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DNS</a:t>
            </a:r>
          </a:p>
          <a:p>
            <a:r>
              <a:rPr lang="en-IN" dirty="0"/>
              <a:t>Domain name resolution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845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8B6-6CB5-C787-B18A-CDC15CE5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318" y="2516043"/>
            <a:ext cx="10515600" cy="1325563"/>
          </a:xfrm>
        </p:spPr>
        <p:txBody>
          <a:bodyPr/>
          <a:lstStyle/>
          <a:p>
            <a:r>
              <a:rPr lang="en-IN" dirty="0"/>
              <a:t>4️⃣ Azure Database Services</a:t>
            </a:r>
          </a:p>
        </p:txBody>
      </p:sp>
    </p:spTree>
    <p:extLst>
      <p:ext uri="{BB962C8B-B14F-4D97-AF65-F5344CB8AC3E}">
        <p14:creationId xmlns:p14="http://schemas.microsoft.com/office/powerpoint/2010/main" val="1414550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8F439-839E-1D46-F928-9912B9FC9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951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👉 Used to </a:t>
            </a:r>
            <a:r>
              <a:rPr lang="en-IN" b="1" dirty="0"/>
              <a:t>store structured &amp; semi-structured data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SQL Database</a:t>
            </a:r>
          </a:p>
          <a:p>
            <a:r>
              <a:rPr lang="en-IN" dirty="0"/>
              <a:t>Fully managed relational DB</a:t>
            </a:r>
          </a:p>
          <a:p>
            <a:r>
              <a:rPr lang="en-IN" dirty="0"/>
              <a:t>PaaS version of SQL Server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SQL Managed Instance</a:t>
            </a:r>
          </a:p>
          <a:p>
            <a:r>
              <a:rPr lang="en-IN" dirty="0"/>
              <a:t>Near-100% SQL Server compatibility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527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E8377-0D35-A75B-7EF4-13626BE91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625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b="1" dirty="0"/>
              <a:t>🔹 Azure SQL on VM</a:t>
            </a:r>
          </a:p>
          <a:p>
            <a:r>
              <a:rPr lang="en-IN" dirty="0"/>
              <a:t>SQL Server on Azure VM</a:t>
            </a:r>
          </a:p>
          <a:p>
            <a:r>
              <a:rPr lang="en-IN" dirty="0"/>
              <a:t>Full control (IaaS)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🔹 Azure Cosmos DB</a:t>
            </a:r>
          </a:p>
          <a:p>
            <a:r>
              <a:rPr lang="en-IN" dirty="0"/>
              <a:t>Globally distributed NoSQL DB</a:t>
            </a:r>
          </a:p>
          <a:p>
            <a:r>
              <a:rPr lang="en-IN" dirty="0"/>
              <a:t>APIs:</a:t>
            </a:r>
          </a:p>
          <a:p>
            <a:pPr lvl="1"/>
            <a:r>
              <a:rPr lang="en-IN" dirty="0"/>
              <a:t>Core (SQL)</a:t>
            </a:r>
          </a:p>
          <a:p>
            <a:pPr lvl="1"/>
            <a:r>
              <a:rPr lang="en-IN" dirty="0"/>
              <a:t>MongoDB</a:t>
            </a:r>
          </a:p>
          <a:p>
            <a:pPr lvl="1"/>
            <a:r>
              <a:rPr lang="en-IN" dirty="0"/>
              <a:t>Cassandra</a:t>
            </a:r>
          </a:p>
          <a:p>
            <a:pPr lvl="1"/>
            <a:r>
              <a:rPr lang="en-IN" dirty="0"/>
              <a:t>Table</a:t>
            </a:r>
          </a:p>
          <a:p>
            <a:pPr lvl="1"/>
            <a:r>
              <a:rPr lang="en-IN" dirty="0"/>
              <a:t>Gremlin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🔹 Azure Database for:</a:t>
            </a:r>
          </a:p>
          <a:p>
            <a:r>
              <a:rPr lang="en-IN" dirty="0"/>
              <a:t>MySQL</a:t>
            </a:r>
          </a:p>
          <a:p>
            <a:r>
              <a:rPr lang="en-IN" dirty="0"/>
              <a:t>PostgreSQL</a:t>
            </a:r>
          </a:p>
          <a:p>
            <a:r>
              <a:rPr lang="en-IN" dirty="0"/>
              <a:t>MariaDB</a:t>
            </a:r>
          </a:p>
          <a:p>
            <a:r>
              <a:rPr lang="en-IN" dirty="0"/>
              <a:t>(Managed open-source databases)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Azure Synapse Analytics</a:t>
            </a:r>
          </a:p>
          <a:p>
            <a:r>
              <a:rPr lang="en-IN" dirty="0"/>
              <a:t>Data warehousing + big data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42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60F0-0C6F-37EC-F830-D4DF42488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02855"/>
          </a:xfrm>
        </p:spPr>
        <p:txBody>
          <a:bodyPr>
            <a:normAutofit fontScale="90000"/>
          </a:bodyPr>
          <a:lstStyle/>
          <a:p>
            <a:r>
              <a:rPr lang="en-IN" dirty="0"/>
              <a:t>Simple Mapping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0D8BB6-5622-7394-F142-D13D1CCD8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199212"/>
              </p:ext>
            </p:extLst>
          </p:nvPr>
        </p:nvGraphicFramePr>
        <p:xfrm>
          <a:off x="90520" y="1103540"/>
          <a:ext cx="10425080" cy="4379664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3808879581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11363916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Requirement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Azure Service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55367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 servers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Virtual Machines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89443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Web apps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 Service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7525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Serverless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Azure Functions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01028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Containers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AKS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54004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Object storage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Blob Storage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60763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Big data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ADLS Gen2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83430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Networking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VNet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1370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Security rules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NSG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21736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Load balancing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Load Balancer / App Gateway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14371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Relational DB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Azure SQL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74603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NoSQL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Cosmos DB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219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500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3BFB-559A-B814-A70E-DF486A47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7" y="2970674"/>
            <a:ext cx="11707761" cy="1325563"/>
          </a:xfrm>
        </p:spPr>
        <p:txBody>
          <a:bodyPr/>
          <a:lstStyle/>
          <a:p>
            <a:r>
              <a:rPr lang="en-IN" dirty="0"/>
              <a:t>🔷 Azure Service Categories: IaaS, PaaS, SaaS</a:t>
            </a:r>
          </a:p>
        </p:txBody>
      </p:sp>
    </p:spTree>
    <p:extLst>
      <p:ext uri="{BB962C8B-B14F-4D97-AF65-F5344CB8AC3E}">
        <p14:creationId xmlns:p14="http://schemas.microsoft.com/office/powerpoint/2010/main" val="843521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91FF-7CCE-543C-68B5-026F44AA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1️⃣ IaaS – Infrastructure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DF730-A32C-73C8-DC89-EA0A131A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5" y="980050"/>
            <a:ext cx="10515600" cy="5859693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What Azure Provides:</a:t>
            </a:r>
          </a:p>
          <a:p>
            <a:r>
              <a:rPr lang="en-IN" dirty="0"/>
              <a:t>Virtualized infrastructure</a:t>
            </a:r>
          </a:p>
          <a:p>
            <a:r>
              <a:rPr lang="en-IN" dirty="0"/>
              <a:t>Physical </a:t>
            </a:r>
            <a:r>
              <a:rPr lang="en-IN" dirty="0" err="1"/>
              <a:t>datacenter</a:t>
            </a:r>
            <a:endParaRPr lang="en-IN" dirty="0"/>
          </a:p>
          <a:p>
            <a:r>
              <a:rPr lang="en-IN" dirty="0"/>
              <a:t>Networking hardware</a:t>
            </a:r>
          </a:p>
          <a:p>
            <a:r>
              <a:rPr lang="en-IN" dirty="0"/>
              <a:t>Storage hardware</a:t>
            </a:r>
          </a:p>
          <a:p>
            <a:r>
              <a:rPr lang="en-IN" b="1" dirty="0"/>
              <a:t>What YOU Manage:</a:t>
            </a:r>
          </a:p>
          <a:p>
            <a:r>
              <a:rPr lang="en-IN" dirty="0"/>
              <a:t>OS (Windows/Linux)</a:t>
            </a:r>
          </a:p>
          <a:p>
            <a:r>
              <a:rPr lang="en-IN" dirty="0"/>
              <a:t>Patches &amp; updates</a:t>
            </a:r>
          </a:p>
          <a:p>
            <a:r>
              <a:rPr lang="en-IN" dirty="0"/>
              <a:t>Middleware</a:t>
            </a:r>
          </a:p>
          <a:p>
            <a:r>
              <a:rPr lang="en-IN" dirty="0"/>
              <a:t>Runtime</a:t>
            </a:r>
          </a:p>
          <a:p>
            <a:r>
              <a:rPr lang="en-IN" dirty="0"/>
              <a:t>Applications</a:t>
            </a:r>
          </a:p>
          <a:p>
            <a:r>
              <a:rPr lang="en-IN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798180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F96F1-1922-2D56-1068-8A37F642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513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Azure IaaS Examples:</a:t>
            </a:r>
          </a:p>
          <a:p>
            <a:r>
              <a:rPr lang="en-IN" dirty="0"/>
              <a:t>Azure Virtual Machines (VMs)</a:t>
            </a:r>
          </a:p>
          <a:p>
            <a:r>
              <a:rPr lang="en-IN" dirty="0"/>
              <a:t>Azure Virtual Network (</a:t>
            </a:r>
            <a:r>
              <a:rPr lang="en-IN" dirty="0" err="1"/>
              <a:t>VNet</a:t>
            </a:r>
            <a:r>
              <a:rPr lang="en-IN" dirty="0"/>
              <a:t>)</a:t>
            </a:r>
          </a:p>
          <a:p>
            <a:r>
              <a:rPr lang="en-IN" dirty="0"/>
              <a:t>Azure Load Balancer</a:t>
            </a:r>
          </a:p>
          <a:p>
            <a:r>
              <a:rPr lang="en-IN" dirty="0"/>
              <a:t>Azure VPN Gateway</a:t>
            </a:r>
          </a:p>
          <a:p>
            <a:r>
              <a:rPr lang="en-IN" dirty="0"/>
              <a:t>Azure Disk Storage</a:t>
            </a:r>
          </a:p>
          <a:p>
            <a:pPr marL="0" indent="0">
              <a:buNone/>
            </a:pPr>
            <a:r>
              <a:rPr lang="en-IN" b="1" dirty="0"/>
              <a:t>Use Cases:</a:t>
            </a:r>
          </a:p>
          <a:p>
            <a:r>
              <a:rPr lang="en-IN" dirty="0"/>
              <a:t>Lift &amp; shift migrations</a:t>
            </a:r>
          </a:p>
          <a:p>
            <a:r>
              <a:rPr lang="en-IN" dirty="0"/>
              <a:t>Legacy applications</a:t>
            </a:r>
          </a:p>
          <a:p>
            <a:r>
              <a:rPr lang="en-IN" dirty="0"/>
              <a:t>Full control environments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SQL Server installed on Azure VM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237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26DE-8D0D-6B0F-51F0-522F5E33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2️⃣ PaaS – Platform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37191-16CD-C4EF-F95B-78D477DA5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1056"/>
            <a:ext cx="10515600" cy="5936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👉 </a:t>
            </a:r>
            <a:r>
              <a:rPr lang="en-IN" b="1" dirty="0"/>
              <a:t>Azure manages infrastructure + OS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What Azure Provides:</a:t>
            </a:r>
          </a:p>
          <a:p>
            <a:r>
              <a:rPr lang="en-IN" dirty="0"/>
              <a:t>Infrastructure</a:t>
            </a:r>
          </a:p>
          <a:p>
            <a:r>
              <a:rPr lang="en-IN" dirty="0"/>
              <a:t>OS</a:t>
            </a:r>
          </a:p>
          <a:p>
            <a:r>
              <a:rPr lang="en-IN" dirty="0"/>
              <a:t>Runtime</a:t>
            </a:r>
          </a:p>
          <a:p>
            <a:r>
              <a:rPr lang="en-IN" dirty="0"/>
              <a:t>Middleware</a:t>
            </a:r>
          </a:p>
          <a:p>
            <a:r>
              <a:rPr lang="en-IN" dirty="0"/>
              <a:t>Scaling &amp; patching</a:t>
            </a:r>
          </a:p>
          <a:p>
            <a:pPr marL="0" indent="0">
              <a:buNone/>
            </a:pPr>
            <a:r>
              <a:rPr lang="en-IN" b="1" dirty="0"/>
              <a:t>What YOU Manage:</a:t>
            </a:r>
          </a:p>
          <a:p>
            <a:r>
              <a:rPr lang="en-IN" dirty="0"/>
              <a:t>Application code</a:t>
            </a:r>
          </a:p>
          <a:p>
            <a:r>
              <a:rPr lang="en-IN" dirty="0"/>
              <a:t>Data</a:t>
            </a:r>
          </a:p>
          <a:p>
            <a:r>
              <a:rPr lang="en-IN" dirty="0"/>
              <a:t>Configurations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211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2A70E-25E4-2ADD-33DD-5874A181A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7" y="942397"/>
            <a:ext cx="10515600" cy="5312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Azure PaaS Examples:</a:t>
            </a:r>
          </a:p>
          <a:p>
            <a:r>
              <a:rPr lang="en-IN" dirty="0"/>
              <a:t>Azure App Service</a:t>
            </a:r>
          </a:p>
          <a:p>
            <a:r>
              <a:rPr lang="en-IN" dirty="0"/>
              <a:t>Azure Functions</a:t>
            </a:r>
          </a:p>
          <a:p>
            <a:r>
              <a:rPr lang="en-IN" dirty="0"/>
              <a:t>Azure SQL Database</a:t>
            </a:r>
          </a:p>
          <a:p>
            <a:r>
              <a:rPr lang="en-IN" dirty="0"/>
              <a:t>Azure Cosmos DB</a:t>
            </a:r>
          </a:p>
          <a:p>
            <a:r>
              <a:rPr lang="en-IN" dirty="0"/>
              <a:t>Azure Data Factory</a:t>
            </a:r>
          </a:p>
          <a:p>
            <a:r>
              <a:rPr lang="en-IN" dirty="0"/>
              <a:t>Azure Databricks</a:t>
            </a:r>
          </a:p>
          <a:p>
            <a:r>
              <a:rPr lang="en-IN" dirty="0"/>
              <a:t>Azure Synapse Analytics</a:t>
            </a:r>
          </a:p>
          <a:p>
            <a:pPr marL="0" indent="0">
              <a:buNone/>
            </a:pPr>
            <a:r>
              <a:rPr lang="en-IN" b="1" dirty="0"/>
              <a:t>Use Cases:</a:t>
            </a:r>
          </a:p>
          <a:p>
            <a:r>
              <a:rPr lang="en-IN" dirty="0"/>
              <a:t>Cloud-native apps</a:t>
            </a:r>
          </a:p>
          <a:p>
            <a:r>
              <a:rPr lang="en-IN" dirty="0"/>
              <a:t>Faster development</a:t>
            </a:r>
          </a:p>
          <a:p>
            <a:r>
              <a:rPr lang="en-IN" dirty="0"/>
              <a:t>Reduced ops overhead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Web app hosted on Azure App Service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719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B507-6195-DA61-7CA2-71DEB189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3️⃣ SaaS – Software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0D26-30FD-3A99-7702-544FB20A6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5" y="1441162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👉 </a:t>
            </a:r>
            <a:r>
              <a:rPr lang="en-US" b="1" dirty="0"/>
              <a:t>Azure manages everything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Azure Provides:</a:t>
            </a:r>
          </a:p>
          <a:p>
            <a:r>
              <a:rPr lang="en-US" dirty="0"/>
              <a:t>Infrastructure</a:t>
            </a:r>
          </a:p>
          <a:p>
            <a:r>
              <a:rPr lang="en-US" dirty="0"/>
              <a:t>OS</a:t>
            </a:r>
          </a:p>
          <a:p>
            <a:r>
              <a:rPr lang="en-US" dirty="0"/>
              <a:t>Application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Updates</a:t>
            </a:r>
          </a:p>
          <a:p>
            <a:pPr marL="0" indent="0">
              <a:buNone/>
            </a:pPr>
            <a:r>
              <a:rPr lang="en-US" b="1" dirty="0"/>
              <a:t>What YOU Manage:</a:t>
            </a:r>
          </a:p>
          <a:p>
            <a:r>
              <a:rPr lang="en-US" dirty="0"/>
              <a:t>User access</a:t>
            </a:r>
          </a:p>
          <a:p>
            <a:r>
              <a:rPr lang="en-US" dirty="0"/>
              <a:t>Data usage</a:t>
            </a:r>
          </a:p>
          <a:p>
            <a:r>
              <a:rPr lang="en-US" dirty="0"/>
              <a:t>Configuration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121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DEEAA-ED70-AF77-B384-08333DAEE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96925"/>
            <a:ext cx="10515600" cy="55415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Azure SaaS Examples:</a:t>
            </a:r>
          </a:p>
          <a:p>
            <a:r>
              <a:rPr lang="en-US" dirty="0"/>
              <a:t>Microsoft 365 (Office 365)</a:t>
            </a:r>
          </a:p>
          <a:p>
            <a:r>
              <a:rPr lang="en-US" dirty="0"/>
              <a:t>Outlook</a:t>
            </a:r>
          </a:p>
          <a:p>
            <a:r>
              <a:rPr lang="en-US" dirty="0"/>
              <a:t>Teams</a:t>
            </a:r>
          </a:p>
          <a:p>
            <a:r>
              <a:rPr lang="en-US" dirty="0"/>
              <a:t>OneDrive</a:t>
            </a:r>
          </a:p>
          <a:p>
            <a:r>
              <a:rPr lang="en-US" dirty="0"/>
              <a:t>Dynamics 365</a:t>
            </a:r>
          </a:p>
          <a:p>
            <a:r>
              <a:rPr lang="en-US" dirty="0"/>
              <a:t>Power BI</a:t>
            </a:r>
          </a:p>
          <a:p>
            <a:pPr marL="0" indent="0">
              <a:buNone/>
            </a:pPr>
            <a:r>
              <a:rPr lang="en-US" b="1" dirty="0"/>
              <a:t>Use Cases:</a:t>
            </a:r>
          </a:p>
          <a:p>
            <a:r>
              <a:rPr lang="en-US" dirty="0"/>
              <a:t>Business applications</a:t>
            </a:r>
          </a:p>
          <a:p>
            <a:r>
              <a:rPr lang="en-US" dirty="0"/>
              <a:t>Collaboration tools</a:t>
            </a:r>
          </a:p>
          <a:p>
            <a:r>
              <a:rPr lang="en-US" dirty="0"/>
              <a:t>Analytics &amp; reporting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Using Microsoft Teams for meetings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560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F1976F5-10D5-2E44-4734-2D7125D3E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809259"/>
            <a:ext cx="9126224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01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4F27-10B9-459E-764C-110FA0C1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🔁 Shared Responsibility Model (Simple Table)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48C43D-F625-2B34-2D8F-62A8A3C4D7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886745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531780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513098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26623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562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14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49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489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Middleware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48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70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183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61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8DDA-0FD4-DD6F-41B2-42726B88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🔷 Azure Pricing Models &amp; Cost Management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BF3A5-3F75-5328-F524-1B3AC307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1. Pay-As-You-Go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2. Reserved Instances (RI)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3. Spot Pricing (Azure Spot VMs)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4. Azure Hybrid Benefit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5. Free Tier &amp; Free Services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491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5587-95E9-CBF7-A4AA-B8E4413F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Pay-As-You-Go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FB38-A3CE-C063-F898-AC3F196C2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👉 Pay only for what you use.</a:t>
            </a:r>
          </a:p>
          <a:p>
            <a:r>
              <a:rPr lang="en-US" dirty="0"/>
              <a:t>No upfront cost</a:t>
            </a:r>
          </a:p>
          <a:p>
            <a:r>
              <a:rPr lang="en-US" dirty="0"/>
              <a:t>Charged per second/minute/hour (service dependent)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VM running for 10 hours → billed only for 10 hours</a:t>
            </a:r>
          </a:p>
          <a:p>
            <a:r>
              <a:rPr lang="en-US" dirty="0"/>
              <a:t>📌 </a:t>
            </a:r>
            <a:r>
              <a:rPr lang="en-US" b="1" dirty="0"/>
              <a:t>Best for:</a:t>
            </a:r>
            <a:endParaRPr lang="en-US" dirty="0"/>
          </a:p>
          <a:p>
            <a:r>
              <a:rPr lang="en-US" dirty="0"/>
              <a:t>POCs</a:t>
            </a:r>
          </a:p>
          <a:p>
            <a:r>
              <a:rPr lang="en-US" dirty="0"/>
              <a:t>Short-term workloads</a:t>
            </a:r>
          </a:p>
          <a:p>
            <a:r>
              <a:rPr lang="en-US" dirty="0"/>
              <a:t>Startups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868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490F-0DEF-F40E-8262-038B9DDF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2. Reserved Instances (RI)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7819-5FE8-50D0-2D1E-88DEBBE6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👉 Commit for </a:t>
            </a:r>
            <a:r>
              <a:rPr lang="en-US" b="1" dirty="0"/>
              <a:t>1 year or 3 years</a:t>
            </a:r>
            <a:r>
              <a:rPr lang="en-US" dirty="0"/>
              <a:t> to save cost.</a:t>
            </a:r>
          </a:p>
          <a:p>
            <a:r>
              <a:rPr lang="en-US" dirty="0"/>
              <a:t>Up to </a:t>
            </a:r>
            <a:r>
              <a:rPr lang="en-US" b="1" dirty="0"/>
              <a:t>72% cheaper</a:t>
            </a:r>
            <a:r>
              <a:rPr lang="en-US" dirty="0"/>
              <a:t> than Pay-As-You-Go</a:t>
            </a:r>
          </a:p>
          <a:p>
            <a:r>
              <a:rPr lang="en-US" dirty="0"/>
              <a:t>Available for:</a:t>
            </a:r>
          </a:p>
          <a:p>
            <a:pPr lvl="1"/>
            <a:r>
              <a:rPr lang="en-US" dirty="0"/>
              <a:t>Virtual Machines</a:t>
            </a:r>
          </a:p>
          <a:p>
            <a:pPr lvl="1"/>
            <a:r>
              <a:rPr lang="en-US" dirty="0"/>
              <a:t>SQL Database</a:t>
            </a:r>
          </a:p>
          <a:p>
            <a:pPr lvl="1"/>
            <a:r>
              <a:rPr lang="en-US" dirty="0"/>
              <a:t>Cosmos DB</a:t>
            </a:r>
          </a:p>
          <a:p>
            <a:pPr lvl="1"/>
            <a:r>
              <a:rPr lang="en-US" dirty="0"/>
              <a:t>App Service</a:t>
            </a:r>
          </a:p>
          <a:p>
            <a:pPr marL="0" indent="0">
              <a:buNone/>
            </a:pPr>
            <a:r>
              <a:rPr lang="en-US" b="1" dirty="0"/>
              <a:t>Best for:</a:t>
            </a:r>
            <a:endParaRPr lang="en-US" dirty="0"/>
          </a:p>
          <a:p>
            <a:r>
              <a:rPr lang="en-US" dirty="0"/>
              <a:t>Long-running production workloads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445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2DAE-4504-4D14-19BC-868E27A9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3. Spot Pricing (Azure Spot VMs)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43F0-77F9-7594-D06C-246040C8F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Use unused Azure capacity at </a:t>
            </a:r>
            <a:r>
              <a:rPr lang="en-US" b="1" dirty="0"/>
              <a:t>very low cost</a:t>
            </a:r>
            <a:r>
              <a:rPr lang="en-US" dirty="0"/>
              <a:t>.</a:t>
            </a:r>
          </a:p>
          <a:p>
            <a:r>
              <a:rPr lang="en-US" dirty="0"/>
              <a:t>Up to </a:t>
            </a:r>
            <a:r>
              <a:rPr lang="en-US" b="1" dirty="0"/>
              <a:t>90% discount</a:t>
            </a:r>
            <a:endParaRPr lang="en-US" dirty="0"/>
          </a:p>
          <a:p>
            <a:r>
              <a:rPr lang="en-US" dirty="0"/>
              <a:t>Can be </a:t>
            </a:r>
            <a:r>
              <a:rPr lang="en-US" b="1" dirty="0"/>
              <a:t>evicted anytime</a:t>
            </a:r>
            <a:endParaRPr lang="en-US" dirty="0"/>
          </a:p>
          <a:p>
            <a:r>
              <a:rPr lang="en-US" dirty="0"/>
              <a:t>📌 </a:t>
            </a:r>
            <a:r>
              <a:rPr lang="en-US" b="1" dirty="0"/>
              <a:t>Best for:</a:t>
            </a:r>
            <a:endParaRPr lang="en-US" dirty="0"/>
          </a:p>
          <a:p>
            <a:r>
              <a:rPr lang="en-US" dirty="0"/>
              <a:t>Batch jobs</a:t>
            </a:r>
          </a:p>
          <a:p>
            <a:r>
              <a:rPr lang="en-US" dirty="0"/>
              <a:t>Dev/Test</a:t>
            </a:r>
          </a:p>
          <a:p>
            <a:r>
              <a:rPr lang="en-US" dirty="0"/>
              <a:t>Non-critical workloads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454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0216-4EB6-22C1-1693-1DA7B579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4. Azure Hybrid Benefit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2D8CE-6F37-233F-B051-3EFACF521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👉 Use your </a:t>
            </a:r>
            <a:r>
              <a:rPr lang="en-US" b="1" dirty="0"/>
              <a:t>existing on-prem licenses</a:t>
            </a:r>
            <a:r>
              <a:rPr lang="en-US" dirty="0"/>
              <a:t>.</a:t>
            </a:r>
          </a:p>
          <a:p>
            <a:r>
              <a:rPr lang="en-US" dirty="0"/>
              <a:t>Windows Server</a:t>
            </a:r>
          </a:p>
          <a:p>
            <a:r>
              <a:rPr lang="en-US" dirty="0"/>
              <a:t>SQL Server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Benefit:</a:t>
            </a:r>
            <a:endParaRPr lang="en-US" dirty="0"/>
          </a:p>
          <a:p>
            <a:r>
              <a:rPr lang="en-US" dirty="0"/>
              <a:t>Reduce VM &amp; SQL costs significantly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767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7C5C-4B9C-2BB1-E440-A2B27FE9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Free Tier &amp; Free Services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0EAF8D-15C2-4980-AB3C-BF2C03EE1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Free Account: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₹200 credit (limited time)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Always-free services: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Functions (limited)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Blob Storage (limited)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App Service (basic)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029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4BED-5D20-9035-9D05-3D458B2F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672" y="2370571"/>
            <a:ext cx="10515600" cy="1325563"/>
          </a:xfrm>
        </p:spPr>
        <p:txBody>
          <a:bodyPr/>
          <a:lstStyle/>
          <a:p>
            <a:r>
              <a:rPr lang="en-IN" dirty="0"/>
              <a:t>Azure Tour</a:t>
            </a:r>
          </a:p>
        </p:txBody>
      </p:sp>
    </p:spTree>
    <p:extLst>
      <p:ext uri="{BB962C8B-B14F-4D97-AF65-F5344CB8AC3E}">
        <p14:creationId xmlns:p14="http://schemas.microsoft.com/office/powerpoint/2010/main" val="1847487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E93C1-62B6-E224-8DE5-A99E5619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resource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74FE93-76CB-C476-B2B0-685057F55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196"/>
            <a:ext cx="12192000" cy="491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36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97CB-6D2B-D170-76E8-589AC25F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10391A-C0C3-B199-F740-C1059A00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553"/>
            <a:ext cx="12192000" cy="54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89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0EE8-1B04-73F8-942A-F6C3DECD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C0BBFE-8AA1-F0CB-00E0-98BB73676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576"/>
            <a:ext cx="12192000" cy="463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31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F50F-ED5F-F7FA-21A2-79D78658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All Services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5B8269-B6CD-A592-1E4D-5682C6FA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508"/>
            <a:ext cx="12192000" cy="510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7590-17DC-EABB-036C-F5F283E4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Fav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63C2A8-B4F2-4047-4B17-57F72E1B0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466"/>
            <a:ext cx="12192000" cy="525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84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9361-4798-7F87-1FED-B640D421E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BFDA08-8B40-F451-F2A1-3036480A5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518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47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CBC2-AFB8-A8FB-4C1A-446AAE43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copilot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906575-36E7-3CD9-7E16-D6CE29B59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96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399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D220-D7AF-7519-D41F-16F1A9E2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notifications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04332C-39DF-7CB6-3180-0CAC693A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3394"/>
            <a:ext cx="12192000" cy="458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58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FBC7-F951-CA16-C256-FE9C24FD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813" y="2361074"/>
            <a:ext cx="10515600" cy="1325563"/>
          </a:xfrm>
        </p:spPr>
        <p:txBody>
          <a:bodyPr/>
          <a:lstStyle/>
          <a:p>
            <a:r>
              <a:rPr lang="en-IN" dirty="0"/>
              <a:t>🔷 Azure Resource Manager (ARM)</a:t>
            </a:r>
          </a:p>
        </p:txBody>
      </p:sp>
    </p:spTree>
    <p:extLst>
      <p:ext uri="{BB962C8B-B14F-4D97-AF65-F5344CB8AC3E}">
        <p14:creationId xmlns:p14="http://schemas.microsoft.com/office/powerpoint/2010/main" val="2862970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769E-08CD-2CF4-9F04-8F44C685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 What is Azure Resource Manager?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4D8A-8CBE-BF46-5027-A310542DF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Azure Resource Manager (ARM)</a:t>
            </a:r>
            <a:r>
              <a:rPr lang="en-US" dirty="0"/>
              <a:t> is the </a:t>
            </a:r>
            <a:r>
              <a:rPr lang="en-US" b="1" dirty="0"/>
              <a:t>management layer</a:t>
            </a:r>
            <a:r>
              <a:rPr lang="en-US" dirty="0"/>
              <a:t> of Azure that enables you to </a:t>
            </a:r>
            <a:r>
              <a:rPr lang="en-US" b="1" dirty="0"/>
              <a:t>create, update, manage, and delete Azure resources</a:t>
            </a:r>
            <a:r>
              <a:rPr lang="en-US" dirty="0"/>
              <a:t> in a </a:t>
            </a:r>
            <a:r>
              <a:rPr lang="en-US" b="1" dirty="0"/>
              <a:t>consistent, secure, and repeatable way</a:t>
            </a:r>
            <a:r>
              <a:rPr lang="en-US" dirty="0"/>
              <a:t>.</a:t>
            </a:r>
          </a:p>
          <a:p>
            <a:r>
              <a:rPr lang="en-US" dirty="0"/>
              <a:t> In simple words: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ARM is the control plane of Azure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387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CB6B0-2DD9-32C4-E6C4-3AF221D1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2️⃣ Why ARM is Needed?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53FF-23E7-EA5B-0906-28CD3A26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Before ARM:</a:t>
            </a:r>
          </a:p>
          <a:p>
            <a:r>
              <a:rPr lang="en-US" dirty="0"/>
              <a:t>Resources were managed individually</a:t>
            </a:r>
          </a:p>
          <a:p>
            <a:r>
              <a:rPr lang="en-US" dirty="0"/>
              <a:t>No consistency</a:t>
            </a:r>
          </a:p>
          <a:p>
            <a:r>
              <a:rPr lang="en-US" dirty="0"/>
              <a:t>No grouping</a:t>
            </a:r>
          </a:p>
          <a:p>
            <a:r>
              <a:rPr lang="en-US" dirty="0"/>
              <a:t>No lifecycle management</a:t>
            </a:r>
          </a:p>
          <a:p>
            <a:r>
              <a:rPr lang="en-US" dirty="0"/>
              <a:t>With ARM:</a:t>
            </a:r>
          </a:p>
          <a:p>
            <a:r>
              <a:rPr lang="en-US" dirty="0"/>
              <a:t>Unified management</a:t>
            </a:r>
          </a:p>
          <a:p>
            <a:r>
              <a:rPr lang="en-US" dirty="0"/>
              <a:t>Infrastructure as Code (</a:t>
            </a:r>
            <a:r>
              <a:rPr lang="en-US" dirty="0" err="1"/>
              <a:t>IaC</a:t>
            </a:r>
            <a:r>
              <a:rPr lang="en-US" dirty="0"/>
              <a:t>)</a:t>
            </a:r>
          </a:p>
          <a:p>
            <a:r>
              <a:rPr lang="en-US" dirty="0"/>
              <a:t>Role-based access</a:t>
            </a:r>
          </a:p>
          <a:p>
            <a:r>
              <a:rPr lang="en-US" dirty="0"/>
              <a:t>Cost and governance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1596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17D3-CB26-8B01-FA9E-2FBB1E88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746" y="2443307"/>
            <a:ext cx="10515600" cy="1325563"/>
          </a:xfrm>
        </p:spPr>
        <p:txBody>
          <a:bodyPr/>
          <a:lstStyle/>
          <a:p>
            <a:r>
              <a:rPr lang="en-IN" dirty="0"/>
              <a:t>ARM &amp; SUBSCRIPTIONS</a:t>
            </a:r>
          </a:p>
        </p:txBody>
      </p:sp>
    </p:spTree>
    <p:extLst>
      <p:ext uri="{BB962C8B-B14F-4D97-AF65-F5344CB8AC3E}">
        <p14:creationId xmlns:p14="http://schemas.microsoft.com/office/powerpoint/2010/main" val="21463088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DECA-75A1-6BF3-A243-7CC6F52A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Core Concepts of ARM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758B-B7AF-B440-E648-086E5827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8876"/>
            <a:ext cx="10515600" cy="588286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🔹 1. Resource</a:t>
            </a:r>
          </a:p>
          <a:p>
            <a:r>
              <a:rPr lang="en-IN" dirty="0"/>
              <a:t>Any Azure service instance</a:t>
            </a:r>
            <a:br>
              <a:rPr lang="en-IN" dirty="0"/>
            </a:br>
            <a:r>
              <a:rPr lang="en-IN" b="1" dirty="0"/>
              <a:t>Example:</a:t>
            </a:r>
            <a:r>
              <a:rPr lang="en-IN" dirty="0"/>
              <a:t> VM, Storage Account, </a:t>
            </a:r>
            <a:r>
              <a:rPr lang="en-IN" dirty="0" err="1"/>
              <a:t>VNet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2. Resource Group</a:t>
            </a:r>
          </a:p>
          <a:p>
            <a:r>
              <a:rPr lang="en-IN" dirty="0"/>
              <a:t>Logical container for resources</a:t>
            </a:r>
          </a:p>
          <a:p>
            <a:r>
              <a:rPr lang="en-IN" dirty="0"/>
              <a:t>Resources share:</a:t>
            </a:r>
          </a:p>
          <a:p>
            <a:pPr lvl="1"/>
            <a:r>
              <a:rPr lang="en-IN" dirty="0"/>
              <a:t>Same lifecycle</a:t>
            </a:r>
          </a:p>
          <a:p>
            <a:pPr lvl="1"/>
            <a:r>
              <a:rPr lang="en-IN" dirty="0"/>
              <a:t>Same permissions</a:t>
            </a:r>
          </a:p>
          <a:p>
            <a:r>
              <a:rPr lang="en-IN" dirty="0"/>
              <a:t>Can contain resources from </a:t>
            </a:r>
            <a:r>
              <a:rPr lang="en-IN" b="1" dirty="0"/>
              <a:t>different regions</a:t>
            </a: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Best Practice:</a:t>
            </a:r>
            <a:br>
              <a:rPr lang="en-IN" dirty="0"/>
            </a:br>
            <a:r>
              <a:rPr lang="en-IN" dirty="0"/>
              <a:t>Delete Resource Group → All resources deleted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3. Subscription</a:t>
            </a:r>
          </a:p>
          <a:p>
            <a:r>
              <a:rPr lang="en-IN" dirty="0"/>
              <a:t>Billing boundary</a:t>
            </a:r>
          </a:p>
          <a:p>
            <a:r>
              <a:rPr lang="en-IN" dirty="0"/>
              <a:t>Access control boundary</a:t>
            </a:r>
          </a:p>
          <a:p>
            <a:r>
              <a:rPr lang="en-IN" dirty="0"/>
              <a:t>Contains multiple resource groups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4. Management Group</a:t>
            </a:r>
          </a:p>
          <a:p>
            <a:r>
              <a:rPr lang="en-IN" dirty="0"/>
              <a:t>Top-level container</a:t>
            </a:r>
          </a:p>
          <a:p>
            <a:r>
              <a:rPr lang="en-IN" dirty="0"/>
              <a:t>Used to manage multiple subscriptions</a:t>
            </a:r>
          </a:p>
          <a:p>
            <a:r>
              <a:rPr lang="en-IN" dirty="0"/>
              <a:t>📌 Used in enterprises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143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20BB-5B0B-A2E3-F0D0-C9177C1B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4232"/>
          </a:xfrm>
        </p:spPr>
        <p:txBody>
          <a:bodyPr/>
          <a:lstStyle/>
          <a:p>
            <a:r>
              <a:rPr lang="en-IN" dirty="0"/>
              <a:t>4️⃣ ARM Architecture (Hierarchy)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0FEDE-CE6B-9F4C-238B-678520102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Management Group</a:t>
            </a:r>
          </a:p>
          <a:p>
            <a:r>
              <a:rPr lang="en-US" dirty="0"/>
              <a:t> └── Subscription</a:t>
            </a:r>
          </a:p>
          <a:p>
            <a:r>
              <a:rPr lang="en-US" dirty="0"/>
              <a:t>     └── Resource Group</a:t>
            </a:r>
          </a:p>
          <a:p>
            <a:r>
              <a:rPr lang="en-US" dirty="0"/>
              <a:t>         └──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1273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B9F6-2B91-0F43-63BE-49310B54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Management Group (Top Level)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8ED2C-6A1A-69C1-65E8-CC64B6589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0" y="116284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👉 Used to </a:t>
            </a:r>
            <a:r>
              <a:rPr lang="en-US" b="1" dirty="0"/>
              <a:t>manage multiple subscriptions together</a:t>
            </a:r>
            <a:endParaRPr lang="en-US" dirty="0"/>
          </a:p>
          <a:p>
            <a:r>
              <a:rPr lang="en-US" b="1" dirty="0"/>
              <a:t>Key Points:</a:t>
            </a:r>
          </a:p>
          <a:p>
            <a:r>
              <a:rPr lang="en-US" dirty="0"/>
              <a:t>Highest scope in Azure</a:t>
            </a:r>
          </a:p>
          <a:p>
            <a:r>
              <a:rPr lang="en-US" dirty="0"/>
              <a:t>Used mainly in </a:t>
            </a:r>
            <a:r>
              <a:rPr lang="en-US" b="1" dirty="0"/>
              <a:t>large enterprises</a:t>
            </a:r>
            <a:endParaRPr lang="en-US" dirty="0"/>
          </a:p>
          <a:p>
            <a:r>
              <a:rPr lang="en-US" dirty="0"/>
              <a:t>Apply </a:t>
            </a:r>
            <a:r>
              <a:rPr lang="en-US" b="1" dirty="0"/>
              <a:t>policies &amp; RBAC</a:t>
            </a:r>
            <a:r>
              <a:rPr lang="en-US" dirty="0"/>
              <a:t> across subscriptions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Management Group: Corp-IT</a:t>
            </a:r>
          </a:p>
          <a:p>
            <a:pPr lvl="1"/>
            <a:r>
              <a:rPr lang="en-US" dirty="0"/>
              <a:t>Applies security policies to all subscriptions</a:t>
            </a:r>
          </a:p>
          <a:p>
            <a:r>
              <a:rPr lang="en-US" dirty="0"/>
              <a:t>📌 </a:t>
            </a:r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Enforce company-wide rules (allowed regions, security baseline)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810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053E-1BF7-CA51-06F5-C6DB38AA0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4065"/>
          </a:xfrm>
        </p:spPr>
        <p:txBody>
          <a:bodyPr/>
          <a:lstStyle/>
          <a:p>
            <a:r>
              <a:rPr lang="en-US" dirty="0"/>
              <a:t>2️⃣ Subscription (Billing &amp; Access Boundary)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BD986-CC27-DF2E-4CA8-B976C473A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1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👉 Logical container for billing and access control</a:t>
            </a:r>
          </a:p>
          <a:p>
            <a:r>
              <a:rPr lang="en-IN" b="1" dirty="0"/>
              <a:t>Key Points:</a:t>
            </a:r>
          </a:p>
          <a:p>
            <a:r>
              <a:rPr lang="en-IN" dirty="0"/>
              <a:t>Billing unit in Azure</a:t>
            </a:r>
          </a:p>
          <a:p>
            <a:r>
              <a:rPr lang="en-IN" dirty="0"/>
              <a:t>Contains multiple resource groups</a:t>
            </a:r>
          </a:p>
          <a:p>
            <a:r>
              <a:rPr lang="en-IN" dirty="0"/>
              <a:t>Access controlled via RBAC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Subscription: Prod-Subscription</a:t>
            </a:r>
          </a:p>
          <a:p>
            <a:r>
              <a:rPr lang="en-IN" dirty="0"/>
              <a:t>Subscription: Dev-Subscription</a:t>
            </a:r>
          </a:p>
          <a:p>
            <a:r>
              <a:rPr lang="en-IN" dirty="0"/>
              <a:t>📌 </a:t>
            </a:r>
            <a:r>
              <a:rPr lang="en-IN" b="1" dirty="0"/>
              <a:t>Use case:</a:t>
            </a:r>
            <a:br>
              <a:rPr lang="en-IN" dirty="0"/>
            </a:br>
            <a:r>
              <a:rPr lang="en-IN" dirty="0"/>
              <a:t>Separate </a:t>
            </a:r>
            <a:r>
              <a:rPr lang="en-IN" b="1" dirty="0"/>
              <a:t>Dev / Test / Prod</a:t>
            </a:r>
            <a:r>
              <a:rPr lang="en-IN" dirty="0"/>
              <a:t> environments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309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2FBC-2F7C-9770-3540-E83DCFD2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Subscrption</a:t>
            </a:r>
            <a:r>
              <a:rPr lang="en-IN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FEF1-43BF-5456-042C-00DDFFB7A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Free Subscription (Azure Free Account)</a:t>
            </a:r>
          </a:p>
          <a:p>
            <a:r>
              <a:rPr lang="en-IN" dirty="0"/>
              <a:t> Pay-As-You-Go Subscription</a:t>
            </a:r>
          </a:p>
          <a:p>
            <a:r>
              <a:rPr lang="en-IN" dirty="0"/>
              <a:t> Enterprise Agreement (EA)</a:t>
            </a:r>
          </a:p>
          <a:p>
            <a:r>
              <a:rPr lang="en-US" dirty="0"/>
              <a:t> Student Subscription (Azure for Students)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765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5870-769D-771D-07C4-FDC4F542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3️⃣ Resource Group (Logical Grouping)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E2D87-E74D-DA87-1527-C296132F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👉 Logical container for </a:t>
            </a:r>
            <a:r>
              <a:rPr lang="en-IN" b="1" dirty="0"/>
              <a:t>related resources</a:t>
            </a:r>
            <a:endParaRPr lang="en-IN" dirty="0"/>
          </a:p>
          <a:p>
            <a:r>
              <a:rPr lang="en-IN" b="1" dirty="0"/>
              <a:t>Key Points:</a:t>
            </a:r>
          </a:p>
          <a:p>
            <a:r>
              <a:rPr lang="en-IN" dirty="0"/>
              <a:t>Resources share:</a:t>
            </a:r>
          </a:p>
          <a:p>
            <a:pPr lvl="1"/>
            <a:r>
              <a:rPr lang="en-IN" dirty="0"/>
              <a:t>Lifecycle</a:t>
            </a:r>
          </a:p>
          <a:p>
            <a:pPr lvl="1"/>
            <a:r>
              <a:rPr lang="en-IN" dirty="0"/>
              <a:t>Permissions</a:t>
            </a:r>
          </a:p>
          <a:p>
            <a:r>
              <a:rPr lang="en-IN" dirty="0"/>
              <a:t>Can contain resources from different regions</a:t>
            </a:r>
          </a:p>
          <a:p>
            <a:r>
              <a:rPr lang="en-IN" dirty="0"/>
              <a:t>Delete RG → All resources deleted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Resource Group: </a:t>
            </a:r>
            <a:r>
              <a:rPr lang="en-IN" dirty="0" err="1"/>
              <a:t>rg</a:t>
            </a:r>
            <a:r>
              <a:rPr lang="en-IN" dirty="0"/>
              <a:t>-snowflake-prod</a:t>
            </a:r>
          </a:p>
          <a:p>
            <a:pPr lvl="1"/>
            <a:r>
              <a:rPr lang="en-IN" dirty="0"/>
              <a:t>ADLS</a:t>
            </a:r>
          </a:p>
          <a:p>
            <a:pPr lvl="1"/>
            <a:r>
              <a:rPr lang="en-IN" dirty="0"/>
              <a:t>Azure VM</a:t>
            </a:r>
          </a:p>
          <a:p>
            <a:pPr lvl="1"/>
            <a:r>
              <a:rPr lang="en-IN" dirty="0"/>
              <a:t>Key Vault</a:t>
            </a:r>
          </a:p>
          <a:p>
            <a:r>
              <a:rPr lang="en-IN" dirty="0"/>
              <a:t>📌 </a:t>
            </a:r>
            <a:r>
              <a:rPr lang="en-IN" b="1" dirty="0"/>
              <a:t>Use case:</a:t>
            </a:r>
            <a:br>
              <a:rPr lang="en-IN" dirty="0"/>
            </a:br>
            <a:r>
              <a:rPr lang="en-IN" dirty="0"/>
              <a:t>Application-level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2978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5E6DE9-08D7-FDE8-56C0-79905616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433"/>
            <a:ext cx="12192000" cy="469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5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743CFF-03DA-895F-4F05-C95A07B9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939"/>
            <a:ext cx="12192000" cy="46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475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D069-6D18-74B0-6C4D-B7E370E3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b="1" dirty="0"/>
              <a:t>4️⃣ Resources (Actual Azure Services)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966BF-898A-D301-4434-2EE36FC9E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👉 Individual Azure services you create</a:t>
            </a:r>
          </a:p>
          <a:p>
            <a:r>
              <a:rPr lang="en-IN" b="1" dirty="0"/>
              <a:t>Examples:</a:t>
            </a:r>
          </a:p>
          <a:p>
            <a:r>
              <a:rPr lang="en-IN" dirty="0"/>
              <a:t>Virtual Machine</a:t>
            </a:r>
          </a:p>
          <a:p>
            <a:r>
              <a:rPr lang="en-IN" dirty="0"/>
              <a:t>Storage Account</a:t>
            </a:r>
          </a:p>
          <a:p>
            <a:r>
              <a:rPr lang="en-IN" dirty="0" err="1"/>
              <a:t>VNet</a:t>
            </a:r>
            <a:endParaRPr lang="en-IN" dirty="0"/>
          </a:p>
          <a:p>
            <a:r>
              <a:rPr lang="en-IN" dirty="0"/>
              <a:t>Azure SQL Database</a:t>
            </a:r>
          </a:p>
          <a:p>
            <a:r>
              <a:rPr lang="en-IN" dirty="0"/>
              <a:t>Key Vault</a:t>
            </a:r>
          </a:p>
          <a:p>
            <a:r>
              <a:rPr lang="en-IN" dirty="0"/>
              <a:t>📌 </a:t>
            </a:r>
            <a:r>
              <a:rPr lang="en-IN" b="1" dirty="0"/>
              <a:t>Use case:</a:t>
            </a:r>
            <a:br>
              <a:rPr lang="en-IN" dirty="0"/>
            </a:br>
            <a:r>
              <a:rPr lang="en-IN" dirty="0"/>
              <a:t>Actual workload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2977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85053949-4DF0-E528-C2CA-5073F409D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741"/>
            <a:ext cx="12192000" cy="56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931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6D61-5855-F79C-BCC2-0F397AB5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A65B-3CFE-926A-4D64-9903996AA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Azure resource management is about </a:t>
            </a:r>
            <a:r>
              <a:rPr lang="en-US" b="1" dirty="0"/>
              <a:t>how you structure, control, secure, and manage Azure resources at scale</a:t>
            </a:r>
            <a:r>
              <a:rPr lang="en-US" dirty="0"/>
              <a:t> using ARM.</a:t>
            </a:r>
          </a:p>
          <a:p>
            <a:endParaRPr lang="en-US" dirty="0"/>
          </a:p>
          <a:p>
            <a:r>
              <a:rPr lang="en-US" dirty="0"/>
              <a:t>1️⃣ Azure Resource Organization Hierarchy</a:t>
            </a:r>
          </a:p>
          <a:p>
            <a:endParaRPr lang="en-US" dirty="0"/>
          </a:p>
          <a:p>
            <a:r>
              <a:rPr lang="en-US" dirty="0"/>
              <a:t>Management Group</a:t>
            </a:r>
          </a:p>
          <a:p>
            <a:r>
              <a:rPr lang="en-US" dirty="0"/>
              <a:t> └── Subscription</a:t>
            </a:r>
          </a:p>
          <a:p>
            <a:r>
              <a:rPr lang="en-US" dirty="0"/>
              <a:t>     └── Resource Group</a:t>
            </a:r>
          </a:p>
          <a:p>
            <a:r>
              <a:rPr lang="en-US" dirty="0"/>
              <a:t>         └──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9031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CB831-7422-4571-4E19-2EBF7CDC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ARM and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0DFDF-4F7C-9E8F-6C5C-92BB527AE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Management Groups (Enterprise Organization)</a:t>
            </a:r>
          </a:p>
          <a:p>
            <a:r>
              <a:rPr lang="en-IN" dirty="0"/>
              <a:t>Subscriptions (Billing &amp; Isolation)</a:t>
            </a:r>
          </a:p>
          <a:p>
            <a:r>
              <a:rPr lang="en-IN" dirty="0"/>
              <a:t>Resource Groups (Lifecycle Management)</a:t>
            </a:r>
          </a:p>
          <a:p>
            <a:r>
              <a:rPr lang="en-IN" dirty="0"/>
              <a:t>Resources (Actual Services)</a:t>
            </a:r>
          </a:p>
          <a:p>
            <a:r>
              <a:rPr lang="en-IN" dirty="0"/>
              <a:t>Access Control (RBAC)</a:t>
            </a:r>
          </a:p>
          <a:p>
            <a:r>
              <a:rPr lang="en-US" dirty="0"/>
              <a:t>Tagging Strategy (VERY Important)</a:t>
            </a:r>
          </a:p>
          <a:p>
            <a:r>
              <a:rPr lang="en-IN" dirty="0"/>
              <a:t>Azure Policy (Governance)</a:t>
            </a:r>
          </a:p>
        </p:txBody>
      </p:sp>
    </p:spTree>
    <p:extLst>
      <p:ext uri="{BB962C8B-B14F-4D97-AF65-F5344CB8AC3E}">
        <p14:creationId xmlns:p14="http://schemas.microsoft.com/office/powerpoint/2010/main" val="606588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AC58-25FB-3324-69FD-E0F2E9D5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Tagging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7EA2-2A3A-0418-1876-C3A624D46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2734"/>
            <a:ext cx="10950678" cy="580912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tagging strategy</a:t>
            </a:r>
            <a:r>
              <a:rPr lang="en-US" dirty="0"/>
              <a:t> is a </a:t>
            </a:r>
            <a:r>
              <a:rPr lang="en-US" b="1" dirty="0"/>
              <a:t>standardized approach to applying key–value metadata (tags)</a:t>
            </a:r>
            <a:r>
              <a:rPr lang="en-US" dirty="0"/>
              <a:t> to Azure resources, resource groups, or subscriptions so that they can be </a:t>
            </a:r>
            <a:r>
              <a:rPr lang="en-US" b="1" dirty="0"/>
              <a:t>organized, tracked, governed, and billed properly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 simple terms:</a:t>
            </a:r>
            <a:br>
              <a:rPr lang="en-US" dirty="0"/>
            </a:br>
            <a:r>
              <a:rPr lang="en-US" dirty="0"/>
              <a:t>👉 Tags help you </a:t>
            </a:r>
            <a:r>
              <a:rPr lang="en-US" b="1" dirty="0"/>
              <a:t>identify who owns a resource, why it exists, and how much it costs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What Are Azure Tags?</a:t>
            </a:r>
          </a:p>
          <a:p>
            <a:endParaRPr lang="en-IN" dirty="0"/>
          </a:p>
          <a:p>
            <a:r>
              <a:rPr lang="en-US" dirty="0"/>
              <a:t>Key–Value pairs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Applied at:</a:t>
            </a:r>
          </a:p>
          <a:p>
            <a:r>
              <a:rPr lang="en-US" dirty="0"/>
              <a:t>Management Group</a:t>
            </a:r>
          </a:p>
          <a:p>
            <a:r>
              <a:rPr lang="en-US" dirty="0"/>
              <a:t>Subscription</a:t>
            </a:r>
          </a:p>
          <a:p>
            <a:r>
              <a:rPr lang="en-US" dirty="0"/>
              <a:t>Resource Group</a:t>
            </a:r>
          </a:p>
          <a:p>
            <a:r>
              <a:rPr lang="en-US" dirty="0"/>
              <a:t>Resource level</a:t>
            </a:r>
          </a:p>
          <a:p>
            <a:r>
              <a:rPr lang="en-US" dirty="0"/>
              <a:t>Inherited from higher levels (mostly from RG)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6764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4689A-8183-2799-5DDC-7B205FC5D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Common Tags:</a:t>
            </a:r>
          </a:p>
          <a:p>
            <a:r>
              <a:rPr lang="en-IN" dirty="0"/>
              <a:t>Environment = Prod</a:t>
            </a:r>
          </a:p>
          <a:p>
            <a:r>
              <a:rPr lang="en-IN" dirty="0"/>
              <a:t>Project = </a:t>
            </a:r>
            <a:r>
              <a:rPr lang="en-IN" dirty="0" err="1"/>
              <a:t>DataPlatform</a:t>
            </a:r>
            <a:endParaRPr lang="en-IN" dirty="0"/>
          </a:p>
          <a:p>
            <a:r>
              <a:rPr lang="en-IN" dirty="0"/>
              <a:t>Owner = </a:t>
            </a:r>
            <a:r>
              <a:rPr lang="en-IN" dirty="0" err="1"/>
              <a:t>AnalyticsTeam</a:t>
            </a:r>
            <a:endParaRPr lang="en-IN" dirty="0"/>
          </a:p>
          <a:p>
            <a:r>
              <a:rPr lang="en-IN" dirty="0" err="1"/>
              <a:t>CostCenter</a:t>
            </a:r>
            <a:r>
              <a:rPr lang="en-IN" dirty="0"/>
              <a:t> = FIN001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Used for:</a:t>
            </a:r>
          </a:p>
          <a:p>
            <a:r>
              <a:rPr lang="en-IN" dirty="0"/>
              <a:t>Cost allocation</a:t>
            </a:r>
          </a:p>
          <a:p>
            <a:r>
              <a:rPr lang="en-IN" dirty="0"/>
              <a:t>Reporting</a:t>
            </a:r>
          </a:p>
          <a:p>
            <a:r>
              <a:rPr lang="en-IN" dirty="0"/>
              <a:t>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1316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C3D7-4881-B706-6685-4B4B9A00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Azure Policy (Governance)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983D-070D-2745-8AE6-2E1C79C0F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68" y="105870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👉 Enforce rules &amp; standards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r>
              <a:rPr lang="en-US" dirty="0"/>
              <a:t>Allow only approved regions</a:t>
            </a:r>
          </a:p>
          <a:p>
            <a:r>
              <a:rPr lang="en-US" dirty="0"/>
              <a:t>Restrict VM sizes</a:t>
            </a:r>
          </a:p>
          <a:p>
            <a:r>
              <a:rPr lang="en-US" dirty="0"/>
              <a:t>Enforce tagging</a:t>
            </a:r>
          </a:p>
          <a:p>
            <a:pPr marL="0" indent="0">
              <a:buNone/>
            </a:pPr>
            <a:r>
              <a:rPr lang="en-US" dirty="0"/>
              <a:t>Applied at:</a:t>
            </a:r>
          </a:p>
          <a:p>
            <a:r>
              <a:rPr lang="en-US" dirty="0"/>
              <a:t>Management Group</a:t>
            </a:r>
          </a:p>
          <a:p>
            <a:r>
              <a:rPr lang="en-US" dirty="0"/>
              <a:t>Subscription</a:t>
            </a:r>
          </a:p>
          <a:p>
            <a:r>
              <a:rPr lang="en-US" dirty="0"/>
              <a:t>Resource Group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3230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886F-32D7-E569-4ADE-BAA2FA52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Active Directory (Entra ID)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730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9BE3-39B7-BC6E-F5E9-CAE948B9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6748"/>
          </a:xfrm>
        </p:spPr>
        <p:txBody>
          <a:bodyPr/>
          <a:lstStyle/>
          <a:p>
            <a:r>
              <a:rPr lang="en-US" dirty="0"/>
              <a:t>1️⃣ What is Azure AD Integration?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86494-1C9A-C24B-43EA-7D5BE036D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3" y="1253331"/>
            <a:ext cx="10515600" cy="4351338"/>
          </a:xfrm>
        </p:spPr>
        <p:txBody>
          <a:bodyPr/>
          <a:lstStyle/>
          <a:p>
            <a:r>
              <a:rPr lang="en-US" b="1" dirty="0"/>
              <a:t>Azure AD integration</a:t>
            </a:r>
            <a:r>
              <a:rPr lang="en-US" dirty="0"/>
              <a:t> means </a:t>
            </a:r>
            <a:r>
              <a:rPr lang="en-US" b="1" dirty="0"/>
              <a:t>connecting applications, users, devices, and services</a:t>
            </a:r>
            <a:r>
              <a:rPr lang="en-US" dirty="0"/>
              <a:t> with </a:t>
            </a:r>
            <a:r>
              <a:rPr lang="en-US" b="1" dirty="0"/>
              <a:t>Microsoft Entra ID</a:t>
            </a:r>
            <a:r>
              <a:rPr lang="en-US" dirty="0"/>
              <a:t> for:</a:t>
            </a:r>
          </a:p>
          <a:p>
            <a:r>
              <a:rPr lang="en-US" dirty="0"/>
              <a:t>Authentication (who you are)</a:t>
            </a:r>
          </a:p>
          <a:p>
            <a:r>
              <a:rPr lang="en-US" dirty="0"/>
              <a:t>Authorization (what you can access)</a:t>
            </a:r>
          </a:p>
          <a:p>
            <a:r>
              <a:rPr lang="en-US" dirty="0"/>
              <a:t>Identity management</a:t>
            </a:r>
          </a:p>
          <a:p>
            <a:r>
              <a:rPr lang="en-US" dirty="0"/>
              <a:t>Single Sign-On (SSO)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Azure AD = Identity &amp; Access Management (IAM) service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0655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AEB2-9495-1F62-4B6D-6CBB8137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6748"/>
          </a:xfrm>
        </p:spPr>
        <p:txBody>
          <a:bodyPr/>
          <a:lstStyle/>
          <a:p>
            <a:r>
              <a:rPr lang="en-US" dirty="0"/>
              <a:t>2️⃣ Why Azure AD Integration is Needed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8C12-0980-0DFB-D2A4-2D4F6D9DE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Centralized user management</a:t>
            </a:r>
          </a:p>
          <a:p>
            <a:r>
              <a:rPr lang="en-US" dirty="0"/>
              <a:t>Single Sign-On (SSO)</a:t>
            </a:r>
          </a:p>
          <a:p>
            <a:r>
              <a:rPr lang="en-US" dirty="0"/>
              <a:t>Secure access to Azure &amp; SaaS apps</a:t>
            </a:r>
          </a:p>
          <a:p>
            <a:r>
              <a:rPr lang="en-US" dirty="0"/>
              <a:t>Role-based access control (RBAC)</a:t>
            </a:r>
          </a:p>
          <a:p>
            <a:r>
              <a:rPr lang="en-US" dirty="0"/>
              <a:t>Compliance &amp;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0343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25D-4CA1-2318-644E-85BD219F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Core Components of Azure 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D0A6-420F-2C2D-4715-5AA4BDA0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940722"/>
            <a:ext cx="10515600" cy="57747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🔹 Users</a:t>
            </a:r>
          </a:p>
          <a:p>
            <a:r>
              <a:rPr lang="en-IN" dirty="0"/>
              <a:t>Cloud-only users</a:t>
            </a:r>
          </a:p>
          <a:p>
            <a:r>
              <a:rPr lang="en-IN" dirty="0"/>
              <a:t>Synced users (from on-prem AD)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Groups</a:t>
            </a:r>
          </a:p>
          <a:p>
            <a:r>
              <a:rPr lang="en-IN" dirty="0"/>
              <a:t>Security groups</a:t>
            </a:r>
          </a:p>
          <a:p>
            <a:r>
              <a:rPr lang="en-IN" dirty="0"/>
              <a:t>Microsoft 365 groups</a:t>
            </a:r>
          </a:p>
          <a:p>
            <a:r>
              <a:rPr lang="en-IN" dirty="0"/>
              <a:t>Used for:</a:t>
            </a:r>
          </a:p>
          <a:p>
            <a:pPr lvl="1"/>
            <a:r>
              <a:rPr lang="en-IN" dirty="0"/>
              <a:t>RBAC</a:t>
            </a:r>
          </a:p>
          <a:p>
            <a:pPr lvl="1"/>
            <a:r>
              <a:rPr lang="en-IN" dirty="0"/>
              <a:t>App access</a:t>
            </a:r>
          </a:p>
          <a:p>
            <a:pPr lvl="1"/>
            <a:r>
              <a:rPr lang="en-IN" dirty="0"/>
              <a:t>License assignment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2619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CE4F8-E6C0-DABB-2433-091E545F2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4" y="125333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🔹 Roles</a:t>
            </a:r>
          </a:p>
          <a:p>
            <a:r>
              <a:rPr lang="en-IN" dirty="0"/>
              <a:t>Built-in roles (Global Admin, Reader, Contributor)</a:t>
            </a:r>
          </a:p>
          <a:p>
            <a:r>
              <a:rPr lang="en-IN" dirty="0"/>
              <a:t>Custom roles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Applications</a:t>
            </a:r>
          </a:p>
          <a:p>
            <a:r>
              <a:rPr lang="en-IN" dirty="0"/>
              <a:t>Enterprise applications (SaaS apps)</a:t>
            </a:r>
          </a:p>
          <a:p>
            <a:r>
              <a:rPr lang="en-IN" dirty="0"/>
              <a:t>App registrations (custom apps)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Devices</a:t>
            </a:r>
          </a:p>
          <a:p>
            <a:r>
              <a:rPr lang="en-IN" dirty="0"/>
              <a:t>Azure AD Joined</a:t>
            </a:r>
          </a:p>
          <a:p>
            <a:r>
              <a:rPr lang="en-IN" dirty="0"/>
              <a:t>Hybrid Azure AD Joined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215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2175</Words>
  <Application>Microsoft Office PowerPoint</Application>
  <PresentationFormat>Widescreen</PresentationFormat>
  <Paragraphs>552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3" baseType="lpstr">
      <vt:lpstr>Arial</vt:lpstr>
      <vt:lpstr>Calibri</vt:lpstr>
      <vt:lpstr>Calibri Light</vt:lpstr>
      <vt:lpstr>Office Theme</vt:lpstr>
      <vt:lpstr>Azure</vt:lpstr>
      <vt:lpstr>Azure Global Infrastructure</vt:lpstr>
      <vt:lpstr>1️⃣ Azure Datacenters (Foundation Level)</vt:lpstr>
      <vt:lpstr>2️⃣ Azure Regions (Geographical Level)</vt:lpstr>
      <vt:lpstr>3️⃣ Availability Zones (High Availability Level)</vt:lpstr>
      <vt:lpstr>4️⃣ Region Pairs (Disaster Recovery Level)</vt:lpstr>
      <vt:lpstr>How All Fit Together</vt:lpstr>
      <vt:lpstr>Core Azure Services Overview</vt:lpstr>
      <vt:lpstr>Core Azure Services</vt:lpstr>
      <vt:lpstr>Azure Compute Services</vt:lpstr>
      <vt:lpstr>PowerPoint Presentation</vt:lpstr>
      <vt:lpstr>2️⃣ Azure Storage Services</vt:lpstr>
      <vt:lpstr>PowerPoint Presentation</vt:lpstr>
      <vt:lpstr>PowerPoint Presentation</vt:lpstr>
      <vt:lpstr>3️⃣ Azure Networking Services</vt:lpstr>
      <vt:lpstr>PowerPoint Presentation</vt:lpstr>
      <vt:lpstr>PowerPoint Presentation</vt:lpstr>
      <vt:lpstr>4️⃣ Azure Database Services</vt:lpstr>
      <vt:lpstr>PowerPoint Presentation</vt:lpstr>
      <vt:lpstr>PowerPoint Presentation</vt:lpstr>
      <vt:lpstr>Simple Mapping </vt:lpstr>
      <vt:lpstr>🔷 Azure Service Categories: IaaS, PaaS, SaaS</vt:lpstr>
      <vt:lpstr>1️⃣ IaaS – Infrastructure as a Service</vt:lpstr>
      <vt:lpstr>PowerPoint Presentation</vt:lpstr>
      <vt:lpstr>2️⃣ PaaS – Platform as a Service</vt:lpstr>
      <vt:lpstr>PowerPoint Presentation</vt:lpstr>
      <vt:lpstr>3️⃣ SaaS – Software as a Service</vt:lpstr>
      <vt:lpstr>PowerPoint Presentation</vt:lpstr>
      <vt:lpstr>PowerPoint Presentation</vt:lpstr>
      <vt:lpstr>🔁 Shared Responsibility Model (Simple Table)</vt:lpstr>
      <vt:lpstr>🔷 Azure Pricing Models &amp; Cost Management </vt:lpstr>
      <vt:lpstr>1. Pay-As-You-Go</vt:lpstr>
      <vt:lpstr> 2. Reserved Instances (RI)</vt:lpstr>
      <vt:lpstr> 3. Spot Pricing (Azure Spot VMs)</vt:lpstr>
      <vt:lpstr> 4. Azure Hybrid Benefit</vt:lpstr>
      <vt:lpstr> 5. Free Tier &amp; Free Services</vt:lpstr>
      <vt:lpstr>Azure Tour</vt:lpstr>
      <vt:lpstr>Create a resource</vt:lpstr>
      <vt:lpstr>Home</vt:lpstr>
      <vt:lpstr>Dashboard</vt:lpstr>
      <vt:lpstr>All Services</vt:lpstr>
      <vt:lpstr>Fav</vt:lpstr>
      <vt:lpstr>search</vt:lpstr>
      <vt:lpstr>copilot</vt:lpstr>
      <vt:lpstr>notifications</vt:lpstr>
      <vt:lpstr>🔷 Azure Resource Manager (ARM)</vt:lpstr>
      <vt:lpstr>1️⃣ What is Azure Resource Manager?</vt:lpstr>
      <vt:lpstr>2️⃣ Why ARM is Needed?</vt:lpstr>
      <vt:lpstr>ARM &amp; SUBSCRIPTIONS</vt:lpstr>
      <vt:lpstr>3️⃣ Core Concepts of ARM</vt:lpstr>
      <vt:lpstr>4️⃣ ARM Architecture (Hierarchy)</vt:lpstr>
      <vt:lpstr>1️⃣ Management Group (Top Level)</vt:lpstr>
      <vt:lpstr>2️⃣ Subscription (Billing &amp; Access Boundary)</vt:lpstr>
      <vt:lpstr>Subscrption types</vt:lpstr>
      <vt:lpstr>3️⃣ Resource Group (Logical Grouping)</vt:lpstr>
      <vt:lpstr>PowerPoint Presentation</vt:lpstr>
      <vt:lpstr>PowerPoint Presentation</vt:lpstr>
      <vt:lpstr>4️⃣ Resources (Actual Azure Services) </vt:lpstr>
      <vt:lpstr>PowerPoint Presentation</vt:lpstr>
      <vt:lpstr>ARM</vt:lpstr>
      <vt:lpstr>ARM and organization</vt:lpstr>
      <vt:lpstr>Tagging Strategy</vt:lpstr>
      <vt:lpstr>PowerPoint Presentation</vt:lpstr>
      <vt:lpstr>Azure Policy (Governance)</vt:lpstr>
      <vt:lpstr>Azure Active Directory (Entra ID) Integration</vt:lpstr>
      <vt:lpstr>1️⃣ What is Azure AD Integration?</vt:lpstr>
      <vt:lpstr>2️⃣ Why Azure AD Integration is Needed</vt:lpstr>
      <vt:lpstr>3️⃣ Core Components of Azure 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26</cp:revision>
  <dcterms:created xsi:type="dcterms:W3CDTF">2026-01-05T09:11:25Z</dcterms:created>
  <dcterms:modified xsi:type="dcterms:W3CDTF">2026-01-05T23:52:10Z</dcterms:modified>
</cp:coreProperties>
</file>