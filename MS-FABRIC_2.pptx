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7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81" r:id="rId15"/>
    <p:sldId id="282" r:id="rId16"/>
    <p:sldId id="283" r:id="rId17"/>
    <p:sldId id="284" r:id="rId18"/>
    <p:sldId id="285" r:id="rId19"/>
    <p:sldId id="286" r:id="rId20"/>
    <p:sldId id="273" r:id="rId21"/>
    <p:sldId id="275" r:id="rId22"/>
    <p:sldId id="258" r:id="rId23"/>
    <p:sldId id="276" r:id="rId24"/>
    <p:sldId id="277" r:id="rId25"/>
    <p:sldId id="278" r:id="rId26"/>
    <p:sldId id="279" r:id="rId27"/>
    <p:sldId id="280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D471F-5B39-FD54-CC08-5FC8E2CF3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BD128-4AC4-D29B-BAB2-3BDE73280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6D563-64CE-8696-3681-E5916D68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B0075-B554-4150-818F-275CFE756E2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7E196-E70F-34D4-1A43-6D6682086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1004F-E074-4802-C06B-DB9A8509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A0008-A248-4507-85A6-3D009C693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484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E9EE-5229-76ED-8773-84D60CE42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B85B9-C5E7-B932-0FFA-2D100EAFD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0472D-8DAA-438E-91DD-C8166BF44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B0075-B554-4150-818F-275CFE756E2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3AD38-3DCB-AEA9-0F54-B558FD108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F3769-9877-AF5F-20AA-548AE4F5F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A0008-A248-4507-85A6-3D009C693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78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06C86-8BA5-0EDB-4B5F-58000616E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22A0C-0FA7-4797-8A6E-BF1402166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733-3A87-820C-801E-572BB615F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B0075-B554-4150-818F-275CFE756E2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89A26-2344-2E4C-DE02-8F8D2E22F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6CFE7-4504-082A-666E-1FAE95FAB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A0008-A248-4507-85A6-3D009C693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195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FCE7C-7520-5CB1-1879-074A155A6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A6B46-FCB7-A517-36AE-C66B3E8F6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2031C-38E1-2529-1439-9CECF8BAF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89D35-18AC-66D8-567A-AECCF1970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B0075-B554-4150-818F-275CFE756E2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DC6EF-AD17-F8E2-E2A3-B7FBF8E13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C2B19-086A-D3EF-A435-FE72F521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A0008-A248-4507-85A6-3D009C693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783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374F-3166-AC57-D466-67D643E90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5F303-FABE-EB39-B4BA-3DFA39154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88921-66BC-3B9C-0D52-D88F20EAF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9E2388-F002-AE29-51D4-74ACA29F9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38050B-781C-7D27-C900-CEF26E36B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70104E-F56D-ED61-1CC0-13AEC4C25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B0075-B554-4150-818F-275CFE756E2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69C836-5665-80F2-476A-DEB3CA0F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71096C-D8FA-C8AE-5C3F-A6EC600F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A0008-A248-4507-85A6-3D009C693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76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B3C73-211F-4A5A-EEC9-D8BC982A7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1D2C1D-B36D-63B8-E392-CC83BFCE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B0075-B554-4150-818F-275CFE756E2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220F7D-F50C-00E0-6F8A-E5E917265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11B8C-EE92-E443-9945-B0121DEA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A0008-A248-4507-85A6-3D009C693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592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4D5125-12C0-7145-BE73-5DE87907A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B0075-B554-4150-818F-275CFE756E2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52CEB7-7EC0-BA27-CE81-576C4D584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652A5-CABB-AB0E-8233-6D8D3517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A0008-A248-4507-85A6-3D009C693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371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86C44-C0B3-9978-8355-992344C3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4F051-B38F-3112-53F2-CF2C5524F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B0D46-768F-77E1-8E97-2D3312642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B3CAA-B157-4330-2AE0-21E1DACA2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B0075-B554-4150-818F-275CFE756E2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36F94-14AF-188B-F879-5645145C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B890A-1435-206F-96C7-00C1A886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A0008-A248-4507-85A6-3D009C693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009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00CF-930B-7A02-8F34-8BDFCEB3E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645907-0D3C-C222-AED6-194C1C57D8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B34D2-E8D1-191B-AE7C-521A0F1DD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561B9-1CDB-C024-F727-7DA9F0F6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B0075-B554-4150-818F-275CFE756E2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CA908-E34B-11D9-36BA-251DED01F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A84B2-7275-6644-BE35-DD87CE0A9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A0008-A248-4507-85A6-3D009C693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167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B2385-0C7B-239C-3DF9-53B7F2ED5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819AB2-2840-8E5D-41A8-78F57FCC2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2361A-EADB-5207-A81D-9FC1F4065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B0075-B554-4150-818F-275CFE756E2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B10B6-91F4-74DD-4FB8-E4E79A3AB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0F4B0-3D1D-4BD2-70F6-89E803B1F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A0008-A248-4507-85A6-3D009C693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331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BF8653-E6AA-08EC-127C-01F7D923E4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009DE-8A09-13DE-2710-7010B0248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7D52A-B504-CEEB-5C8F-725B56170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B0075-B554-4150-818F-275CFE756E2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B987B-AE6B-ED54-107E-898026372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821A0-5FC4-17F0-0E65-65B03E3D3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A0008-A248-4507-85A6-3D009C693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87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8D58C4-342E-0473-1EC9-BBE61BF2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8E7CD-F657-D958-E157-3D87EEA44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7F5F9-0A05-E895-5AFE-1ADEF14A20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B0075-B554-4150-818F-275CFE756E26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07F32-E2A3-7E1D-C988-C373F29D2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2B76F-1C18-CBC3-8353-A95E9873E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A0008-A248-4507-85A6-3D009C693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2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45CC0-AB88-FD26-FCDC-924014E636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MS-FABRIC</a:t>
            </a:r>
          </a:p>
        </p:txBody>
      </p:sp>
    </p:spTree>
    <p:extLst>
      <p:ext uri="{BB962C8B-B14F-4D97-AF65-F5344CB8AC3E}">
        <p14:creationId xmlns:p14="http://schemas.microsoft.com/office/powerpoint/2010/main" val="3312037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23009-9DDF-4ED7-2350-DB95A9DC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Microsoft Fabric (MS Fabric)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27A1C-F39D-F908-849C-B3C9936CF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790" y="1337252"/>
            <a:ext cx="11762509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🔷 What is Microsoft Fabric?</a:t>
            </a:r>
          </a:p>
          <a:p>
            <a:r>
              <a:rPr lang="en-IN" b="1" dirty="0"/>
              <a:t>Microsoft Fabric</a:t>
            </a:r>
            <a:r>
              <a:rPr lang="en-IN" dirty="0"/>
              <a:t> is an </a:t>
            </a:r>
            <a:r>
              <a:rPr lang="en-IN" b="1" dirty="0"/>
              <a:t>end-to-end data &amp; analytics platform</a:t>
            </a:r>
            <a:r>
              <a:rPr lang="en-IN" dirty="0"/>
              <a:t> from Microsoft that brings </a:t>
            </a:r>
            <a:r>
              <a:rPr lang="en-IN" b="1" dirty="0"/>
              <a:t>data engineering, data science, data warehousing, real-time analytics, and Power BI</a:t>
            </a:r>
            <a:r>
              <a:rPr lang="en-IN" dirty="0"/>
              <a:t> into </a:t>
            </a:r>
            <a:r>
              <a:rPr lang="en-IN" b="1" dirty="0"/>
              <a:t>one unified SaaS platform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👉 </a:t>
            </a:r>
            <a:r>
              <a:rPr lang="en-IN" b="1" dirty="0"/>
              <a:t>One platform for the entire data lifecycle</a:t>
            </a:r>
          </a:p>
          <a:p>
            <a:endParaRPr lang="en-IN" b="1" dirty="0"/>
          </a:p>
          <a:p>
            <a:pPr marL="0" indent="0">
              <a:buNone/>
            </a:pPr>
            <a:r>
              <a:rPr lang="en-US" b="1" dirty="0"/>
              <a:t>Key Idea of Microsoft Fabric</a:t>
            </a:r>
          </a:p>
          <a:p>
            <a:r>
              <a:rPr lang="en-US" b="1" dirty="0"/>
              <a:t>🧠 “</a:t>
            </a:r>
            <a:r>
              <a:rPr lang="en-US" b="1" dirty="0" err="1"/>
              <a:t>OneLake</a:t>
            </a:r>
            <a:r>
              <a:rPr lang="en-US" b="1" dirty="0"/>
              <a:t> + One Platform + One Security + One Billing”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8419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979D2-A9C7-12F1-3372-7E39A750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227" y="2766218"/>
            <a:ext cx="10515600" cy="1325563"/>
          </a:xfrm>
        </p:spPr>
        <p:txBody>
          <a:bodyPr/>
          <a:lstStyle/>
          <a:p>
            <a:r>
              <a:rPr lang="en-IN" b="1" dirty="0"/>
              <a:t>Microsoft Fabric – Architecture (End-to-End)</a:t>
            </a:r>
          </a:p>
        </p:txBody>
      </p:sp>
    </p:spTree>
    <p:extLst>
      <p:ext uri="{BB962C8B-B14F-4D97-AF65-F5344CB8AC3E}">
        <p14:creationId xmlns:p14="http://schemas.microsoft.com/office/powerpoint/2010/main" val="3431762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E8E1-DABE-BEE9-301E-4F9E8FEE7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20882"/>
          </a:xfrm>
        </p:spPr>
        <p:txBody>
          <a:bodyPr/>
          <a:lstStyle/>
          <a:p>
            <a:r>
              <a:rPr lang="en-IN" dirty="0"/>
              <a:t>High-Level Architecture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27AC1-2528-24CB-BDED-2A9EC3935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963" y="1119043"/>
            <a:ext cx="10515600" cy="4351338"/>
          </a:xfrm>
        </p:spPr>
        <p:txBody>
          <a:bodyPr/>
          <a:lstStyle/>
          <a:p>
            <a:r>
              <a:rPr lang="en-US" dirty="0"/>
              <a:t>Microsoft Fabric is built on </a:t>
            </a:r>
            <a:r>
              <a:rPr lang="en-US" b="1" dirty="0"/>
              <a:t>three core pillars</a:t>
            </a:r>
            <a:r>
              <a:rPr lang="en-US" dirty="0"/>
              <a:t>:</a:t>
            </a:r>
          </a:p>
          <a:p>
            <a:r>
              <a:rPr lang="en-US" b="1" dirty="0"/>
              <a:t>Unified Compute + Unified Storage + Unified Experience</a:t>
            </a:r>
            <a:endParaRPr lang="en-US" dirty="0"/>
          </a:p>
          <a:p>
            <a:r>
              <a:rPr lang="en-US" dirty="0"/>
              <a:t>At the center of everything is </a:t>
            </a:r>
            <a:r>
              <a:rPr lang="en-US" b="1" dirty="0" err="1"/>
              <a:t>OneLake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3163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B798F800-E805-74E3-4539-17DB7E9058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 descr="A computer screen shot of a computer">
            <a:extLst>
              <a:ext uri="{FF2B5EF4-FFF2-40B4-BE49-F238E27FC236}">
                <a16:creationId xmlns:a16="http://schemas.microsoft.com/office/drawing/2014/main" id="{54BF4644-1846-A655-21FD-1F06CB5EA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53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E17BF-F98C-F928-9CD5-D219E1ADC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1. Data Sources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81315-3C16-EB33-83BC-1B8FED965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36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Fabric connects to multiple enterprise and cloud sources:</a:t>
            </a:r>
          </a:p>
          <a:p>
            <a:r>
              <a:rPr lang="en-IN" dirty="0"/>
              <a:t>Databases (SQL Server, Oracle, MySQL, PostgreSQL)</a:t>
            </a:r>
          </a:p>
          <a:p>
            <a:r>
              <a:rPr lang="en-IN" dirty="0"/>
              <a:t>Cloud data (Azure SQL, ADLS, AWS S3, GCP)</a:t>
            </a:r>
          </a:p>
          <a:p>
            <a:r>
              <a:rPr lang="en-IN" dirty="0"/>
              <a:t>SaaS apps (Salesforce, SAP, Dynamics)</a:t>
            </a:r>
          </a:p>
          <a:p>
            <a:r>
              <a:rPr lang="en-IN" dirty="0"/>
              <a:t>Streaming sources (Event Hub, IoT, Kafka)</a:t>
            </a:r>
          </a:p>
          <a:p>
            <a:r>
              <a:rPr lang="en-IN" dirty="0"/>
              <a:t>Files (CSV, JSON, Parquet)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2864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AC21-B88D-8AE7-FC82-5BB3CBA91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2. Data Ingestion Layer – Fabric Data Factory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3962C-3B19-34E4-93FD-B9F2302BC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09" y="1144588"/>
            <a:ext cx="10515600" cy="4351338"/>
          </a:xfrm>
        </p:spPr>
        <p:txBody>
          <a:bodyPr/>
          <a:lstStyle/>
          <a:p>
            <a:r>
              <a:rPr lang="en-IN" b="1" dirty="0"/>
              <a:t>Fabric Data Factory (SaaS version of ADF)</a:t>
            </a:r>
            <a:endParaRPr lang="en-IN" dirty="0"/>
          </a:p>
          <a:p>
            <a:r>
              <a:rPr lang="en-IN" dirty="0"/>
              <a:t>Pipelines (ETL / ELT)</a:t>
            </a:r>
          </a:p>
          <a:p>
            <a:r>
              <a:rPr lang="en-IN" dirty="0"/>
              <a:t>Copy activities</a:t>
            </a:r>
          </a:p>
          <a:p>
            <a:r>
              <a:rPr lang="en-IN" dirty="0"/>
              <a:t>Dataflows Gen2 (low-code ingestion)</a:t>
            </a:r>
          </a:p>
          <a:p>
            <a:r>
              <a:rPr lang="en-IN" dirty="0"/>
              <a:t>Streaming ingestion</a:t>
            </a:r>
          </a:p>
          <a:p>
            <a:r>
              <a:rPr lang="en-IN" dirty="0"/>
              <a:t>📌 Data is ingested </a:t>
            </a:r>
            <a:r>
              <a:rPr lang="en-IN" b="1" dirty="0"/>
              <a:t>directly into </a:t>
            </a:r>
            <a:r>
              <a:rPr lang="en-IN" b="1" dirty="0" err="1"/>
              <a:t>OneLake</a:t>
            </a:r>
            <a:br>
              <a:rPr lang="en-IN" dirty="0"/>
            </a:br>
            <a:r>
              <a:rPr lang="en-IN" dirty="0"/>
              <a:t>📌 No separate storage per service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210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6AF07-40C5-18F2-71A6-F0F56D919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7401"/>
            <a:ext cx="11918373" cy="563636"/>
          </a:xfrm>
        </p:spPr>
        <p:txBody>
          <a:bodyPr>
            <a:normAutofit fontScale="90000"/>
          </a:bodyPr>
          <a:lstStyle/>
          <a:p>
            <a:r>
              <a:rPr lang="en-US" dirty="0"/>
              <a:t>3. Unified Storage Layer – </a:t>
            </a:r>
            <a:r>
              <a:rPr lang="en-US" dirty="0" err="1"/>
              <a:t>OneLake</a:t>
            </a:r>
            <a:r>
              <a:rPr lang="en-US" dirty="0"/>
              <a:t> (Heart of Fabric)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24B4D-9578-4057-4BD5-ED48C9CDB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355" y="1253331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err="1"/>
              <a:t>OneLake</a:t>
            </a:r>
            <a:r>
              <a:rPr lang="en-IN" b="1" dirty="0"/>
              <a:t> = OneDrive for Data</a:t>
            </a:r>
            <a:endParaRPr lang="en-IN" dirty="0"/>
          </a:p>
          <a:p>
            <a:r>
              <a:rPr lang="en-IN" dirty="0"/>
              <a:t>Single, logical data lake for all workloads</a:t>
            </a:r>
          </a:p>
          <a:p>
            <a:r>
              <a:rPr lang="en-IN" dirty="0"/>
              <a:t>Stores data in </a:t>
            </a:r>
            <a:r>
              <a:rPr lang="en-IN" b="1" dirty="0"/>
              <a:t>open formats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Delta Lake</a:t>
            </a:r>
          </a:p>
          <a:p>
            <a:pPr lvl="1"/>
            <a:r>
              <a:rPr lang="en-IN" dirty="0"/>
              <a:t>Parquet</a:t>
            </a:r>
          </a:p>
          <a:p>
            <a:r>
              <a:rPr lang="en-IN" dirty="0"/>
              <a:t>One copy of data – </a:t>
            </a:r>
            <a:r>
              <a:rPr lang="en-IN" b="1" dirty="0"/>
              <a:t>no duplication</a:t>
            </a:r>
            <a:endParaRPr lang="en-IN" dirty="0"/>
          </a:p>
          <a:p>
            <a:r>
              <a:rPr lang="en-IN" dirty="0"/>
              <a:t>Data is organized into:</a:t>
            </a:r>
          </a:p>
          <a:p>
            <a:pPr lvl="1"/>
            <a:r>
              <a:rPr lang="en-IN" dirty="0" err="1"/>
              <a:t>Lakehouses</a:t>
            </a:r>
            <a:endParaRPr lang="en-IN" dirty="0"/>
          </a:p>
          <a:p>
            <a:pPr lvl="1"/>
            <a:r>
              <a:rPr lang="en-IN" dirty="0"/>
              <a:t>Warehouses</a:t>
            </a:r>
          </a:p>
          <a:p>
            <a:pPr lvl="1"/>
            <a:r>
              <a:rPr lang="en-IN" dirty="0"/>
              <a:t>KQL Databases</a:t>
            </a:r>
          </a:p>
          <a:p>
            <a:r>
              <a:rPr lang="en-IN" dirty="0"/>
              <a:t>✔ Shared by all Fabric services</a:t>
            </a:r>
            <a:br>
              <a:rPr lang="en-IN" dirty="0"/>
            </a:br>
            <a:r>
              <a:rPr lang="en-IN" dirty="0"/>
              <a:t>✔ Built-in security &amp; governance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8964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D77CC-E8E0-920D-15AC-23F6C1E6A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22072"/>
          </a:xfrm>
        </p:spPr>
        <p:txBody>
          <a:bodyPr>
            <a:normAutofit fontScale="90000"/>
          </a:bodyPr>
          <a:lstStyle/>
          <a:p>
            <a:r>
              <a:rPr lang="en-US" dirty="0"/>
              <a:t>4. Data Processing &amp; Analytics Layer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880D0-1974-112B-90B6-991B2CCF7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27" y="890443"/>
            <a:ext cx="10515600" cy="584286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All analytics engines work </a:t>
            </a:r>
            <a:r>
              <a:rPr lang="en-IN" b="1" dirty="0"/>
              <a:t>on the same </a:t>
            </a:r>
            <a:r>
              <a:rPr lang="en-IN" b="1" dirty="0" err="1"/>
              <a:t>OneLake</a:t>
            </a:r>
            <a:r>
              <a:rPr lang="en-IN" b="1" dirty="0"/>
              <a:t> data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a) Data Engineering</a:t>
            </a:r>
          </a:p>
          <a:p>
            <a:r>
              <a:rPr lang="en-IN" dirty="0"/>
              <a:t>Apache Spark (serverless)</a:t>
            </a:r>
          </a:p>
          <a:p>
            <a:r>
              <a:rPr lang="en-IN" dirty="0"/>
              <a:t>Notebooks (PySpark, SQL, Scala)</a:t>
            </a:r>
          </a:p>
          <a:p>
            <a:r>
              <a:rPr lang="en-IN" dirty="0"/>
              <a:t>ELT transformations</a:t>
            </a:r>
          </a:p>
          <a:p>
            <a:pPr marL="0" indent="0">
              <a:buNone/>
            </a:pPr>
            <a:r>
              <a:rPr lang="en-IN" b="1" dirty="0"/>
              <a:t>b) Data Warehousing</a:t>
            </a:r>
          </a:p>
          <a:p>
            <a:r>
              <a:rPr lang="en-IN" dirty="0"/>
              <a:t>Fabric Warehouse (T-SQL)</a:t>
            </a:r>
          </a:p>
          <a:p>
            <a:r>
              <a:rPr lang="en-IN" dirty="0"/>
              <a:t>Optimized for BI &amp; reporting</a:t>
            </a:r>
          </a:p>
          <a:p>
            <a:r>
              <a:rPr lang="en-IN" dirty="0"/>
              <a:t>No data movement from </a:t>
            </a:r>
            <a:r>
              <a:rPr lang="en-IN" dirty="0" err="1"/>
              <a:t>OneLake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c) Real-Time Analytics</a:t>
            </a:r>
          </a:p>
          <a:p>
            <a:r>
              <a:rPr lang="en-IN" dirty="0"/>
              <a:t>KQL Database</a:t>
            </a:r>
          </a:p>
          <a:p>
            <a:r>
              <a:rPr lang="en-IN" dirty="0"/>
              <a:t>Time-series &amp; streaming analytics</a:t>
            </a:r>
          </a:p>
          <a:p>
            <a:r>
              <a:rPr lang="en-IN" dirty="0"/>
              <a:t>Log &amp; event data</a:t>
            </a:r>
          </a:p>
          <a:p>
            <a:pPr marL="0" indent="0">
              <a:buNone/>
            </a:pPr>
            <a:r>
              <a:rPr lang="en-IN" b="1" dirty="0"/>
              <a:t>d) Data Science</a:t>
            </a:r>
          </a:p>
          <a:p>
            <a:r>
              <a:rPr lang="en-IN" dirty="0"/>
              <a:t>ML notebooks</a:t>
            </a:r>
          </a:p>
          <a:p>
            <a:r>
              <a:rPr lang="en-IN" dirty="0"/>
              <a:t>Model training &amp; experimentation</a:t>
            </a:r>
          </a:p>
          <a:p>
            <a:r>
              <a:rPr lang="en-IN" dirty="0"/>
              <a:t>Direct access to </a:t>
            </a:r>
            <a:r>
              <a:rPr lang="en-IN" dirty="0" err="1"/>
              <a:t>OneLake</a:t>
            </a:r>
            <a:r>
              <a:rPr lang="en-IN" dirty="0"/>
              <a:t>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5525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526D7-AD0D-6966-5D57-52D71C3E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84418"/>
          </a:xfrm>
        </p:spPr>
        <p:txBody>
          <a:bodyPr>
            <a:normAutofit fontScale="90000"/>
          </a:bodyPr>
          <a:lstStyle/>
          <a:p>
            <a:r>
              <a:rPr lang="en-US" dirty="0"/>
              <a:t>5. BI &amp; Consumption Layer – Power BI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C595B-0D81-67F6-D003-09D058B65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7" y="1253331"/>
            <a:ext cx="10515600" cy="4351338"/>
          </a:xfrm>
        </p:spPr>
        <p:txBody>
          <a:bodyPr/>
          <a:lstStyle/>
          <a:p>
            <a:r>
              <a:rPr lang="en-IN" dirty="0"/>
              <a:t>Power BI is </a:t>
            </a:r>
            <a:r>
              <a:rPr lang="en-IN" b="1" dirty="0"/>
              <a:t>natively embedded</a:t>
            </a:r>
            <a:endParaRPr lang="en-IN" dirty="0"/>
          </a:p>
          <a:p>
            <a:r>
              <a:rPr lang="en-IN" dirty="0"/>
              <a:t>Uses </a:t>
            </a:r>
            <a:r>
              <a:rPr lang="en-IN" b="1" dirty="0"/>
              <a:t>Direct Lake mode</a:t>
            </a:r>
            <a:endParaRPr lang="en-IN" dirty="0"/>
          </a:p>
          <a:p>
            <a:pPr lvl="1"/>
            <a:r>
              <a:rPr lang="en-IN" dirty="0"/>
              <a:t>No import</a:t>
            </a:r>
          </a:p>
          <a:p>
            <a:pPr lvl="1"/>
            <a:r>
              <a:rPr lang="en-IN" dirty="0"/>
              <a:t>No refresh</a:t>
            </a:r>
          </a:p>
          <a:p>
            <a:pPr lvl="1"/>
            <a:r>
              <a:rPr lang="en-IN" dirty="0"/>
              <a:t>Reads Delta tables directly from </a:t>
            </a:r>
            <a:r>
              <a:rPr lang="en-IN" dirty="0" err="1"/>
              <a:t>OneLake</a:t>
            </a:r>
            <a:endParaRPr lang="en-IN" dirty="0"/>
          </a:p>
          <a:p>
            <a:r>
              <a:rPr lang="en-IN" dirty="0"/>
              <a:t>Ultra-fast performance</a:t>
            </a:r>
          </a:p>
          <a:p>
            <a:r>
              <a:rPr lang="en-IN" dirty="0"/>
              <a:t>📊 Dashboards, reports, semantic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382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2EDBE-95BA-3F7A-BF6D-F368C6F3D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6. Governance &amp; Security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410D1-1125-1B8A-6B84-00CBF8A2A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81" y="1162843"/>
            <a:ext cx="10515600" cy="4351338"/>
          </a:xfrm>
        </p:spPr>
        <p:txBody>
          <a:bodyPr/>
          <a:lstStyle/>
          <a:p>
            <a:r>
              <a:rPr lang="en-US" dirty="0"/>
              <a:t>Built-in, not bolt-on:</a:t>
            </a:r>
          </a:p>
          <a:p>
            <a:r>
              <a:rPr lang="en-US" dirty="0"/>
              <a:t>Microsoft Purview</a:t>
            </a:r>
          </a:p>
          <a:p>
            <a:pPr lvl="1"/>
            <a:r>
              <a:rPr lang="en-US" dirty="0"/>
              <a:t>Data lineage</a:t>
            </a:r>
          </a:p>
          <a:p>
            <a:pPr lvl="1"/>
            <a:r>
              <a:rPr lang="en-US" dirty="0"/>
              <a:t>Catalog</a:t>
            </a:r>
          </a:p>
          <a:p>
            <a:pPr lvl="1"/>
            <a:r>
              <a:rPr lang="en-US" dirty="0"/>
              <a:t>Sensitivity labels</a:t>
            </a:r>
          </a:p>
          <a:p>
            <a:r>
              <a:rPr lang="en-US" dirty="0"/>
              <a:t>Azure AD authentication</a:t>
            </a:r>
          </a:p>
          <a:p>
            <a:r>
              <a:rPr lang="en-US" dirty="0"/>
              <a:t>RBAC &amp; workspace security</a:t>
            </a:r>
          </a:p>
          <a:p>
            <a:r>
              <a:rPr lang="en-US" dirty="0"/>
              <a:t>Auditing &amp; compliance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3812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C3402-8DB8-D09A-35C4-690023D57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7. SaaS Platform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F366B-E1BC-8834-F33F-861DD9FEE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Fabric is fully </a:t>
            </a:r>
            <a:r>
              <a:rPr lang="en-US" b="1" dirty="0"/>
              <a:t>SaaS-managed by Microsoft</a:t>
            </a:r>
            <a:r>
              <a:rPr lang="en-US" dirty="0"/>
              <a:t>:</a:t>
            </a:r>
          </a:p>
          <a:p>
            <a:r>
              <a:rPr lang="en-US" dirty="0"/>
              <a:t>Auto-scaling</a:t>
            </a:r>
          </a:p>
          <a:p>
            <a:r>
              <a:rPr lang="en-US" dirty="0"/>
              <a:t>Auto-patching</a:t>
            </a:r>
          </a:p>
          <a:p>
            <a:r>
              <a:rPr lang="en-US" dirty="0"/>
              <a:t>High availability</a:t>
            </a:r>
          </a:p>
          <a:p>
            <a:r>
              <a:rPr lang="en-US" dirty="0"/>
              <a:t>Capacity-based pricing (F-SKUs)</a:t>
            </a:r>
          </a:p>
          <a:p>
            <a:r>
              <a:rPr lang="en-US" dirty="0"/>
              <a:t>Single billing model for all workloads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2905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0F5A-E786-8FFD-0E17-7CAEF8FB3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0CFB4-62E5-F103-A592-F36F7186D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Data Sources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Fabric Data Factory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 err="1"/>
              <a:t>OneLake</a:t>
            </a:r>
            <a:r>
              <a:rPr lang="en-IN" dirty="0"/>
              <a:t> (Single Storage – Delta/Parquet)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Spark | Warehouse | KQL | ML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Power BI (Direct Lake)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Business Users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9322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57084-A71A-DC7D-A17D-2AF8B15F2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640734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Microsoft Fabric Architecture</a:t>
            </a:r>
            <a:br>
              <a:rPr lang="en-US" b="1" dirty="0"/>
            </a:br>
            <a:r>
              <a:rPr lang="en-US" b="1" dirty="0"/>
              <a:t>(Compute • Storage • Networking)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6780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2DE4D-601F-39F7-B54B-C864D1ADA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it-IT" dirty="0"/>
              <a:t>1️⃣ COMPUTE IN MICROSOFT FABRIC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3527B-C2C1-87FD-48E3-98617F286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72834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What is Fabric Compute?</a:t>
            </a:r>
          </a:p>
          <a:p>
            <a:r>
              <a:rPr lang="en-US" dirty="0"/>
              <a:t>Fabric compute is </a:t>
            </a:r>
            <a:r>
              <a:rPr lang="en-US" b="1" dirty="0"/>
              <a:t>fully managed, serverless, capacity-based compute</a:t>
            </a:r>
            <a:r>
              <a:rPr lang="en-US" dirty="0"/>
              <a:t> provided by Microsoft.</a:t>
            </a:r>
          </a:p>
          <a:p>
            <a:r>
              <a:rPr lang="en-US" dirty="0"/>
              <a:t>Microsoft Fabric uses serverless, capacity-based compute shared across all analytics workloads.</a:t>
            </a:r>
          </a:p>
          <a:p>
            <a:pPr marL="0" indent="0">
              <a:buNone/>
            </a:pPr>
            <a:r>
              <a:rPr lang="en-US" dirty="0"/>
              <a:t> You </a:t>
            </a:r>
            <a:r>
              <a:rPr lang="en-US" b="1" dirty="0"/>
              <a:t>do not create VMs, clusters, or nodes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Compute Types in Fabric </a:t>
            </a:r>
          </a:p>
          <a:p>
            <a:pPr marL="0" indent="0">
              <a:buNone/>
            </a:pPr>
            <a:r>
              <a:rPr lang="en-US" dirty="0"/>
              <a:t>All compute runs on </a:t>
            </a:r>
            <a:r>
              <a:rPr lang="en-US" b="1" dirty="0"/>
              <a:t>Fabric Capacity (F SKUs)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914E1F-8BF2-6E63-0D01-947EACA5F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403899"/>
              </p:ext>
            </p:extLst>
          </p:nvPr>
        </p:nvGraphicFramePr>
        <p:xfrm>
          <a:off x="277091" y="4545778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8907357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80166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Fabric Workload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Compute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573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Engineering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Apache Spark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044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Warehouse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SQL Analytics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391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KQL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765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Science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Spark / 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213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VertiPaq</a:t>
                      </a:r>
                      <a:r>
                        <a:rPr lang="en-IN" dirty="0"/>
                        <a:t> / Analysis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275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8448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B166F-D3EF-97F0-3B22-04CA2768D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490900"/>
          </a:xfrm>
        </p:spPr>
        <p:txBody>
          <a:bodyPr>
            <a:normAutofit fontScale="90000"/>
          </a:bodyPr>
          <a:lstStyle/>
          <a:p>
            <a:r>
              <a:rPr lang="en-IN" dirty="0"/>
              <a:t>2️⃣ STORAGE IN MICROSOFT FABRIC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DAD3A-D3AC-C6B2-B8D8-434EE7670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572" y="1056698"/>
            <a:ext cx="10515600" cy="4351338"/>
          </a:xfrm>
        </p:spPr>
        <p:txBody>
          <a:bodyPr/>
          <a:lstStyle/>
          <a:p>
            <a:r>
              <a:rPr lang="en-US" b="1" dirty="0"/>
              <a:t>🗄️ </a:t>
            </a:r>
            <a:r>
              <a:rPr lang="en-US" b="1" dirty="0" err="1"/>
              <a:t>OneLake</a:t>
            </a:r>
            <a:r>
              <a:rPr lang="en-US" b="1" dirty="0"/>
              <a:t> (Central Storage)</a:t>
            </a:r>
          </a:p>
          <a:p>
            <a:r>
              <a:rPr lang="en-US" dirty="0" err="1"/>
              <a:t>OneLake</a:t>
            </a:r>
            <a:r>
              <a:rPr lang="en-US" dirty="0"/>
              <a:t> is a single, centralized data lake that stores all Fabric data and is shared across workloads.</a:t>
            </a:r>
            <a:endParaRPr lang="en-US" b="1" dirty="0"/>
          </a:p>
          <a:p>
            <a:r>
              <a:rPr lang="en-US" b="1" dirty="0" err="1"/>
              <a:t>OneLake</a:t>
            </a:r>
            <a:r>
              <a:rPr lang="en-US" dirty="0"/>
              <a:t> is the </a:t>
            </a:r>
            <a:r>
              <a:rPr lang="en-US" b="1" dirty="0"/>
              <a:t>single, unified storage layer</a:t>
            </a:r>
            <a:r>
              <a:rPr lang="en-US" dirty="0"/>
              <a:t> in Fabric.</a:t>
            </a:r>
          </a:p>
          <a:p>
            <a:r>
              <a:rPr lang="en-US" dirty="0"/>
              <a:t>Built on </a:t>
            </a:r>
            <a:r>
              <a:rPr lang="en-US" b="1" dirty="0"/>
              <a:t>Azure Data Lake Storage Gen2</a:t>
            </a:r>
            <a:endParaRPr lang="en-US" dirty="0"/>
          </a:p>
          <a:p>
            <a:r>
              <a:rPr lang="en-US" dirty="0"/>
              <a:t>Stores data in </a:t>
            </a:r>
            <a:r>
              <a:rPr lang="en-US" b="1" dirty="0"/>
              <a:t>Delta / Parquet format</a:t>
            </a:r>
            <a:endParaRPr lang="en-US" dirty="0"/>
          </a:p>
          <a:p>
            <a:r>
              <a:rPr lang="en-US" dirty="0"/>
              <a:t>One copy of data</a:t>
            </a:r>
          </a:p>
          <a:p>
            <a:r>
              <a:rPr lang="en-US" dirty="0"/>
              <a:t>Shared across all workloads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2347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4C498-F68A-52E3-2A8D-501670BED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3️⃣ NETWORKING IN MICROSOFT FABRIC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4DD20-AAE5-0B72-EA82-6FF751E6A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25333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🌐 Fabric Networking Model</a:t>
            </a:r>
          </a:p>
          <a:p>
            <a:r>
              <a:rPr lang="en-IN" dirty="0"/>
              <a:t>Fabric is </a:t>
            </a:r>
            <a:r>
              <a:rPr lang="en-IN" b="1" dirty="0"/>
              <a:t>SaaS-based</a:t>
            </a:r>
            <a:r>
              <a:rPr lang="en-IN" dirty="0"/>
              <a:t>, so networking is </a:t>
            </a:r>
            <a:r>
              <a:rPr lang="en-IN" b="1" dirty="0"/>
              <a:t>abstracted</a:t>
            </a:r>
            <a:r>
              <a:rPr lang="en-IN" dirty="0"/>
              <a:t> from users.</a:t>
            </a:r>
          </a:p>
          <a:p>
            <a:pPr marL="0" indent="0">
              <a:buNone/>
            </a:pPr>
            <a:r>
              <a:rPr lang="en-IN" dirty="0"/>
              <a:t>👉 No VNET, subnet, or NSG configuration needed.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How Networking Works</a:t>
            </a:r>
          </a:p>
          <a:p>
            <a:r>
              <a:rPr lang="en-IN" dirty="0"/>
              <a:t>Microsoft-managed backbone network</a:t>
            </a:r>
          </a:p>
          <a:p>
            <a:r>
              <a:rPr lang="en-IN" dirty="0"/>
              <a:t>Secure service-to-service communication</a:t>
            </a:r>
          </a:p>
          <a:p>
            <a:r>
              <a:rPr lang="en-IN" dirty="0"/>
              <a:t>Encrypted data in transit (HTTPS/TLS)</a:t>
            </a:r>
          </a:p>
          <a:p>
            <a:r>
              <a:rPr lang="en-IN" dirty="0"/>
              <a:t>Microsoft-controlled endpoints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8909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AC78-6C33-06D8-7CE4-75FBF955E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4️⃣ COMPUTE + STORAGE + NETWORK 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7B27F-A8A4-4E06-99BE-88DF5795D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873" y="125333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Source Systems</a:t>
            </a:r>
          </a:p>
          <a:p>
            <a:pPr marL="0" indent="0">
              <a:buNone/>
            </a:pPr>
            <a:r>
              <a:rPr lang="en-US" dirty="0"/>
              <a:t>   ↓ (Secure Network)</a:t>
            </a:r>
          </a:p>
          <a:p>
            <a:pPr marL="0" indent="0">
              <a:buNone/>
            </a:pPr>
            <a:r>
              <a:rPr lang="en-US" dirty="0"/>
              <a:t>Fabric Data Factory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 err="1"/>
              <a:t>OneLake</a:t>
            </a:r>
            <a:r>
              <a:rPr lang="en-US" dirty="0"/>
              <a:t> (Storage)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Fabric Compute Engines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Power BI / Consumers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5449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EAA80-57C6-CBE5-8754-B50DC47C3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5️⃣ COMPARISON WITH TRADITIONAL AZURE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FF9511-CF5E-3D98-451B-D7C3B4FB80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9408736"/>
              </p:ext>
            </p:extLst>
          </p:nvPr>
        </p:nvGraphicFramePr>
        <p:xfrm>
          <a:off x="256309" y="1688278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2201847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075105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520291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highlight>
                            <a:srgbClr val="FFFF00"/>
                          </a:highlight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highlight>
                            <a:srgbClr val="FFFF00"/>
                          </a:highlight>
                        </a:rPr>
                        <a:t>Traditional 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highlight>
                            <a:srgbClr val="FFFF00"/>
                          </a:highlight>
                        </a:rPr>
                        <a:t>Microsoft Fabric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445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VM / Cluster-based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Serverless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101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ADLS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OneLake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080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Networking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VNETs, NSGs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Fully managed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500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116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Capacity-based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030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139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0ED35-8FCD-7D7C-775F-9615D76F1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574027"/>
          </a:xfrm>
        </p:spPr>
        <p:txBody>
          <a:bodyPr>
            <a:normAutofit fontScale="90000"/>
          </a:bodyPr>
          <a:lstStyle/>
          <a:p>
            <a:r>
              <a:rPr lang="en-IN" dirty="0"/>
              <a:t>Key Architecture Benefits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D209B3-3BDE-C53E-0369-2B3FAF312B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No infra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No data duplication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One security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Faster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Lower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End-to-end lineage</a:t>
            </a:r>
          </a:p>
        </p:txBody>
      </p:sp>
    </p:spTree>
    <p:extLst>
      <p:ext uri="{BB962C8B-B14F-4D97-AF65-F5344CB8AC3E}">
        <p14:creationId xmlns:p14="http://schemas.microsoft.com/office/powerpoint/2010/main" val="1473958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64496-CBDD-4CA0-A1B0-C0C7378F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77" y="2766218"/>
            <a:ext cx="11530445" cy="1325563"/>
          </a:xfrm>
        </p:spPr>
        <p:txBody>
          <a:bodyPr/>
          <a:lstStyle/>
          <a:p>
            <a:r>
              <a:rPr lang="en-IN" dirty="0"/>
              <a:t>Microsoft Fabric vs Traditional Azure Data Services</a:t>
            </a:r>
          </a:p>
        </p:txBody>
      </p:sp>
    </p:spTree>
    <p:extLst>
      <p:ext uri="{BB962C8B-B14F-4D97-AF65-F5344CB8AC3E}">
        <p14:creationId xmlns:p14="http://schemas.microsoft.com/office/powerpoint/2010/main" val="505339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8D81-0814-7376-E276-101A07B7B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480509"/>
          </a:xfrm>
        </p:spPr>
        <p:txBody>
          <a:bodyPr>
            <a:normAutofit fontScale="90000"/>
          </a:bodyPr>
          <a:lstStyle/>
          <a:p>
            <a:r>
              <a:rPr lang="en-IN" dirty="0"/>
              <a:t>Traditional Data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C8FF8-6CF1-5B4F-F432-90F481107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782" y="1253331"/>
            <a:ext cx="10515600" cy="558641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Sources</a:t>
            </a:r>
          </a:p>
          <a:p>
            <a:pPr marL="0" indent="0">
              <a:buNone/>
            </a:pPr>
            <a:r>
              <a:rPr lang="en-IN" dirty="0"/>
              <a:t>  ↓</a:t>
            </a:r>
          </a:p>
          <a:p>
            <a:pPr marL="0" indent="0">
              <a:buNone/>
            </a:pPr>
            <a:r>
              <a:rPr lang="en-IN" dirty="0"/>
              <a:t>Azure Data Factory</a:t>
            </a:r>
          </a:p>
          <a:p>
            <a:pPr marL="0" indent="0">
              <a:buNone/>
            </a:pPr>
            <a:r>
              <a:rPr lang="en-IN" dirty="0"/>
              <a:t>  ↓</a:t>
            </a:r>
          </a:p>
          <a:p>
            <a:pPr marL="0" indent="0">
              <a:buNone/>
            </a:pPr>
            <a:r>
              <a:rPr lang="en-IN" dirty="0"/>
              <a:t>ADLS Gen2</a:t>
            </a:r>
          </a:p>
          <a:p>
            <a:pPr marL="0" indent="0">
              <a:buNone/>
            </a:pPr>
            <a:r>
              <a:rPr lang="en-IN" dirty="0"/>
              <a:t>  ↓</a:t>
            </a:r>
          </a:p>
          <a:p>
            <a:pPr marL="0" indent="0">
              <a:buNone/>
            </a:pPr>
            <a:r>
              <a:rPr lang="en-IN" dirty="0"/>
              <a:t>Databricks / Spark</a:t>
            </a:r>
          </a:p>
          <a:p>
            <a:pPr marL="0" indent="0">
              <a:buNone/>
            </a:pPr>
            <a:r>
              <a:rPr lang="en-IN" dirty="0"/>
              <a:t>  ↓</a:t>
            </a:r>
          </a:p>
          <a:p>
            <a:pPr marL="0" indent="0">
              <a:buNone/>
            </a:pPr>
            <a:r>
              <a:rPr lang="en-IN" dirty="0"/>
              <a:t>Synapse SQL</a:t>
            </a:r>
          </a:p>
          <a:p>
            <a:pPr marL="0" indent="0">
              <a:buNone/>
            </a:pPr>
            <a:r>
              <a:rPr lang="en-IN" dirty="0"/>
              <a:t>  ↓</a:t>
            </a:r>
          </a:p>
          <a:p>
            <a:pPr marL="0" indent="0">
              <a:buNone/>
            </a:pPr>
            <a:r>
              <a:rPr lang="en-IN" dirty="0"/>
              <a:t>Power BI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❌ Multiple tools</a:t>
            </a:r>
            <a:br>
              <a:rPr lang="en-US" dirty="0"/>
            </a:br>
            <a:r>
              <a:rPr lang="en-US" dirty="0"/>
              <a:t>❌ Data movement between services</a:t>
            </a:r>
            <a:br>
              <a:rPr lang="en-US" dirty="0"/>
            </a:br>
            <a:r>
              <a:rPr lang="en-US" dirty="0"/>
              <a:t>❌ Complex security &amp; governance</a:t>
            </a:r>
            <a:br>
              <a:rPr lang="en-US" dirty="0"/>
            </a:br>
            <a:r>
              <a:rPr lang="en-US" dirty="0"/>
              <a:t>❌ Higher operational overhead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3690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4870-9447-FFFD-D847-0BC58B585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🚀 Microsoft Fabric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0C61E-80F3-C2A7-6798-D6B8869A7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921615"/>
            <a:ext cx="10515600" cy="56766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Sources</a:t>
            </a:r>
          </a:p>
          <a:p>
            <a:pPr marL="0" indent="0">
              <a:buNone/>
            </a:pPr>
            <a:r>
              <a:rPr lang="en-IN" dirty="0"/>
              <a:t>  ↓</a:t>
            </a:r>
          </a:p>
          <a:p>
            <a:pPr marL="0" indent="0">
              <a:buNone/>
            </a:pPr>
            <a:r>
              <a:rPr lang="en-IN" dirty="0"/>
              <a:t>Microsoft Fabric</a:t>
            </a:r>
          </a:p>
          <a:p>
            <a:pPr marL="0" indent="0">
              <a:buNone/>
            </a:pPr>
            <a:r>
              <a:rPr lang="en-IN" dirty="0"/>
              <a:t>  ↓</a:t>
            </a:r>
          </a:p>
          <a:p>
            <a:pPr marL="0" indent="0">
              <a:buNone/>
            </a:pPr>
            <a:r>
              <a:rPr lang="en-IN" dirty="0" err="1"/>
              <a:t>OneLake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↓</a:t>
            </a:r>
          </a:p>
          <a:p>
            <a:pPr marL="0" indent="0">
              <a:buNone/>
            </a:pPr>
            <a:r>
              <a:rPr lang="en-IN" dirty="0"/>
              <a:t>All Analytics Engines</a:t>
            </a:r>
          </a:p>
          <a:p>
            <a:pPr marL="0" indent="0">
              <a:buNone/>
            </a:pPr>
            <a:r>
              <a:rPr lang="en-IN" dirty="0"/>
              <a:t>  ↓</a:t>
            </a:r>
          </a:p>
          <a:p>
            <a:pPr marL="0" indent="0">
              <a:buNone/>
            </a:pPr>
            <a:r>
              <a:rPr lang="en-IN" dirty="0"/>
              <a:t>Power BI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Single platform</a:t>
            </a:r>
            <a:br>
              <a:rPr lang="en-US" dirty="0"/>
            </a:br>
            <a:r>
              <a:rPr lang="en-US" dirty="0"/>
              <a:t>✅ </a:t>
            </a:r>
            <a:r>
              <a:rPr lang="en-US" dirty="0" err="1"/>
              <a:t>OneLake</a:t>
            </a:r>
            <a:r>
              <a:rPr lang="en-US" dirty="0"/>
              <a:t> (single copy of data)</a:t>
            </a:r>
            <a:br>
              <a:rPr lang="en-US" dirty="0"/>
            </a:br>
            <a:r>
              <a:rPr lang="en-US" dirty="0"/>
              <a:t>✅ Unified security &amp; governance</a:t>
            </a:r>
            <a:br>
              <a:rPr lang="en-US" dirty="0"/>
            </a:br>
            <a:r>
              <a:rPr lang="en-US" dirty="0"/>
              <a:t>✅ SaaS-based (less infra management)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3732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132CE-2D31-BCF8-8080-3551407B7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Tool-by-Tool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21CE28-F45A-F65D-A8D3-DEAD03804C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7617572"/>
              </p:ext>
            </p:extLst>
          </p:nvPr>
        </p:nvGraphicFramePr>
        <p:xfrm>
          <a:off x="568037" y="1390490"/>
          <a:ext cx="10515600" cy="480249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7151302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866327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57201549"/>
                    </a:ext>
                  </a:extLst>
                </a:gridCol>
              </a:tblGrid>
              <a:tr h="533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highlight>
                            <a:srgbClr val="FFFF00"/>
                          </a:highlight>
                        </a:rPr>
                        <a:t>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highlight>
                            <a:srgbClr val="FFFF00"/>
                          </a:highlight>
                        </a:rPr>
                        <a:t>Traditional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highlight>
                            <a:srgbClr val="FFFF00"/>
                          </a:highlight>
                        </a:rPr>
                        <a:t>Microsoft Fabric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890793"/>
                  </a:ext>
                </a:extLst>
              </a:tr>
              <a:tr h="533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Ingestion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Data Factory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Fabric Data Factory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964942"/>
                  </a:ext>
                </a:extLst>
              </a:tr>
              <a:tr h="533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ADLS Gen2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OneLake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833218"/>
                  </a:ext>
                </a:extLst>
              </a:tr>
              <a:tr h="533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Databricks / Spark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Fabric Data Engineering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19307"/>
                  </a:ext>
                </a:extLst>
              </a:tr>
              <a:tr h="533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SQL 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Synapse 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Fabric Warehouse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130629"/>
                  </a:ext>
                </a:extLst>
              </a:tr>
              <a:tr h="533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BI (separate)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Built-in Power 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722034"/>
                  </a:ext>
                </a:extLst>
              </a:tr>
              <a:tr h="533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Per-service RBAC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Unified Entra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619058"/>
                  </a:ext>
                </a:extLst>
              </a:tr>
              <a:tr h="533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Governance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/ Purview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Built-in + Purview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332209"/>
                  </a:ext>
                </a:extLst>
              </a:tr>
              <a:tr h="533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Billing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Single capacity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9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76700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BA2F-9C4F-BD5B-BBA9-F30E54CF4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IN" dirty="0"/>
              <a:t>3️⃣ Data Movement &amp; Duplication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B404A-CD9A-769A-2450-572E79DBE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09" y="1534680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❌ Traditional</a:t>
            </a:r>
          </a:p>
          <a:p>
            <a:r>
              <a:rPr lang="en-US" dirty="0"/>
              <a:t>Data copied between services</a:t>
            </a:r>
          </a:p>
          <a:p>
            <a:r>
              <a:rPr lang="en-US" dirty="0"/>
              <a:t>Multiple storage accounts</a:t>
            </a:r>
          </a:p>
          <a:p>
            <a:r>
              <a:rPr lang="en-US" dirty="0"/>
              <a:t>High latency</a:t>
            </a:r>
          </a:p>
          <a:p>
            <a:r>
              <a:rPr lang="en-US" dirty="0"/>
              <a:t>Higher storage cost</a:t>
            </a:r>
          </a:p>
          <a:p>
            <a:r>
              <a:rPr lang="en-US" b="1" dirty="0"/>
              <a:t>✅ Fabric</a:t>
            </a:r>
          </a:p>
          <a:p>
            <a:r>
              <a:rPr lang="en-US" dirty="0"/>
              <a:t>Single data copy in </a:t>
            </a:r>
            <a:r>
              <a:rPr lang="en-US" dirty="0" err="1"/>
              <a:t>OneLake</a:t>
            </a:r>
            <a:endParaRPr lang="en-US" dirty="0"/>
          </a:p>
          <a:p>
            <a:r>
              <a:rPr lang="en-US" dirty="0"/>
              <a:t>Shared across all workloads</a:t>
            </a:r>
          </a:p>
          <a:p>
            <a:r>
              <a:rPr lang="en-US" dirty="0"/>
              <a:t>Zero data movement</a:t>
            </a:r>
          </a:p>
          <a:p>
            <a:r>
              <a:rPr lang="en-US" b="1" dirty="0"/>
              <a:t>Fabric = “Analyze where data lives”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5369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C929A-7017-B1BD-7A42-30EE0111F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4️⃣</a:t>
            </a:r>
            <a:r>
              <a:rPr lang="en-US" b="1" dirty="0"/>
              <a:t> Cost &amp; Billing Model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6F67E-B63C-C698-B98B-7B3E7DF5F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Traditional</a:t>
            </a:r>
          </a:p>
          <a:p>
            <a:r>
              <a:rPr lang="en-US" dirty="0"/>
              <a:t>Pay per service</a:t>
            </a:r>
          </a:p>
          <a:p>
            <a:r>
              <a:rPr lang="en-US" dirty="0"/>
              <a:t>Hard to predict cost</a:t>
            </a:r>
          </a:p>
          <a:p>
            <a:r>
              <a:rPr lang="en-US" dirty="0"/>
              <a:t>Separate billing units</a:t>
            </a:r>
          </a:p>
          <a:p>
            <a:pPr marL="0" indent="0">
              <a:buNone/>
            </a:pPr>
            <a:r>
              <a:rPr lang="en-US" b="1" dirty="0"/>
              <a:t>Fabric</a:t>
            </a:r>
          </a:p>
          <a:p>
            <a:r>
              <a:rPr lang="en-US" b="1" dirty="0"/>
              <a:t>Capacity-based pricing</a:t>
            </a:r>
            <a:endParaRPr lang="en-US" dirty="0"/>
          </a:p>
          <a:p>
            <a:r>
              <a:rPr lang="en-US" dirty="0"/>
              <a:t>Pay for compute</a:t>
            </a:r>
          </a:p>
          <a:p>
            <a:r>
              <a:rPr lang="en-US" dirty="0"/>
              <a:t>Predictable cost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745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2F04-2AE8-3D14-3C15-D07A632F0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IN" dirty="0"/>
              <a:t>5️⃣</a:t>
            </a:r>
            <a:r>
              <a:rPr lang="en-US" b="1" dirty="0"/>
              <a:t>Performance &amp; Productivity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FC239-BC85-853D-7C4E-12EB52CF7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116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Traditional</a:t>
            </a:r>
          </a:p>
          <a:p>
            <a:r>
              <a:rPr lang="en-US" dirty="0"/>
              <a:t>Longer development cycles</a:t>
            </a:r>
          </a:p>
          <a:p>
            <a:r>
              <a:rPr lang="en-US" dirty="0"/>
              <a:t>Tool switching</a:t>
            </a:r>
          </a:p>
          <a:p>
            <a:r>
              <a:rPr lang="en-US" dirty="0"/>
              <a:t>More DevOps work</a:t>
            </a:r>
          </a:p>
          <a:p>
            <a:pPr marL="0" indent="0">
              <a:buNone/>
            </a:pPr>
            <a:r>
              <a:rPr lang="en-US" b="1" dirty="0"/>
              <a:t>Fabric</a:t>
            </a:r>
          </a:p>
          <a:p>
            <a:r>
              <a:rPr lang="en-US" dirty="0"/>
              <a:t>Faster development</a:t>
            </a:r>
          </a:p>
          <a:p>
            <a:r>
              <a:rPr lang="en-US" dirty="0"/>
              <a:t>One UI</a:t>
            </a:r>
          </a:p>
          <a:p>
            <a:r>
              <a:rPr lang="en-US" dirty="0"/>
              <a:t>Higher productivity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5831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1DAF-2820-B08D-5FE5-37C886DE4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1" y="2484870"/>
            <a:ext cx="10515600" cy="1325563"/>
          </a:xfrm>
        </p:spPr>
        <p:txBody>
          <a:bodyPr/>
          <a:lstStyle/>
          <a:p>
            <a:r>
              <a:rPr lang="en-IN" dirty="0"/>
              <a:t>FABRIC WORKSPACES &amp; LICENSING MODEL</a:t>
            </a:r>
          </a:p>
        </p:txBody>
      </p:sp>
    </p:spTree>
    <p:extLst>
      <p:ext uri="{BB962C8B-B14F-4D97-AF65-F5344CB8AC3E}">
        <p14:creationId xmlns:p14="http://schemas.microsoft.com/office/powerpoint/2010/main" val="4234240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6A1B6-590E-45B7-99A2-7C22247E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3100" b="1" dirty="0">
                <a:highlight>
                  <a:srgbClr val="FFFF00"/>
                </a:highlight>
              </a:rPr>
              <a:t>🧩 Microsoft Fabric – Workspace Concepts &amp; Hierarchy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5B605-E640-6769-B422-03B1906DC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Workspace</a:t>
            </a:r>
            <a:r>
              <a:rPr lang="en-US" dirty="0"/>
              <a:t> is a </a:t>
            </a:r>
            <a:r>
              <a:rPr lang="en-US" b="1" dirty="0"/>
              <a:t>logical container</a:t>
            </a:r>
            <a:r>
              <a:rPr lang="en-US" dirty="0"/>
              <a:t> used to:</a:t>
            </a:r>
          </a:p>
          <a:p>
            <a:r>
              <a:rPr lang="en-US" dirty="0"/>
              <a:t>Organize Fabric items</a:t>
            </a:r>
          </a:p>
          <a:p>
            <a:r>
              <a:rPr lang="en-US" dirty="0"/>
              <a:t>Control access &amp; security</a:t>
            </a:r>
          </a:p>
          <a:p>
            <a:r>
              <a:rPr lang="en-US" dirty="0"/>
              <a:t>Manage collaboration</a:t>
            </a:r>
          </a:p>
          <a:p>
            <a:r>
              <a:rPr lang="en-US" dirty="0"/>
              <a:t>Apply capacity &amp; governance</a:t>
            </a:r>
          </a:p>
          <a:p>
            <a:r>
              <a:rPr lang="en-US" dirty="0"/>
              <a:t>👉 Think of a workspace as a </a:t>
            </a:r>
            <a:r>
              <a:rPr lang="en-US" b="1" dirty="0"/>
              <a:t>project / environment folder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8826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4DB1-1D8C-1B4F-8298-9113B1B73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54581"/>
          </a:xfrm>
        </p:spPr>
        <p:txBody>
          <a:bodyPr/>
          <a:lstStyle/>
          <a:p>
            <a:r>
              <a:rPr lang="en-IN" b="1" dirty="0"/>
              <a:t>Workspace Hierarchy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574F9-2136-8525-495D-793D93605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Microsoft Entra Tenant</a:t>
            </a:r>
          </a:p>
          <a:p>
            <a:pPr marL="0" indent="0">
              <a:buNone/>
            </a:pPr>
            <a:r>
              <a:rPr lang="en-IN" dirty="0"/>
              <a:t>   └── Fabric Tenant</a:t>
            </a:r>
          </a:p>
          <a:p>
            <a:pPr marL="0" indent="0">
              <a:buNone/>
            </a:pPr>
            <a:r>
              <a:rPr lang="en-IN" dirty="0"/>
              <a:t>        └── Capacity (F SKU)</a:t>
            </a:r>
          </a:p>
          <a:p>
            <a:pPr marL="0" indent="0">
              <a:buNone/>
            </a:pPr>
            <a:r>
              <a:rPr lang="en-IN" dirty="0"/>
              <a:t>             └── Workspace</a:t>
            </a:r>
          </a:p>
          <a:p>
            <a:pPr marL="0" indent="0">
              <a:buNone/>
            </a:pPr>
            <a:r>
              <a:rPr lang="en-IN" dirty="0"/>
              <a:t>                  ├── Lakehouse</a:t>
            </a:r>
          </a:p>
          <a:p>
            <a:pPr marL="0" indent="0">
              <a:buNone/>
            </a:pPr>
            <a:r>
              <a:rPr lang="en-IN" dirty="0"/>
              <a:t>                  ├── Warehouse</a:t>
            </a:r>
          </a:p>
          <a:p>
            <a:pPr marL="0" indent="0">
              <a:buNone/>
            </a:pPr>
            <a:r>
              <a:rPr lang="en-IN" dirty="0"/>
              <a:t>                  ├── Pipelines</a:t>
            </a:r>
          </a:p>
          <a:p>
            <a:pPr marL="0" indent="0">
              <a:buNone/>
            </a:pPr>
            <a:r>
              <a:rPr lang="en-IN" dirty="0"/>
              <a:t>                  ├── Notebooks</a:t>
            </a:r>
          </a:p>
          <a:p>
            <a:pPr marL="0" indent="0">
              <a:buNone/>
            </a:pPr>
            <a:r>
              <a:rPr lang="en-IN" dirty="0"/>
              <a:t>                  ├── Real-Time DB</a:t>
            </a:r>
          </a:p>
          <a:p>
            <a:pPr marL="0" indent="0">
              <a:buNone/>
            </a:pPr>
            <a:r>
              <a:rPr lang="en-IN" dirty="0"/>
              <a:t>                  ├── Semantic Models</a:t>
            </a:r>
          </a:p>
          <a:p>
            <a:pPr marL="0" indent="0">
              <a:buNone/>
            </a:pPr>
            <a:r>
              <a:rPr lang="en-IN" dirty="0"/>
              <a:t>                  └── Power BI Reports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👉 </a:t>
            </a:r>
            <a:r>
              <a:rPr lang="en-US" b="1" dirty="0"/>
              <a:t>Workspace is the core working unit in Fabric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040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E0739-744E-4E0C-D9D7-7CA789C2C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532463"/>
          </a:xfrm>
        </p:spPr>
        <p:txBody>
          <a:bodyPr>
            <a:normAutofit fontScale="90000"/>
          </a:bodyPr>
          <a:lstStyle/>
          <a:p>
            <a:r>
              <a:rPr lang="en-IN" dirty="0"/>
              <a:t>Workspace Roles (Security)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7ED362-C47C-6520-A4DD-53D1D8743F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5530213"/>
              </p:ext>
            </p:extLst>
          </p:nvPr>
        </p:nvGraphicFramePr>
        <p:xfrm>
          <a:off x="256309" y="1351612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53392960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80584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highlight>
                            <a:srgbClr val="FFFF00"/>
                          </a:highlight>
                        </a:rPr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dirty="0">
                          <a:highlight>
                            <a:srgbClr val="FFFF00"/>
                          </a:highlight>
                        </a:rPr>
                        <a:t>Permissions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88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801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 &amp; edit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415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Contributor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Edit existing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969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Viewer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Read-only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771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45233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602EE-C555-5214-1F67-F87391120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Workspace Capacity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7E65F-0DAB-39F4-3EE1-FA468981F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Workspaces are assigned to </a:t>
            </a:r>
            <a:r>
              <a:rPr lang="en-US" b="1" dirty="0"/>
              <a:t>Fabric Capacity (F SKU)</a:t>
            </a:r>
            <a:endParaRPr lang="en-US" dirty="0"/>
          </a:p>
          <a:p>
            <a:r>
              <a:rPr lang="en-US" dirty="0"/>
              <a:t>Compute is consumed from the assigned capacity</a:t>
            </a:r>
          </a:p>
          <a:p>
            <a:r>
              <a:rPr lang="en-US" dirty="0"/>
              <a:t>Multiple workspaces can share one capacity</a:t>
            </a:r>
          </a:p>
          <a:p>
            <a:r>
              <a:rPr lang="en-US" dirty="0"/>
              <a:t>F64 Capacity</a:t>
            </a:r>
          </a:p>
          <a:p>
            <a:r>
              <a:rPr lang="en-US" dirty="0"/>
              <a:t> ├── Workspace A</a:t>
            </a:r>
          </a:p>
          <a:p>
            <a:r>
              <a:rPr lang="en-US" dirty="0"/>
              <a:t> ├── Workspace 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06748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1663-831E-D8E1-0807-37032C38F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IN-LINE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49042-719B-7F10-6123-B41310C61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Workspace:</a:t>
            </a:r>
            <a:endParaRPr lang="en-IN" dirty="0"/>
          </a:p>
          <a:p>
            <a:r>
              <a:rPr lang="en-IN" dirty="0"/>
              <a:t>A logical container in Microsoft Fabric used to organize analytics items, manage security, and assign compute capacity.</a:t>
            </a:r>
          </a:p>
          <a:p>
            <a:r>
              <a:rPr lang="en-IN" b="1" dirty="0"/>
              <a:t>Workspace Hierarchy:</a:t>
            </a:r>
            <a:endParaRPr lang="en-IN" dirty="0"/>
          </a:p>
          <a:p>
            <a:r>
              <a:rPr lang="en-IN" dirty="0"/>
              <a:t>Fabric tenant → Capacity → Workspace → Items → </a:t>
            </a:r>
            <a:r>
              <a:rPr lang="en-IN" dirty="0" err="1"/>
              <a:t>OneLake</a:t>
            </a:r>
            <a:r>
              <a:rPr lang="en-IN" dirty="0"/>
              <a:t> storage.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564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46A6F-14AF-4FE6-4E55-22DDA0D4F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Microsoft Fabric – Capacity Units &amp; Billing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B79C1-05B0-A927-DBC5-7F7525032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355" y="755362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1️⃣ What is Fabric Capacity?</a:t>
            </a:r>
          </a:p>
          <a:p>
            <a:r>
              <a:rPr lang="en-US" b="1" dirty="0"/>
              <a:t>Fabric Capacity</a:t>
            </a:r>
            <a:r>
              <a:rPr lang="en-US" dirty="0"/>
              <a:t> is the </a:t>
            </a:r>
            <a:r>
              <a:rPr lang="en-US" b="1" dirty="0"/>
              <a:t>compute resource</a:t>
            </a:r>
            <a:r>
              <a:rPr lang="en-US" dirty="0"/>
              <a:t> that powers all Fabric workloads</a:t>
            </a:r>
            <a:br>
              <a:rPr lang="en-US" dirty="0"/>
            </a:br>
            <a:r>
              <a:rPr lang="en-US" dirty="0"/>
              <a:t>(Data Engineering, Warehouse, Real-Time Analytics, Power BI, etc.).</a:t>
            </a:r>
          </a:p>
          <a:p>
            <a:pPr marL="0" indent="0">
              <a:buNone/>
            </a:pPr>
            <a:r>
              <a:rPr lang="en-US" dirty="0"/>
              <a:t>👉 You </a:t>
            </a:r>
            <a:r>
              <a:rPr lang="en-US" b="1" dirty="0"/>
              <a:t>pay for capacity, not individual services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2️⃣ What are Capacity Units (CU)?</a:t>
            </a:r>
          </a:p>
          <a:p>
            <a:r>
              <a:rPr lang="en-US" dirty="0"/>
              <a:t>A </a:t>
            </a:r>
            <a:r>
              <a:rPr lang="en-US" b="1" dirty="0"/>
              <a:t>Capacity Unit (CU)</a:t>
            </a:r>
            <a:r>
              <a:rPr lang="en-US" dirty="0"/>
              <a:t> represents a </a:t>
            </a:r>
            <a:r>
              <a:rPr lang="en-US" b="1" dirty="0"/>
              <a:t>unit of compute power</a:t>
            </a:r>
            <a:r>
              <a:rPr lang="en-US" dirty="0"/>
              <a:t> in Microsoft Fabric.</a:t>
            </a:r>
          </a:p>
          <a:p>
            <a:r>
              <a:rPr lang="en-US" dirty="0"/>
              <a:t>Measures CPU + memory + concurrency</a:t>
            </a:r>
          </a:p>
          <a:p>
            <a:r>
              <a:rPr lang="en-US" dirty="0"/>
              <a:t>Shared across all Fabric workloads</a:t>
            </a:r>
          </a:p>
          <a:p>
            <a:r>
              <a:rPr lang="en-US" dirty="0"/>
              <a:t>Consumed when queries, pipelines, notebooks run</a:t>
            </a:r>
          </a:p>
          <a:p>
            <a:r>
              <a:rPr lang="en-US" b="1" dirty="0"/>
              <a:t>More CUs = More performance &amp; concurrency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35025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920DF-7E2E-3CF2-3ADA-1291529E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3️⃣ Fabric Capacity SKUs (F SKUs)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A2E369-5387-BAF3-079C-A3F6014839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4710033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320456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923597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SKU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Capacity Units (CU)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Typical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641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 CU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 POC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105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 CU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711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 CU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 team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419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 CU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 workloads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184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32 CU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512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64 CU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Enterprise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357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128 CU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Large enterprise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04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23446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8FE0A-F52E-A7C9-0490-E976F8BD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Licensing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E3EA5-3342-024E-3817-1BE4F63B5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263" y="1253331"/>
            <a:ext cx="10515600" cy="4351338"/>
          </a:xfrm>
        </p:spPr>
        <p:txBody>
          <a:bodyPr/>
          <a:lstStyle/>
          <a:p>
            <a:r>
              <a:rPr lang="en-US" dirty="0"/>
              <a:t>There are </a:t>
            </a:r>
            <a:r>
              <a:rPr lang="en-US" b="1" dirty="0"/>
              <a:t>two licensing models</a:t>
            </a:r>
            <a:r>
              <a:rPr lang="en-US" dirty="0"/>
              <a:t>:</a:t>
            </a:r>
          </a:p>
          <a:p>
            <a:r>
              <a:rPr lang="en-US" b="1" dirty="0"/>
              <a:t>Premium Per User (PPU)</a:t>
            </a:r>
            <a:endParaRPr lang="en-US" dirty="0"/>
          </a:p>
          <a:p>
            <a:r>
              <a:rPr lang="en-US" b="1" dirty="0"/>
              <a:t>Premium Per Capacity (P-SKU)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49562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5186-A6FE-4A23-2FE5-FCFAE79E7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1527" y="1"/>
            <a:ext cx="10515600" cy="571500"/>
          </a:xfrm>
        </p:spPr>
        <p:txBody>
          <a:bodyPr>
            <a:normAutofit fontScale="90000"/>
          </a:bodyPr>
          <a:lstStyle/>
          <a:p>
            <a:r>
              <a:rPr lang="en-IN" dirty="0"/>
              <a:t>Premium Per User (PPU)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90034-1679-5238-B1FC-D96563809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765752"/>
            <a:ext cx="10515600" cy="590521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🔹 What it is</a:t>
            </a:r>
          </a:p>
          <a:p>
            <a:r>
              <a:rPr lang="en-IN" dirty="0"/>
              <a:t>License </a:t>
            </a:r>
            <a:r>
              <a:rPr lang="en-IN" b="1" dirty="0"/>
              <a:t>assigned to individual users</a:t>
            </a:r>
            <a:endParaRPr lang="en-IN" dirty="0"/>
          </a:p>
          <a:p>
            <a:r>
              <a:rPr lang="en-IN" dirty="0"/>
              <a:t>Each user pays separately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🔹 Key Features</a:t>
            </a:r>
          </a:p>
          <a:p>
            <a:pPr marL="0" indent="0">
              <a:buNone/>
            </a:pPr>
            <a:r>
              <a:rPr lang="en-IN" dirty="0"/>
              <a:t>✔️ Advanced Power BI features</a:t>
            </a:r>
            <a:br>
              <a:rPr lang="en-IN" dirty="0"/>
            </a:br>
            <a:r>
              <a:rPr lang="en-IN" dirty="0"/>
              <a:t>✔️ Large datasets</a:t>
            </a:r>
            <a:br>
              <a:rPr lang="en-IN" dirty="0"/>
            </a:br>
            <a:r>
              <a:rPr lang="en-IN" dirty="0"/>
              <a:t>✔️ XMLA read/write</a:t>
            </a:r>
            <a:br>
              <a:rPr lang="en-IN" dirty="0"/>
            </a:br>
            <a:r>
              <a:rPr lang="en-IN" dirty="0"/>
              <a:t>✔️ Paginated reports</a:t>
            </a:r>
            <a:br>
              <a:rPr lang="en-IN" dirty="0"/>
            </a:br>
            <a:r>
              <a:rPr lang="en-IN" dirty="0"/>
              <a:t>✔️ AI visuals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🔹 Limitations</a:t>
            </a:r>
          </a:p>
          <a:p>
            <a:pPr marL="0" indent="0">
              <a:buNone/>
            </a:pPr>
            <a:r>
              <a:rPr lang="en-IN" dirty="0"/>
              <a:t>❌ Content shared </a:t>
            </a:r>
            <a:r>
              <a:rPr lang="en-IN" b="1" dirty="0"/>
              <a:t>only with other PPU users</a:t>
            </a:r>
            <a:br>
              <a:rPr lang="en-IN" dirty="0"/>
            </a:br>
            <a:r>
              <a:rPr lang="en-IN" dirty="0"/>
              <a:t>❌ Not suitable for large audiences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🔹 Use Case</a:t>
            </a:r>
          </a:p>
          <a:p>
            <a:r>
              <a:rPr lang="en-IN" dirty="0"/>
              <a:t>Small teams</a:t>
            </a:r>
          </a:p>
          <a:p>
            <a:r>
              <a:rPr lang="en-IN" dirty="0"/>
              <a:t>Individual developers</a:t>
            </a:r>
          </a:p>
          <a:p>
            <a:r>
              <a:rPr lang="en-IN" dirty="0"/>
              <a:t>Proof of Concept (POC)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4375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1467-F67A-8CDB-9733-62960354D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Premium Per Capacity (P-SKU)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6E337-812E-25D9-9F53-8282EC157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52788"/>
            <a:ext cx="10906991" cy="588695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🔹 What it is</a:t>
            </a:r>
          </a:p>
          <a:p>
            <a:r>
              <a:rPr lang="en-US" dirty="0"/>
              <a:t>Dedicated </a:t>
            </a:r>
            <a:r>
              <a:rPr lang="en-US" b="1" dirty="0"/>
              <a:t>capacity for organization</a:t>
            </a:r>
            <a:endParaRPr lang="en-US" dirty="0"/>
          </a:p>
          <a:p>
            <a:r>
              <a:rPr lang="en-US" dirty="0"/>
              <a:t>Shared compute resources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🔹 Key Features</a:t>
            </a:r>
          </a:p>
          <a:p>
            <a:r>
              <a:rPr lang="en-US" dirty="0"/>
              <a:t>✔️ Unlimited viewers (Free users can view)</a:t>
            </a:r>
            <a:br>
              <a:rPr lang="en-US" dirty="0"/>
            </a:br>
            <a:r>
              <a:rPr lang="en-US" dirty="0"/>
              <a:t>✔️ Dedicated performance</a:t>
            </a:r>
            <a:br>
              <a:rPr lang="en-US" dirty="0"/>
            </a:br>
            <a:r>
              <a:rPr lang="en-US" dirty="0"/>
              <a:t>✔️ Enterprise scale</a:t>
            </a:r>
            <a:br>
              <a:rPr lang="en-US" dirty="0"/>
            </a:br>
            <a:r>
              <a:rPr lang="en-US" dirty="0"/>
              <a:t>✔️ Better governance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🔹 Limitations</a:t>
            </a:r>
          </a:p>
          <a:p>
            <a:r>
              <a:rPr lang="en-US" dirty="0"/>
              <a:t>❌ Higher cost</a:t>
            </a:r>
            <a:br>
              <a:rPr lang="en-US" dirty="0"/>
            </a:br>
            <a:r>
              <a:rPr lang="en-US" dirty="0"/>
              <a:t>❌ Requires capacity management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🔹 Use Case</a:t>
            </a:r>
          </a:p>
          <a:p>
            <a:r>
              <a:rPr lang="en-US" dirty="0"/>
              <a:t>Large organizations</a:t>
            </a:r>
          </a:p>
          <a:p>
            <a:r>
              <a:rPr lang="en-US" dirty="0"/>
              <a:t>Enterprise reporting</a:t>
            </a:r>
          </a:p>
          <a:p>
            <a:r>
              <a:rPr lang="en-US" dirty="0"/>
              <a:t>Wide distribution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9678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FB9E0-476B-2B2F-7973-EC9D77D92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Ppu</a:t>
            </a:r>
            <a:r>
              <a:rPr lang="en-IN" dirty="0"/>
              <a:t> vs </a:t>
            </a:r>
            <a:r>
              <a:rPr lang="en-IN" dirty="0" err="1"/>
              <a:t>ppc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DB813F-300C-407B-3DE3-3E3850A247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8771062"/>
              </p:ext>
            </p:extLst>
          </p:nvPr>
        </p:nvGraphicFramePr>
        <p:xfrm>
          <a:off x="266700" y="1965960"/>
          <a:ext cx="10515600" cy="29260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8071790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747302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6640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highlight>
                            <a:srgbClr val="FFFF00"/>
                          </a:highlight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highlight>
                            <a:srgbClr val="FFFF00"/>
                          </a:highlight>
                        </a:rPr>
                        <a:t>Premium Per User (PPU)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dirty="0">
                          <a:highlight>
                            <a:srgbClr val="FFFF00"/>
                          </a:highlight>
                        </a:rPr>
                        <a:t>Premium Per Capacity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425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Pricing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 capacity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863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Viewer license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PPU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Free 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18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887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Enterprise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933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Dedicated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729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 teams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orgs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335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Fabric workloads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129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2241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49F19-82D0-75C5-030D-5D15FAC49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txBody>
          <a:bodyPr>
            <a:normAutofit/>
          </a:bodyPr>
          <a:lstStyle/>
          <a:p>
            <a:r>
              <a:rPr lang="en-IN" sz="3600" b="1" dirty="0">
                <a:highlight>
                  <a:srgbClr val="FFFF00"/>
                </a:highlight>
              </a:rPr>
              <a:t>🧩 Workspace Roles &amp; Permissions (Microsoft Fabric)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D48D2-C618-EFB3-E594-BFA38F967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790" y="1144588"/>
            <a:ext cx="12192000" cy="4351338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1️⃣ What are Workspace Roles?</a:t>
            </a:r>
          </a:p>
          <a:p>
            <a:r>
              <a:rPr lang="en-IN" dirty="0"/>
              <a:t>Workspace roles define </a:t>
            </a:r>
            <a:r>
              <a:rPr lang="en-IN" b="1" dirty="0"/>
              <a:t>access levels</a:t>
            </a:r>
            <a:r>
              <a:rPr lang="en-IN" dirty="0"/>
              <a:t> for users and groups within a workspace.</a:t>
            </a:r>
          </a:p>
          <a:p>
            <a:r>
              <a:rPr lang="en-IN" dirty="0"/>
              <a:t>✔️ Security boundary</a:t>
            </a:r>
            <a:br>
              <a:rPr lang="en-IN" dirty="0"/>
            </a:br>
            <a:r>
              <a:rPr lang="en-IN" dirty="0"/>
              <a:t>✔️ Collaboration control</a:t>
            </a:r>
            <a:br>
              <a:rPr lang="en-IN" dirty="0"/>
            </a:br>
            <a:r>
              <a:rPr lang="en-IN" dirty="0"/>
              <a:t>✔️ Governance enforcement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2️⃣ Workspace Role Types</a:t>
            </a:r>
          </a:p>
          <a:p>
            <a:r>
              <a:rPr lang="en-IN" dirty="0"/>
              <a:t>Microsoft Fabric uses </a:t>
            </a:r>
            <a:r>
              <a:rPr lang="en-IN" b="1" dirty="0"/>
              <a:t>4 main workspace roles</a:t>
            </a:r>
            <a:r>
              <a:rPr lang="en-IN" dirty="0"/>
              <a:t>:</a:t>
            </a:r>
          </a:p>
          <a:p>
            <a:r>
              <a:rPr lang="en-IN" dirty="0"/>
              <a:t>1. Admin</a:t>
            </a:r>
          </a:p>
          <a:p>
            <a:r>
              <a:rPr lang="en-IN" dirty="0"/>
              <a:t>2. Member</a:t>
            </a:r>
          </a:p>
          <a:p>
            <a:r>
              <a:rPr lang="en-IN" dirty="0"/>
              <a:t>3. Contributor</a:t>
            </a:r>
          </a:p>
          <a:p>
            <a:r>
              <a:rPr lang="en-IN" dirty="0"/>
              <a:t>4. Viewer</a:t>
            </a:r>
          </a:p>
        </p:txBody>
      </p:sp>
    </p:spTree>
    <p:extLst>
      <p:ext uri="{BB962C8B-B14F-4D97-AF65-F5344CB8AC3E}">
        <p14:creationId xmlns:p14="http://schemas.microsoft.com/office/powerpoint/2010/main" val="5369036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2700C-4FFA-B40B-2CB2-A5BBB18E8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Workspace Roles – Comparison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787378-D0AA-0EE9-649E-15774F5A82A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92862232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4773966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035834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26522951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4846123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3375457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144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590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641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Contributor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18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Viewer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547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2129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00169-4B10-4541-DE5E-0362A180C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71664" cy="852055"/>
          </a:xfrm>
        </p:spPr>
        <p:txBody>
          <a:bodyPr>
            <a:normAutofit/>
          </a:bodyPr>
          <a:lstStyle/>
          <a:p>
            <a:r>
              <a:rPr lang="en-US" sz="4000" dirty="0">
                <a:highlight>
                  <a:srgbClr val="FFFF00"/>
                </a:highlight>
              </a:rPr>
              <a:t>⚙️ Microsoft Fabric – Workspace Settings &amp; Configuration</a:t>
            </a:r>
            <a:endParaRPr lang="en-IN" sz="4000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8DF1B-6693-566B-C1CF-8BB48C355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09" y="1119043"/>
            <a:ext cx="11963400" cy="4351338"/>
          </a:xfrm>
        </p:spPr>
        <p:txBody>
          <a:bodyPr/>
          <a:lstStyle/>
          <a:p>
            <a:r>
              <a:rPr lang="en-US" dirty="0"/>
              <a:t>Workspace settings control </a:t>
            </a:r>
            <a:r>
              <a:rPr lang="en-US" b="1" dirty="0"/>
              <a:t>how a workspace behaves</a:t>
            </a:r>
            <a:r>
              <a:rPr lang="en-US" dirty="0"/>
              <a:t>, </a:t>
            </a:r>
            <a:r>
              <a:rPr lang="en-US" b="1" dirty="0"/>
              <a:t>who can do what</a:t>
            </a:r>
            <a:r>
              <a:rPr lang="en-US" dirty="0"/>
              <a:t>, and </a:t>
            </a:r>
            <a:r>
              <a:rPr lang="en-US" b="1" dirty="0"/>
              <a:t>how content is managed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8382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1722</Words>
  <Application>Microsoft Office PowerPoint</Application>
  <PresentationFormat>Widescreen</PresentationFormat>
  <Paragraphs>435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Calibri Light</vt:lpstr>
      <vt:lpstr>Office Theme</vt:lpstr>
      <vt:lpstr>MS-FABRIC</vt:lpstr>
      <vt:lpstr>Introduction to Microsoft Fabric (MS Fabric)</vt:lpstr>
      <vt:lpstr>Microsoft Fabric – Architecture (End-to-End)</vt:lpstr>
      <vt:lpstr>High-Level Architecture View</vt:lpstr>
      <vt:lpstr>PowerPoint Presentation</vt:lpstr>
      <vt:lpstr>1. Data Sources Layer</vt:lpstr>
      <vt:lpstr>2. Data Ingestion Layer – Fabric Data Factory</vt:lpstr>
      <vt:lpstr>3. Unified Storage Layer – OneLake (Heart of Fabric)</vt:lpstr>
      <vt:lpstr>4. Data Processing &amp; Analytics Layer</vt:lpstr>
      <vt:lpstr>5. BI &amp; Consumption Layer – Power BI</vt:lpstr>
      <vt:lpstr>6. Governance &amp; Security Layer</vt:lpstr>
      <vt:lpstr>7. SaaS Platform Layer</vt:lpstr>
      <vt:lpstr>PowerPoint Presentation</vt:lpstr>
      <vt:lpstr>Microsoft Fabric Architecture (Compute • Storage • Networking)</vt:lpstr>
      <vt:lpstr>1️⃣ COMPUTE IN MICROSOFT FABRIC</vt:lpstr>
      <vt:lpstr>2️⃣ STORAGE IN MICROSOFT FABRIC</vt:lpstr>
      <vt:lpstr>3️⃣ NETWORKING IN MICROSOFT FABRIC</vt:lpstr>
      <vt:lpstr>4️⃣ COMPUTE + STORAGE + NETWORK FLOW</vt:lpstr>
      <vt:lpstr>5️⃣ COMPARISON WITH TRADITIONAL AZURE</vt:lpstr>
      <vt:lpstr>Key Architecture Benefits</vt:lpstr>
      <vt:lpstr>Microsoft Fabric vs Traditional Azure Data Services</vt:lpstr>
      <vt:lpstr>Traditional Data Architecture</vt:lpstr>
      <vt:lpstr>🚀 Microsoft Fabric Architecture</vt:lpstr>
      <vt:lpstr>Tool-by-Tool Comparison</vt:lpstr>
      <vt:lpstr>3️⃣ Data Movement &amp; Duplication</vt:lpstr>
      <vt:lpstr>4️⃣ Cost &amp; Billing Model </vt:lpstr>
      <vt:lpstr>5️⃣Performance &amp; Productivity </vt:lpstr>
      <vt:lpstr>FABRIC WORKSPACES &amp; LICENSING MODEL</vt:lpstr>
      <vt:lpstr>🧩 Microsoft Fabric – Workspace Concepts &amp; Hierarchy </vt:lpstr>
      <vt:lpstr>Workspace Hierarchy </vt:lpstr>
      <vt:lpstr>Workspace Roles (Security)</vt:lpstr>
      <vt:lpstr>Workspace Capacity Assignment</vt:lpstr>
      <vt:lpstr>IN-LINE</vt:lpstr>
      <vt:lpstr>Microsoft Fabric – Capacity Units &amp; Billing</vt:lpstr>
      <vt:lpstr>3️⃣ Fabric Capacity SKUs (F SKUs)</vt:lpstr>
      <vt:lpstr>Licensing models</vt:lpstr>
      <vt:lpstr>Premium Per User (PPU)</vt:lpstr>
      <vt:lpstr>Premium Per Capacity (P-SKU)</vt:lpstr>
      <vt:lpstr>Ppu vs ppc</vt:lpstr>
      <vt:lpstr>🧩 Workspace Roles &amp; Permissions (Microsoft Fabric)</vt:lpstr>
      <vt:lpstr>PowerPoint Presentation</vt:lpstr>
      <vt:lpstr>⚙️ Microsoft Fabric – Workspace Settings &amp; Configuration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D</dc:creator>
  <cp:lastModifiedBy>Rajesh D</cp:lastModifiedBy>
  <cp:revision>17</cp:revision>
  <dcterms:created xsi:type="dcterms:W3CDTF">2026-01-06T05:45:13Z</dcterms:created>
  <dcterms:modified xsi:type="dcterms:W3CDTF">2026-01-06T07:38:10Z</dcterms:modified>
</cp:coreProperties>
</file>