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71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73" r:id="rId13"/>
    <p:sldId id="264" r:id="rId14"/>
    <p:sldId id="265" r:id="rId15"/>
    <p:sldId id="274" r:id="rId16"/>
    <p:sldId id="266" r:id="rId17"/>
    <p:sldId id="267" r:id="rId18"/>
    <p:sldId id="279" r:id="rId19"/>
    <p:sldId id="280" r:id="rId20"/>
    <p:sldId id="268" r:id="rId21"/>
    <p:sldId id="269" r:id="rId22"/>
    <p:sldId id="275" r:id="rId23"/>
    <p:sldId id="276" r:id="rId24"/>
    <p:sldId id="281" r:id="rId25"/>
    <p:sldId id="270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7B8D-35AC-409B-B7AF-383B0A157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14625-9C12-31A9-C180-11B1C5DB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FE6DE-7DE3-4E41-AE73-9A809C519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16E19-0F1A-C1EF-CC7F-A9650BA8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EAC4C-CDA4-207E-FD16-1D425964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F361-2F4D-E7A4-B94D-1A527C11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A2DA-688F-D682-1D04-DDCE83EA3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37E7-DAD5-B274-66C2-3F31E0FFF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F03CF-0990-7FC4-A706-8084DE8A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D191-90DA-695A-4955-96209E4A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7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D840-E0E0-0B71-4909-9F876994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833AA-07BD-9C3F-C75B-7725C9C48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0A685-5669-B950-4AE1-DDB6E58D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EA925-FD32-EFE4-93A8-E14AB000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0A4EC-04B9-9FFA-ECCA-C1CE8C40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3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17EF-5028-C0E3-6D2F-B22314DB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6F26B-A8C5-2614-6767-AA80A8C2C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B888F-93D1-9332-EC9B-C97F00AD1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2D30F-CA1C-0415-A4C1-C717D3CE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54CC7-6E32-7E69-14AE-9DF41EBE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95FC1-AF70-684D-E175-70C2CF93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7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BE91-7FEC-7DD0-95BB-AF0E5C21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FEC95-F20D-B8F5-4768-733B5BF04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B680C-43E7-F438-88A4-0ECAB0A95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467C8-50A1-36EA-72D0-E887330BC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1B66D-9FCE-E7CE-D9F3-610B7C3EE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DA0DE-0857-6073-7402-14BCA58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CD62D3-BE93-26C7-8BBC-1BF95F63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64E9A-1C78-1F80-3301-031B0809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410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2165-2649-BDC4-64DF-58468195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49CB2-DE1E-24BD-642D-35FD45F1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D38EF-28A7-9A06-9CF5-9092F6E3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6FDD5-705D-F929-DE61-1DC0666F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14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0F333-4F31-AD64-5889-F6027E94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40052-D2B0-7439-1C2E-3BB5038A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123BC-6BAB-CA8E-6F03-67D9C45A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5057-6342-8004-03E8-A7EA23B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D317F-4DA1-AC7E-E985-1E7A46D4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3CA61-7032-301F-1639-70192B11C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D515B-DEC6-EE37-C85D-83B4CE89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7FE1E-58A9-F65A-700E-87AA3ECA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0059F-F2F0-1028-9B9C-5186D4EC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76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7DE1-20FA-F951-22B8-81C4EE67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7613C-DC5D-9026-CFD4-C5025752F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9A761-05F6-D690-DB53-7C6410C0A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9ED7E-C3C5-6D4B-EB22-61770E9C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0FB41-FA0F-2D16-2308-56E5E639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64921-5122-1FC2-8771-D7D4A98B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4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7C8A-3B01-3792-6D23-41DEFAD2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580E5-BA5E-F660-32ED-A45FA154E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72CE0-E495-1C80-D755-81B2200A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FC5F6-0A3C-3420-9B12-C4411D3F3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3CFC6-8BF5-C3B2-60CF-A12F2448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6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453F7-80D0-3A59-6455-3EA1D4754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C940E-726D-A884-2E77-AD15D9CA2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DDB7-16C6-C143-0A3A-FABF5027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58B5-A68A-724D-F4E3-E296A3B8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2FEA3-A3EE-07D5-1EAD-9C5243E9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44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EDD57-9801-A576-4809-907A9323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F34EC-7AEE-611A-FCF8-C821C9CD4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8D5E9-F35A-6C30-ACE5-7B56B2795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FCDA6-EEAE-47E7-83D7-1636A1F18229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CAF24-3CC2-43B9-BA84-27FB658B9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42845-B714-EBE5-20F4-2A2D062FE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C3BC0-3C94-476C-BEB8-656DFE5A2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8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B62C-F122-F33D-9C62-68BACA84E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Azure Storage Services</a:t>
            </a:r>
          </a:p>
        </p:txBody>
      </p:sp>
    </p:spTree>
    <p:extLst>
      <p:ext uri="{BB962C8B-B14F-4D97-AF65-F5344CB8AC3E}">
        <p14:creationId xmlns:p14="http://schemas.microsoft.com/office/powerpoint/2010/main" val="88879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70B8-D339-A94C-57AC-8E92B562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Storage Account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019B-2AAE-2391-6212-2067700E1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960387"/>
            <a:ext cx="10515600" cy="4351338"/>
          </a:xfrm>
        </p:spPr>
        <p:txBody>
          <a:bodyPr/>
          <a:lstStyle/>
          <a:p>
            <a:r>
              <a:rPr lang="en-IN" dirty="0"/>
              <a:t>Majorly 5 types of storage accounts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1.Blob</a:t>
            </a:r>
          </a:p>
          <a:p>
            <a:pPr marL="0" indent="0">
              <a:buNone/>
            </a:pPr>
            <a:r>
              <a:rPr lang="en-IN" dirty="0"/>
              <a:t>2.ADLS2</a:t>
            </a:r>
          </a:p>
          <a:p>
            <a:pPr marL="0" indent="0">
              <a:buNone/>
            </a:pPr>
            <a:r>
              <a:rPr lang="en-IN" dirty="0"/>
              <a:t>3.Files</a:t>
            </a:r>
          </a:p>
          <a:p>
            <a:pPr marL="0" indent="0">
              <a:buNone/>
            </a:pPr>
            <a:r>
              <a:rPr lang="en-IN" dirty="0"/>
              <a:t>4.Queue</a:t>
            </a:r>
          </a:p>
          <a:p>
            <a:pPr marL="0" indent="0">
              <a:buNone/>
            </a:pPr>
            <a:r>
              <a:rPr lang="en-IN" dirty="0"/>
              <a:t>5.Table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BE9ECD-A4E0-E6A1-4038-5771C078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725" y="4516276"/>
            <a:ext cx="8840434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8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E94F-534B-D485-EA68-A5A75F74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3909" y="83127"/>
            <a:ext cx="10515600" cy="56110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Azure Blob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2205-11B9-0185-8DCA-0D7818D16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55" y="1119043"/>
            <a:ext cx="10515600" cy="552074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What is Blob Storage?</a:t>
            </a:r>
          </a:p>
          <a:p>
            <a:r>
              <a:rPr lang="en-IN" dirty="0"/>
              <a:t>Azure Blob Storage is </a:t>
            </a:r>
            <a:r>
              <a:rPr lang="en-IN" b="1" dirty="0"/>
              <a:t>object storage</a:t>
            </a:r>
            <a:r>
              <a:rPr lang="en-IN" dirty="0"/>
              <a:t> optimized for </a:t>
            </a:r>
            <a:r>
              <a:rPr lang="en-IN" b="1" dirty="0"/>
              <a:t>unstructured data</a:t>
            </a:r>
            <a:r>
              <a:rPr lang="en-IN" dirty="0"/>
              <a:t> such as:</a:t>
            </a:r>
          </a:p>
          <a:p>
            <a:r>
              <a:rPr lang="en-IN" dirty="0"/>
              <a:t>Images, videos</a:t>
            </a:r>
          </a:p>
          <a:p>
            <a:r>
              <a:rPr lang="en-IN" dirty="0"/>
              <a:t>Logs</a:t>
            </a:r>
          </a:p>
          <a:p>
            <a:r>
              <a:rPr lang="en-IN" dirty="0"/>
              <a:t>Backups</a:t>
            </a:r>
          </a:p>
          <a:p>
            <a:r>
              <a:rPr lang="en-IN" dirty="0"/>
              <a:t>Data lake files (CSV, JSON, Parquet)</a:t>
            </a:r>
          </a:p>
          <a:p>
            <a:pPr marL="0" indent="0">
              <a:buNone/>
            </a:pPr>
            <a:r>
              <a:rPr lang="en-IN" b="1" dirty="0"/>
              <a:t>Core Components</a:t>
            </a:r>
          </a:p>
          <a:p>
            <a:r>
              <a:rPr lang="en-IN" b="1" dirty="0"/>
              <a:t>Storage Account</a:t>
            </a:r>
            <a:endParaRPr lang="en-IN" dirty="0"/>
          </a:p>
          <a:p>
            <a:r>
              <a:rPr lang="en-IN" b="1" dirty="0"/>
              <a:t>Container</a:t>
            </a:r>
            <a:r>
              <a:rPr lang="en-IN" dirty="0"/>
              <a:t> (like a folder)</a:t>
            </a:r>
          </a:p>
          <a:p>
            <a:r>
              <a:rPr lang="en-IN" b="1" dirty="0"/>
              <a:t>Blob</a:t>
            </a:r>
            <a:r>
              <a:rPr lang="en-IN" dirty="0"/>
              <a:t> (actual object/file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Blob Types</a:t>
            </a:r>
          </a:p>
          <a:p>
            <a:r>
              <a:rPr lang="en-IN" b="1" dirty="0"/>
              <a:t>Block Blob</a:t>
            </a:r>
            <a:r>
              <a:rPr lang="en-IN" dirty="0"/>
              <a:t> – default (text, images, videos)</a:t>
            </a:r>
          </a:p>
          <a:p>
            <a:r>
              <a:rPr lang="en-IN" b="1" dirty="0"/>
              <a:t>Append Blob</a:t>
            </a:r>
            <a:r>
              <a:rPr lang="en-IN" dirty="0"/>
              <a:t> – logs, append-only data</a:t>
            </a:r>
          </a:p>
          <a:p>
            <a:r>
              <a:rPr lang="en-IN" b="1" dirty="0"/>
              <a:t>Page Blob</a:t>
            </a:r>
            <a:r>
              <a:rPr lang="en-IN" dirty="0"/>
              <a:t> – VHDs (used by Azure VMs)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64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13ED-B8D4-1CB6-4B83-13F4301B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 Blob Container?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D756-293D-A709-B9AA-23571E07C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383172"/>
            <a:ext cx="10515600" cy="53322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📦 Container = Folder in Cloud</a:t>
            </a:r>
          </a:p>
          <a:p>
            <a:r>
              <a:rPr lang="en-IN" dirty="0"/>
              <a:t>A </a:t>
            </a:r>
            <a:r>
              <a:rPr lang="en-IN" b="1" dirty="0"/>
              <a:t>Blob Container</a:t>
            </a:r>
            <a:r>
              <a:rPr lang="en-IN" dirty="0"/>
              <a:t> is a </a:t>
            </a:r>
            <a:r>
              <a:rPr lang="en-IN" b="1" dirty="0"/>
              <a:t>logical grouping</a:t>
            </a:r>
            <a:r>
              <a:rPr lang="en-IN" dirty="0"/>
              <a:t> of blobs (files) inside a storage account.</a:t>
            </a:r>
          </a:p>
          <a:p>
            <a:r>
              <a:rPr lang="en-IN" dirty="0"/>
              <a:t>Storage Account</a:t>
            </a:r>
          </a:p>
          <a:p>
            <a:r>
              <a:rPr lang="en-IN" dirty="0"/>
              <a:t> └── Container</a:t>
            </a:r>
          </a:p>
          <a:p>
            <a:r>
              <a:rPr lang="en-IN" dirty="0"/>
              <a:t>      ├── file1.csv</a:t>
            </a:r>
          </a:p>
          <a:p>
            <a:r>
              <a:rPr lang="en-IN" dirty="0"/>
              <a:t>      ├── file2.parquet</a:t>
            </a:r>
          </a:p>
          <a:p>
            <a:r>
              <a:rPr lang="en-IN" dirty="0"/>
              <a:t>      └── images/</a:t>
            </a:r>
          </a:p>
          <a:p>
            <a:pPr marL="0" indent="0">
              <a:buNone/>
            </a:pPr>
            <a:r>
              <a:rPr lang="en-IN" b="1" dirty="0"/>
              <a:t>Why Containers?</a:t>
            </a:r>
          </a:p>
          <a:p>
            <a:r>
              <a:rPr lang="en-IN" dirty="0"/>
              <a:t>Organize data</a:t>
            </a:r>
          </a:p>
          <a:p>
            <a:r>
              <a:rPr lang="en-IN" dirty="0"/>
              <a:t>Control access (security)</a:t>
            </a:r>
          </a:p>
          <a:p>
            <a:r>
              <a:rPr lang="en-IN" dirty="0"/>
              <a:t>Separate environments (raw / curated / prod)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50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4D99-18CD-DE9D-C55C-7881394D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Blob Container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B201-BDE1-1EB6-CDD1-62848D8B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Using Azure Portal</a:t>
            </a:r>
          </a:p>
          <a:p>
            <a:r>
              <a:rPr lang="en-US" dirty="0"/>
              <a:t>Go to </a:t>
            </a:r>
            <a:r>
              <a:rPr lang="en-US" b="1" dirty="0"/>
              <a:t>Storage Account</a:t>
            </a:r>
            <a:endParaRPr lang="en-US" dirty="0"/>
          </a:p>
          <a:p>
            <a:r>
              <a:rPr lang="en-US" dirty="0"/>
              <a:t>Select </a:t>
            </a:r>
            <a:r>
              <a:rPr lang="en-US" b="1" dirty="0"/>
              <a:t>Containers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+ Container</a:t>
            </a:r>
            <a:endParaRPr lang="en-US" dirty="0"/>
          </a:p>
          <a:p>
            <a:r>
              <a:rPr lang="en-US" dirty="0"/>
              <a:t>Enter: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: raw-data</a:t>
            </a:r>
          </a:p>
          <a:p>
            <a:pPr lvl="1"/>
            <a:r>
              <a:rPr lang="en-US" b="1" dirty="0"/>
              <a:t>Public access level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Private (recommended)</a:t>
            </a:r>
          </a:p>
          <a:p>
            <a:r>
              <a:rPr lang="en-US" dirty="0"/>
              <a:t>Click </a:t>
            </a:r>
            <a:r>
              <a:rPr lang="en-US" b="1" dirty="0"/>
              <a:t>Create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79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7880-24C9-1F35-74EA-8676E179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416B-E47A-119C-054C-83EE3690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6945"/>
            <a:ext cx="10515600" cy="57683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az</a:t>
            </a:r>
            <a:r>
              <a:rPr lang="en-IN" dirty="0"/>
              <a:t> storage blob upload \</a:t>
            </a:r>
          </a:p>
          <a:p>
            <a:pPr marL="0" indent="0">
              <a:buNone/>
            </a:pPr>
            <a:r>
              <a:rPr lang="en-IN" dirty="0"/>
              <a:t>  --account-name </a:t>
            </a:r>
            <a:r>
              <a:rPr lang="en-IN" dirty="0" err="1"/>
              <a:t>mystorage</a:t>
            </a:r>
            <a:r>
              <a:rPr lang="en-IN" dirty="0"/>
              <a:t> \</a:t>
            </a:r>
          </a:p>
          <a:p>
            <a:pPr marL="0" indent="0">
              <a:buNone/>
            </a:pPr>
            <a:r>
              <a:rPr lang="en-IN" dirty="0"/>
              <a:t>  --container-name logs \</a:t>
            </a:r>
          </a:p>
          <a:p>
            <a:pPr marL="0" indent="0">
              <a:buNone/>
            </a:pPr>
            <a:r>
              <a:rPr lang="en-IN" dirty="0"/>
              <a:t>  --name app.log \</a:t>
            </a:r>
          </a:p>
          <a:p>
            <a:pPr marL="0" indent="0">
              <a:buNone/>
            </a:pPr>
            <a:r>
              <a:rPr lang="en-IN" dirty="0"/>
              <a:t>  --file app.log \</a:t>
            </a:r>
          </a:p>
          <a:p>
            <a:pPr marL="0" indent="0">
              <a:buNone/>
            </a:pPr>
            <a:r>
              <a:rPr lang="en-IN" dirty="0"/>
              <a:t>  --tier Cool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Real-World Use Case</a:t>
            </a:r>
          </a:p>
          <a:p>
            <a:r>
              <a:rPr lang="en-US" dirty="0"/>
              <a:t>Application logs → Hot → Cool → Archive (Lifecycle Management)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What Are Access Tiers?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Access tires:  </a:t>
            </a:r>
            <a:r>
              <a:rPr lang="en-US" dirty="0"/>
              <a:t>Access tiers define </a:t>
            </a:r>
            <a:r>
              <a:rPr lang="en-US" b="1" dirty="0"/>
              <a:t>how frequently data is accessed</a:t>
            </a:r>
            <a:r>
              <a:rPr lang="en-US" dirty="0"/>
              <a:t> and </a:t>
            </a:r>
            <a:r>
              <a:rPr lang="en-US" b="1" dirty="0"/>
              <a:t>cost structure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22C68C-0054-4670-698D-BF52132E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293566"/>
              </p:ext>
            </p:extLst>
          </p:nvPr>
        </p:nvGraphicFramePr>
        <p:xfrm>
          <a:off x="4689986" y="1325563"/>
          <a:ext cx="6980905" cy="1737360"/>
        </p:xfrm>
        <a:graphic>
          <a:graphicData uri="http://schemas.openxmlformats.org/drawingml/2006/table">
            <a:tbl>
              <a:tblPr/>
              <a:tblGrid>
                <a:gridCol w="1396181">
                  <a:extLst>
                    <a:ext uri="{9D8B030D-6E8A-4147-A177-3AD203B41FA5}">
                      <a16:colId xmlns:a16="http://schemas.microsoft.com/office/drawing/2014/main" val="2180800225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3486385799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3024300959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826321085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2647141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FF0000"/>
                          </a:solidFill>
                        </a:rPr>
                        <a:t>Tier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FF0000"/>
                          </a:solidFill>
                        </a:rPr>
                        <a:t>Storage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rgbClr val="FF0000"/>
                          </a:solidFill>
                        </a:rPr>
                        <a:t>Access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solidFill>
                            <a:srgbClr val="FF0000"/>
                          </a:solidFill>
                        </a:rPr>
                        <a:t>Access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dirty="0">
                          <a:solidFill>
                            <a:srgbClr val="FF0000"/>
                          </a:solidFill>
                        </a:rPr>
                        <a:t>Min 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31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Milliseconds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88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Cool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Milliseconds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36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Archive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686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75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81EF-A683-DEF7-73AB-1592342D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2. Azure Data Lake Storage Gen2 (ADLS Gen2)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A3EC4-784D-D34A-AD8F-65D0901CC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09" y="1162842"/>
            <a:ext cx="10515600" cy="54665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What is ADLS Gen2?</a:t>
            </a:r>
          </a:p>
          <a:p>
            <a:r>
              <a:rPr lang="en-IN" dirty="0"/>
              <a:t>A </a:t>
            </a:r>
            <a:r>
              <a:rPr lang="en-IN" b="1" dirty="0"/>
              <a:t>big data optimized storage layer</a:t>
            </a:r>
            <a:r>
              <a:rPr lang="en-IN" dirty="0"/>
              <a:t> built on top of Blob Storage.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Key Features:</a:t>
            </a:r>
          </a:p>
          <a:p>
            <a:r>
              <a:rPr lang="en-IN" b="1" dirty="0"/>
              <a:t>Hierarchical Namespace (HNS)</a:t>
            </a:r>
            <a:br>
              <a:rPr lang="en-IN" dirty="0"/>
            </a:br>
            <a:r>
              <a:rPr lang="en-IN" dirty="0"/>
              <a:t>→ Enables directories &amp; file-level operations</a:t>
            </a:r>
          </a:p>
          <a:p>
            <a:r>
              <a:rPr lang="en-IN" b="1" dirty="0"/>
              <a:t>POSIX-style ACLs</a:t>
            </a:r>
            <a:endParaRPr lang="en-IN" dirty="0"/>
          </a:p>
          <a:p>
            <a:r>
              <a:rPr lang="en-IN" b="1" dirty="0"/>
              <a:t>Optimized for analytics engines</a:t>
            </a:r>
            <a:endParaRPr lang="en-IN" dirty="0"/>
          </a:p>
          <a:p>
            <a:pPr lvl="1"/>
            <a:r>
              <a:rPr lang="en-IN" dirty="0"/>
              <a:t>Azure Databricks</a:t>
            </a:r>
          </a:p>
          <a:p>
            <a:pPr lvl="1"/>
            <a:r>
              <a:rPr lang="en-IN" dirty="0"/>
              <a:t>Synapse</a:t>
            </a:r>
          </a:p>
          <a:p>
            <a:pPr lvl="1"/>
            <a:r>
              <a:rPr lang="en-IN" dirty="0"/>
              <a:t>Hadoop</a:t>
            </a:r>
          </a:p>
          <a:p>
            <a:r>
              <a:rPr lang="en-IN" b="1" dirty="0"/>
              <a:t>Massive scale &amp; throughput</a:t>
            </a:r>
          </a:p>
          <a:p>
            <a:r>
              <a:rPr lang="en-IN" b="1" dirty="0"/>
              <a:t>abfss://raw@datalakestore.dfs.core.windows.net/sales/2024/data.parquet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US" b="1" dirty="0"/>
              <a:t>Real-World Use Case</a:t>
            </a:r>
          </a:p>
          <a:p>
            <a:r>
              <a:rPr lang="en-US" dirty="0"/>
              <a:t>Enterprise data lake for </a:t>
            </a:r>
            <a:r>
              <a:rPr lang="en-US" b="1" dirty="0"/>
              <a:t>ETL, ML, AI pipelines</a:t>
            </a:r>
            <a:endParaRPr lang="en-US" dirty="0"/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26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ED0F-9575-A86B-00ED-D84121F1F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Why ADLS Gen2 vs Blob?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146283-42B2-8522-561C-12D1C5130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758063"/>
              </p:ext>
            </p:extLst>
          </p:nvPr>
        </p:nvGraphicFramePr>
        <p:xfrm>
          <a:off x="838200" y="1825625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302066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2319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888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ADLS Gen2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20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Folder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258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 data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556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 POSIX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74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40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AB5D-A26F-394D-04F8-02820A17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3. Azure File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49D5-438E-9B7E-E205-CE7B3B187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27" y="1144587"/>
            <a:ext cx="10515600" cy="550201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What is Azure File Storage?</a:t>
            </a:r>
          </a:p>
          <a:p>
            <a:r>
              <a:rPr lang="en-IN" dirty="0"/>
              <a:t>Fully managed </a:t>
            </a:r>
            <a:r>
              <a:rPr lang="en-IN" b="1" dirty="0"/>
              <a:t>cloud file shares</a:t>
            </a:r>
            <a:r>
              <a:rPr lang="en-IN" dirty="0"/>
              <a:t> accessible like a network drive.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Supported Protocols</a:t>
            </a:r>
          </a:p>
          <a:p>
            <a:r>
              <a:rPr lang="en-IN" b="1" dirty="0"/>
              <a:t>SMB (Server Message Block)</a:t>
            </a:r>
            <a:endParaRPr lang="en-IN" dirty="0"/>
          </a:p>
          <a:p>
            <a:pPr lvl="1"/>
            <a:r>
              <a:rPr lang="en-IN" dirty="0"/>
              <a:t>Windows</a:t>
            </a:r>
          </a:p>
          <a:p>
            <a:pPr lvl="1"/>
            <a:r>
              <a:rPr lang="en-IN" dirty="0"/>
              <a:t>Linux</a:t>
            </a:r>
          </a:p>
          <a:p>
            <a:r>
              <a:rPr lang="en-IN" b="1" dirty="0"/>
              <a:t>NFS (Network File System)</a:t>
            </a:r>
            <a:endParaRPr lang="en-IN" dirty="0"/>
          </a:p>
          <a:p>
            <a:pPr lvl="1"/>
            <a:r>
              <a:rPr lang="en-IN" dirty="0"/>
              <a:t>Linux-based workloads</a:t>
            </a:r>
          </a:p>
          <a:p>
            <a:pPr marL="0" indent="0">
              <a:buNone/>
            </a:pPr>
            <a:r>
              <a:rPr lang="en-IN" b="1" dirty="0"/>
              <a:t>Access Methods</a:t>
            </a:r>
          </a:p>
          <a:p>
            <a:r>
              <a:rPr lang="en-IN" dirty="0"/>
              <a:t>Azure VM</a:t>
            </a:r>
          </a:p>
          <a:p>
            <a:r>
              <a:rPr lang="en-IN" dirty="0"/>
              <a:t>On-prem servers (via VPN/ExpressRoute)</a:t>
            </a:r>
          </a:p>
          <a:p>
            <a:r>
              <a:rPr lang="en-IN" dirty="0"/>
              <a:t>Azure File Sync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Mount SMB on Windows: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net use Z: \\mystorage.file.core.windows.net\share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13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3B3D-7BB4-FC29-FA82-C7F9D366D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Use Cases</a:t>
            </a:r>
          </a:p>
          <a:p>
            <a:r>
              <a:rPr lang="en-US" dirty="0"/>
              <a:t>Lift-and-shift legacy apps</a:t>
            </a:r>
          </a:p>
          <a:p>
            <a:r>
              <a:rPr lang="en-US" dirty="0"/>
              <a:t>Shared config files</a:t>
            </a:r>
          </a:p>
          <a:p>
            <a:r>
              <a:rPr lang="en-US" dirty="0"/>
              <a:t>Home directories</a:t>
            </a:r>
          </a:p>
          <a:p>
            <a:r>
              <a:rPr lang="en-US" dirty="0"/>
              <a:t>Application shared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95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C46A-EA1F-5955-629F-F36D8B13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58536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4. Azure Queue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3A10-DD3F-066C-759C-EEFC8511F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4" y="859271"/>
            <a:ext cx="10515600" cy="57077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What is Queue Storage?</a:t>
            </a:r>
          </a:p>
          <a:p>
            <a:r>
              <a:rPr lang="en-IN" dirty="0"/>
              <a:t>A </a:t>
            </a:r>
            <a:r>
              <a:rPr lang="en-IN" b="1" dirty="0"/>
              <a:t>message queue</a:t>
            </a:r>
            <a:r>
              <a:rPr lang="en-IN" dirty="0"/>
              <a:t> service for </a:t>
            </a:r>
            <a:r>
              <a:rPr lang="en-IN" b="1" dirty="0"/>
              <a:t>decoupling application components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Key Concepts</a:t>
            </a:r>
          </a:p>
          <a:p>
            <a:r>
              <a:rPr lang="en-IN" dirty="0"/>
              <a:t>Messages up to </a:t>
            </a:r>
            <a:r>
              <a:rPr lang="en-IN" b="1" dirty="0"/>
              <a:t>64 KB</a:t>
            </a:r>
            <a:endParaRPr lang="en-IN" dirty="0"/>
          </a:p>
          <a:p>
            <a:r>
              <a:rPr lang="en-IN" dirty="0"/>
              <a:t>FIFO (approximate)</a:t>
            </a:r>
          </a:p>
          <a:p>
            <a:r>
              <a:rPr lang="en-IN" dirty="0"/>
              <a:t>Visibility timeout</a:t>
            </a:r>
          </a:p>
          <a:p>
            <a:r>
              <a:rPr lang="en-IN" dirty="0"/>
              <a:t>At-least-once delivery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Typical Flow</a:t>
            </a:r>
          </a:p>
          <a:p>
            <a:r>
              <a:rPr lang="en-IN" dirty="0"/>
              <a:t>Producer adds message</a:t>
            </a:r>
          </a:p>
          <a:p>
            <a:r>
              <a:rPr lang="en-IN" dirty="0"/>
              <a:t>Consumer reads message</a:t>
            </a:r>
          </a:p>
          <a:p>
            <a:r>
              <a:rPr lang="en-IN" dirty="0"/>
              <a:t>Message processed</a:t>
            </a:r>
          </a:p>
          <a:p>
            <a:r>
              <a:rPr lang="en-IN" dirty="0"/>
              <a:t>Message deleted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864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document&#10;&#10;AI-generated content may be incorrect.">
            <a:extLst>
              <a:ext uri="{FF2B5EF4-FFF2-40B4-BE49-F238E27FC236}">
                <a16:creationId xmlns:a16="http://schemas.microsoft.com/office/drawing/2014/main" id="{322BE45D-8957-9798-EC35-6B244490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108155"/>
            <a:ext cx="11651225" cy="59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02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7057-4D15-7169-34C1-D1D9BEF8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4. Azure Queue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30D27-26FC-65A8-34AE-91FF660C4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4588"/>
            <a:ext cx="10515600" cy="5619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azure.storage.queue</a:t>
            </a:r>
            <a:r>
              <a:rPr lang="en-IN" dirty="0"/>
              <a:t> import </a:t>
            </a:r>
            <a:r>
              <a:rPr lang="en-IN" dirty="0" err="1"/>
              <a:t>QueueClient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queue = </a:t>
            </a:r>
            <a:r>
              <a:rPr lang="en-IN" dirty="0" err="1"/>
              <a:t>QueueClient.from_connection_string</a:t>
            </a:r>
            <a:r>
              <a:rPr lang="en-IN" dirty="0"/>
              <a:t>(</a:t>
            </a:r>
            <a:r>
              <a:rPr lang="en-IN" dirty="0" err="1"/>
              <a:t>conn_str</a:t>
            </a:r>
            <a:r>
              <a:rPr lang="en-IN" dirty="0"/>
              <a:t>, "orders")</a:t>
            </a:r>
          </a:p>
          <a:p>
            <a:pPr marL="0" indent="0">
              <a:buNone/>
            </a:pPr>
            <a:r>
              <a:rPr lang="en-IN" dirty="0" err="1"/>
              <a:t>queue.send_message</a:t>
            </a:r>
            <a:r>
              <a:rPr lang="en-IN" dirty="0"/>
              <a:t>("OrderID:123")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Use Cases</a:t>
            </a:r>
          </a:p>
          <a:p>
            <a:r>
              <a:rPr lang="en-US" dirty="0"/>
              <a:t>Background processing</a:t>
            </a:r>
          </a:p>
          <a:p>
            <a:r>
              <a:rPr lang="en-US" dirty="0"/>
              <a:t>Order processing</a:t>
            </a:r>
          </a:p>
          <a:p>
            <a:r>
              <a:rPr lang="en-US" dirty="0"/>
              <a:t>Event-driven microservices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90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0951-6B12-7E19-2D22-9EA3DFFE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5. Azure Table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0BFC-4C9C-D2FE-4F59-3BD029CA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144587"/>
            <a:ext cx="10515600" cy="5515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Table Storage?</a:t>
            </a:r>
          </a:p>
          <a:p>
            <a:r>
              <a:rPr lang="en-IN" dirty="0"/>
              <a:t>A </a:t>
            </a:r>
            <a:r>
              <a:rPr lang="en-IN" b="1" dirty="0"/>
              <a:t>NoSQL, schema-less key-value storage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Core Concepts</a:t>
            </a:r>
          </a:p>
          <a:p>
            <a:r>
              <a:rPr lang="en-IN" b="1" dirty="0"/>
              <a:t>Table</a:t>
            </a:r>
            <a:endParaRPr lang="en-IN" dirty="0"/>
          </a:p>
          <a:p>
            <a:r>
              <a:rPr lang="en-IN" b="1" dirty="0"/>
              <a:t>Entity</a:t>
            </a:r>
            <a:endParaRPr lang="en-IN" dirty="0"/>
          </a:p>
          <a:p>
            <a:r>
              <a:rPr lang="en-IN" b="1" dirty="0" err="1"/>
              <a:t>PartitionKey</a:t>
            </a:r>
            <a:endParaRPr lang="en-IN" dirty="0"/>
          </a:p>
          <a:p>
            <a:r>
              <a:rPr lang="en-IN" b="1" dirty="0" err="1"/>
              <a:t>RowKey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Why </a:t>
            </a:r>
            <a:r>
              <a:rPr lang="en-IN" b="1" dirty="0" err="1"/>
              <a:t>PartitionKey</a:t>
            </a:r>
            <a:r>
              <a:rPr lang="en-IN" b="1" dirty="0"/>
              <a:t>?</a:t>
            </a:r>
          </a:p>
          <a:p>
            <a:r>
              <a:rPr lang="en-IN" dirty="0"/>
              <a:t>Enables </a:t>
            </a:r>
            <a:r>
              <a:rPr lang="en-IN" b="1" dirty="0"/>
              <a:t>horizontal scalability</a:t>
            </a:r>
            <a:endParaRPr lang="en-IN" dirty="0"/>
          </a:p>
          <a:p>
            <a:r>
              <a:rPr lang="en-IN" dirty="0"/>
              <a:t>Determines data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792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D4323442-7E01-B343-0B76-07B88EBF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826" y="0"/>
            <a:ext cx="12260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5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9946-F413-5613-BD39-B5F3403C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6363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5. Azure Table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20538-9C7F-D014-4868-76FD25A60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54507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Example Entity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</a:t>
            </a:r>
            <a:r>
              <a:rPr lang="en-US" dirty="0" err="1"/>
              <a:t>PartitionKey</a:t>
            </a:r>
            <a:r>
              <a:rPr lang="en-US" dirty="0"/>
              <a:t>": "Customer",</a:t>
            </a:r>
          </a:p>
          <a:p>
            <a:pPr marL="0" indent="0">
              <a:buNone/>
            </a:pPr>
            <a:r>
              <a:rPr lang="en-US" dirty="0"/>
              <a:t>  "</a:t>
            </a:r>
            <a:r>
              <a:rPr lang="en-US" dirty="0" err="1"/>
              <a:t>RowKey</a:t>
            </a:r>
            <a:r>
              <a:rPr lang="en-US" dirty="0"/>
              <a:t>": "C001",</a:t>
            </a:r>
          </a:p>
          <a:p>
            <a:pPr marL="0" indent="0">
              <a:buNone/>
            </a:pPr>
            <a:r>
              <a:rPr lang="en-US" dirty="0"/>
              <a:t>  "Name": "Kumar",</a:t>
            </a:r>
          </a:p>
          <a:p>
            <a:pPr marL="0" indent="0">
              <a:buNone/>
            </a:pPr>
            <a:r>
              <a:rPr lang="en-US" dirty="0"/>
              <a:t>  "City": "Bangalore"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Use Cases</a:t>
            </a:r>
          </a:p>
          <a:p>
            <a:r>
              <a:rPr lang="en-IN" dirty="0"/>
              <a:t>Metadata storage</a:t>
            </a:r>
          </a:p>
          <a:p>
            <a:r>
              <a:rPr lang="en-IN" dirty="0"/>
              <a:t>IoT telemetry</a:t>
            </a:r>
          </a:p>
          <a:p>
            <a:r>
              <a:rPr lang="en-IN" dirty="0"/>
              <a:t>User profile data</a:t>
            </a:r>
          </a:p>
          <a:p>
            <a:r>
              <a:rPr lang="en-IN" dirty="0"/>
              <a:t>Configuration storage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480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74C6-1EF0-17E2-446A-1E382E76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6. Storage Account Types &amp; Replication Options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85014-E6F3-3D1B-8F64-6652CE2AB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24" y="1136950"/>
            <a:ext cx="10835239" cy="522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34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836A-1D6A-36B9-8249-4D5B9804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12687"/>
          </a:xfrm>
        </p:spPr>
        <p:txBody>
          <a:bodyPr>
            <a:normAutofit fontScale="90000"/>
          </a:bodyPr>
          <a:lstStyle/>
          <a:p>
            <a:r>
              <a:rPr lang="en-IN" dirty="0"/>
              <a:t>Storage replication options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169FAA-5B92-FAC1-9722-D97A608CF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22758"/>
            <a:ext cx="11739716" cy="52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76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0AF547-736C-9CA2-7B58-E9D4EF35F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285136"/>
            <a:ext cx="10599174" cy="59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34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D1DE-FFE4-B1E4-FB9C-C89262FF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61063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6. Storage Account Types &amp; Replication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2266-6554-53C8-5F73-419038CEF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 err="1"/>
              <a:t>az</a:t>
            </a:r>
            <a:r>
              <a:rPr lang="en-US" dirty="0"/>
              <a:t> storage account create \</a:t>
            </a:r>
          </a:p>
          <a:p>
            <a:r>
              <a:rPr lang="en-US" dirty="0"/>
              <a:t>  --name </a:t>
            </a:r>
            <a:r>
              <a:rPr lang="en-US" dirty="0" err="1"/>
              <a:t>mystorage</a:t>
            </a:r>
            <a:r>
              <a:rPr lang="en-US" dirty="0"/>
              <a:t> \</a:t>
            </a:r>
          </a:p>
          <a:p>
            <a:r>
              <a:rPr lang="en-US" dirty="0"/>
              <a:t>  --</a:t>
            </a:r>
            <a:r>
              <a:rPr lang="en-US" dirty="0" err="1"/>
              <a:t>sku</a:t>
            </a:r>
            <a:r>
              <a:rPr lang="en-US" dirty="0"/>
              <a:t> </a:t>
            </a:r>
            <a:r>
              <a:rPr lang="en-US" dirty="0" err="1"/>
              <a:t>Standard_GRS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Selection Criteria</a:t>
            </a:r>
          </a:p>
          <a:p>
            <a:r>
              <a:rPr lang="en-US" dirty="0"/>
              <a:t>Compliance</a:t>
            </a:r>
          </a:p>
          <a:p>
            <a:r>
              <a:rPr lang="en-US" dirty="0"/>
              <a:t>Disaster recovery</a:t>
            </a:r>
          </a:p>
          <a:p>
            <a:r>
              <a:rPr lang="en-US" dirty="0"/>
              <a:t>Cost vs availability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02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2208-35FD-6F43-3D11-B60096C3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37709"/>
          </a:xfrm>
        </p:spPr>
        <p:txBody>
          <a:bodyPr/>
          <a:lstStyle/>
          <a:p>
            <a:r>
              <a:rPr lang="en-IN" dirty="0"/>
              <a:t>7. Azure Storage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5B10-0342-DD4D-069E-ADBFD0199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" y="1170998"/>
            <a:ext cx="10515600" cy="4351338"/>
          </a:xfrm>
        </p:spPr>
        <p:txBody>
          <a:bodyPr/>
          <a:lstStyle/>
          <a:p>
            <a:r>
              <a:rPr lang="en-US" dirty="0"/>
              <a:t>Azure Storage supports </a:t>
            </a:r>
            <a:r>
              <a:rPr lang="en-US" b="1" dirty="0"/>
              <a:t>three main authorization methods</a:t>
            </a:r>
            <a:r>
              <a:rPr lang="en-US" dirty="0"/>
              <a:t>:</a:t>
            </a:r>
          </a:p>
          <a:p>
            <a:r>
              <a:rPr lang="en-US" dirty="0"/>
              <a:t>1️⃣ </a:t>
            </a:r>
            <a:r>
              <a:rPr lang="en-US" b="1" dirty="0"/>
              <a:t>Access Keys</a:t>
            </a:r>
            <a:br>
              <a:rPr lang="en-US" dirty="0"/>
            </a:br>
            <a:r>
              <a:rPr lang="en-US" dirty="0"/>
              <a:t>2️⃣ </a:t>
            </a:r>
            <a:r>
              <a:rPr lang="en-US" b="1" dirty="0"/>
              <a:t>SAS Tokens (Shared Access Signature)</a:t>
            </a:r>
            <a:br>
              <a:rPr lang="en-US" dirty="0"/>
            </a:br>
            <a:r>
              <a:rPr lang="en-US" dirty="0"/>
              <a:t>3️⃣ </a:t>
            </a:r>
            <a:r>
              <a:rPr lang="en-US" b="1" dirty="0"/>
              <a:t>RBAC (Azure AD based access)</a:t>
            </a:r>
            <a:endParaRPr lang="en-US" dirty="0"/>
          </a:p>
          <a:p>
            <a:endParaRPr lang="en-IN" dirty="0"/>
          </a:p>
        </p:txBody>
      </p:sp>
      <p:pic>
        <p:nvPicPr>
          <p:cNvPr id="7" name="Picture 6" descr="A black rectangular object with white lines&#10;&#10;AI-generated content may be incorrect.">
            <a:extLst>
              <a:ext uri="{FF2B5EF4-FFF2-40B4-BE49-F238E27FC236}">
                <a16:creationId xmlns:a16="http://schemas.microsoft.com/office/drawing/2014/main" id="{1200E829-81F2-9CBD-E885-39E41D0E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51" y="3566301"/>
            <a:ext cx="6427677" cy="217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61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D45E-7F45-3F0B-1B1B-62D7B2B0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11277"/>
          </a:xfrm>
        </p:spPr>
        <p:txBody>
          <a:bodyPr>
            <a:normAutofit fontScale="90000"/>
          </a:bodyPr>
          <a:lstStyle/>
          <a:p>
            <a:r>
              <a:rPr lang="en-US" dirty="0"/>
              <a:t>Access Keys (Old / Least Secure)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7A43-7C07-DEE7-16EF-4489481C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131434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🔑 What are Access Keys?</a:t>
            </a:r>
          </a:p>
          <a:p>
            <a:r>
              <a:rPr lang="en-US" dirty="0"/>
              <a:t>Each Storage Account has </a:t>
            </a:r>
            <a:r>
              <a:rPr lang="en-US" b="1" dirty="0"/>
              <a:t>2 access keys</a:t>
            </a:r>
            <a:endParaRPr lang="en-US" dirty="0"/>
          </a:p>
          <a:p>
            <a:r>
              <a:rPr lang="en-US" dirty="0"/>
              <a:t>Full </a:t>
            </a:r>
            <a:r>
              <a:rPr lang="en-US" b="1" dirty="0"/>
              <a:t>admin-level access</a:t>
            </a:r>
            <a:endParaRPr lang="en-US" dirty="0"/>
          </a:p>
          <a:p>
            <a:r>
              <a:rPr lang="en-US" dirty="0"/>
              <a:t>No identity, no expiry</a:t>
            </a:r>
          </a:p>
          <a:p>
            <a:r>
              <a:rPr lang="en-US" b="1" dirty="0"/>
              <a:t>📌 How it works</a:t>
            </a:r>
          </a:p>
          <a:p>
            <a:r>
              <a:rPr lang="en-US" dirty="0"/>
              <a:t>Anyone with the key can:</a:t>
            </a:r>
          </a:p>
          <a:p>
            <a:r>
              <a:rPr lang="en-US" dirty="0"/>
              <a:t>Read</a:t>
            </a:r>
          </a:p>
          <a:p>
            <a:r>
              <a:rPr lang="en-US" dirty="0"/>
              <a:t>Write</a:t>
            </a:r>
          </a:p>
          <a:p>
            <a:r>
              <a:rPr lang="en-US" dirty="0"/>
              <a:t>Delete</a:t>
            </a:r>
          </a:p>
          <a:p>
            <a:r>
              <a:rPr lang="en-US" dirty="0"/>
              <a:t>Change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138448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5DB0-909D-6CAA-955F-40787160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58761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SAS Tokens (Shared Access Signature)</a:t>
            </a:r>
            <a:endParaRPr lang="en-IN" dirty="0"/>
          </a:p>
        </p:txBody>
      </p:sp>
      <p:pic>
        <p:nvPicPr>
          <p:cNvPr id="9" name="Picture 8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B3FE3E9-5784-7BFB-6932-43640EFA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1355"/>
            <a:ext cx="10422194" cy="40803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145B5F-B293-B8AA-E3AA-0EED5D03379C}"/>
              </a:ext>
            </a:extLst>
          </p:cNvPr>
          <p:cNvSpPr txBox="1"/>
          <p:nvPr/>
        </p:nvSpPr>
        <p:spPr>
          <a:xfrm>
            <a:off x="250723" y="932589"/>
            <a:ext cx="11371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SAS?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Shared Access Signature (SAS)</a:t>
            </a:r>
            <a:r>
              <a:rPr lang="en-US" dirty="0"/>
              <a:t> is a </a:t>
            </a:r>
            <a:r>
              <a:rPr lang="en-US" b="1" dirty="0"/>
              <a:t>secure, temporary URL token</a:t>
            </a:r>
            <a:r>
              <a:rPr lang="en-US" dirty="0"/>
              <a:t> that grants </a:t>
            </a:r>
            <a:r>
              <a:rPr lang="en-US" b="1" dirty="0"/>
              <a:t>limited access</a:t>
            </a:r>
            <a:r>
              <a:rPr lang="en-US" dirty="0"/>
              <a:t> to Azure Storage resources </a:t>
            </a:r>
            <a:r>
              <a:rPr lang="en-US" b="1" dirty="0"/>
              <a:t>without sharing the storage account access key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Think of SAS as a </a:t>
            </a:r>
            <a:r>
              <a:rPr lang="en-US" b="1" dirty="0"/>
              <a:t>temporary gate pass.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39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5589-26C6-2B49-BA46-27D92A76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6535" y="18255"/>
            <a:ext cx="10515600" cy="896145"/>
          </a:xfrm>
        </p:spPr>
        <p:txBody>
          <a:bodyPr/>
          <a:lstStyle/>
          <a:p>
            <a:r>
              <a:rPr lang="en-IN" dirty="0"/>
              <a:t>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244D7-DE40-CE9E-F18A-4F15ED866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" y="134384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🔷 Why Do We Use SAS?</a:t>
            </a:r>
          </a:p>
          <a:p>
            <a:pPr marL="0" indent="0">
              <a:buNone/>
            </a:pPr>
            <a:r>
              <a:rPr lang="en-US" dirty="0"/>
              <a:t>✔️ Temporary access</a:t>
            </a:r>
            <a:br>
              <a:rPr lang="en-US" dirty="0"/>
            </a:br>
            <a:r>
              <a:rPr lang="en-US" dirty="0"/>
              <a:t>✔️ Permission-based access</a:t>
            </a:r>
            <a:br>
              <a:rPr lang="en-US" dirty="0"/>
            </a:br>
            <a:r>
              <a:rPr lang="en-US" dirty="0"/>
              <a:t>✔️ Secure file sharing</a:t>
            </a:r>
            <a:br>
              <a:rPr lang="en-US" dirty="0"/>
            </a:br>
            <a:r>
              <a:rPr lang="en-US" dirty="0"/>
              <a:t>✔️ No need to share access keys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Common Scenarios:</a:t>
            </a:r>
          </a:p>
          <a:p>
            <a:r>
              <a:rPr lang="en-US" dirty="0"/>
              <a:t>Share files with vendors for 24 hours</a:t>
            </a:r>
          </a:p>
          <a:p>
            <a:r>
              <a:rPr lang="en-US" dirty="0"/>
              <a:t>Allow upload/download without full access</a:t>
            </a:r>
          </a:p>
          <a:p>
            <a:r>
              <a:rPr lang="en-US" dirty="0"/>
              <a:t>External application access</a:t>
            </a:r>
          </a:p>
          <a:p>
            <a:r>
              <a:rPr lang="en-US" dirty="0"/>
              <a:t>Secure data exchange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783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6ABE-7331-A8BA-76EB-7176A385E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5473"/>
            <a:ext cx="10515600" cy="60267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7. Azure Storage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183AC-E385-00C9-0933-BA9F4D397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1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3️⃣ RBAC (Azure AD) – MOST SECURE </a:t>
            </a:r>
          </a:p>
          <a:p>
            <a:pPr marL="0" indent="0">
              <a:buNone/>
            </a:pPr>
            <a:r>
              <a:rPr lang="en-US" b="1" dirty="0"/>
              <a:t>What is RBAC?</a:t>
            </a:r>
          </a:p>
          <a:p>
            <a:r>
              <a:rPr lang="en-US" b="1" dirty="0"/>
              <a:t>Role-Based Access Control</a:t>
            </a:r>
            <a:r>
              <a:rPr lang="en-US" dirty="0"/>
              <a:t> using </a:t>
            </a:r>
            <a:r>
              <a:rPr lang="en-US" b="1" dirty="0"/>
              <a:t>Azure Active Directory</a:t>
            </a:r>
            <a:r>
              <a:rPr lang="en-US" dirty="0"/>
              <a:t> identities.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How it works</a:t>
            </a:r>
          </a:p>
          <a:p>
            <a:r>
              <a:rPr lang="en-US" dirty="0"/>
              <a:t>User / App / Service Identity</a:t>
            </a:r>
          </a:p>
          <a:p>
            <a:r>
              <a:rPr lang="en-US" dirty="0"/>
              <a:t>Assigned roles</a:t>
            </a:r>
          </a:p>
          <a:p>
            <a:r>
              <a:rPr lang="en-US" dirty="0"/>
              <a:t>No keys, no secrets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EAA8F2-2B5B-F98E-0554-F33ABD41A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981368"/>
              </p:ext>
            </p:extLst>
          </p:nvPr>
        </p:nvGraphicFramePr>
        <p:xfrm>
          <a:off x="4515463" y="4873149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273892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919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15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Blob Data Reader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26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Blob Data 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+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2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Storage Blob Data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36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249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F52A16-DECC-64C7-871F-397A1D755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940587"/>
              </p:ext>
            </p:extLst>
          </p:nvPr>
        </p:nvGraphicFramePr>
        <p:xfrm>
          <a:off x="838200" y="1270328"/>
          <a:ext cx="10515600" cy="304166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066978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8601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54555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7698872"/>
                    </a:ext>
                  </a:extLst>
                </a:gridCol>
              </a:tblGrid>
              <a:tr h="1212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RBAC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85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12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 (identity)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2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379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Auditing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75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 Prod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898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6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1023</Words>
  <Application>Microsoft Office PowerPoint</Application>
  <PresentationFormat>Widescreen</PresentationFormat>
  <Paragraphs>268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Azure Storage Services</vt:lpstr>
      <vt:lpstr>Storage Account types</vt:lpstr>
      <vt:lpstr>Azure Blob Storage</vt:lpstr>
      <vt:lpstr>What is a Blob Container?</vt:lpstr>
      <vt:lpstr>How to Create a Blob Container</vt:lpstr>
      <vt:lpstr>Example </vt:lpstr>
      <vt:lpstr>2. Azure Data Lake Storage Gen2 (ADLS Gen2)</vt:lpstr>
      <vt:lpstr>Why ADLS Gen2 vs Blob? </vt:lpstr>
      <vt:lpstr>3. Azure File Storage</vt:lpstr>
      <vt:lpstr>PowerPoint Presentation</vt:lpstr>
      <vt:lpstr>4. Azure Queue Storage</vt:lpstr>
      <vt:lpstr>PowerPoint Presentation</vt:lpstr>
      <vt:lpstr>4. Azure Queue Storage</vt:lpstr>
      <vt:lpstr>5. Azure Table Storage</vt:lpstr>
      <vt:lpstr>PowerPoint Presentation</vt:lpstr>
      <vt:lpstr>5. Azure Table Storage</vt:lpstr>
      <vt:lpstr>6. Storage Account Types &amp; Replication Options</vt:lpstr>
      <vt:lpstr>Storage replication options</vt:lpstr>
      <vt:lpstr>PowerPoint Presentation</vt:lpstr>
      <vt:lpstr>6. Storage Account Types &amp; Replication Options</vt:lpstr>
      <vt:lpstr>7. Azure Storage Security</vt:lpstr>
      <vt:lpstr>Access Keys (Old / Least Secure)</vt:lpstr>
      <vt:lpstr>2️⃣ SAS Tokens (Shared Access Signature)</vt:lpstr>
      <vt:lpstr>SAS</vt:lpstr>
      <vt:lpstr>7. Azure Storage Security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22</cp:revision>
  <dcterms:created xsi:type="dcterms:W3CDTF">2025-12-14T16:52:58Z</dcterms:created>
  <dcterms:modified xsi:type="dcterms:W3CDTF">2026-01-05T23:42:40Z</dcterms:modified>
</cp:coreProperties>
</file>