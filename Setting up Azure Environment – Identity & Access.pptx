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71" r:id="rId10"/>
    <p:sldId id="259" r:id="rId11"/>
    <p:sldId id="260" r:id="rId12"/>
    <p:sldId id="272" r:id="rId13"/>
    <p:sldId id="273" r:id="rId14"/>
    <p:sldId id="274" r:id="rId15"/>
    <p:sldId id="275" r:id="rId16"/>
    <p:sldId id="276" r:id="rId17"/>
    <p:sldId id="261" r:id="rId18"/>
    <p:sldId id="277" r:id="rId19"/>
    <p:sldId id="278" r:id="rId20"/>
    <p:sldId id="279" r:id="rId21"/>
    <p:sldId id="280" r:id="rId22"/>
    <p:sldId id="262" r:id="rId23"/>
    <p:sldId id="281" r:id="rId24"/>
    <p:sldId id="282" r:id="rId25"/>
    <p:sldId id="284" r:id="rId26"/>
    <p:sldId id="283" r:id="rId27"/>
    <p:sldId id="263" r:id="rId28"/>
    <p:sldId id="285" r:id="rId29"/>
    <p:sldId id="264" r:id="rId30"/>
    <p:sldId id="286" r:id="rId31"/>
    <p:sldId id="265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EBF6-EE30-422B-B23A-FE8E92160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01376-686F-40CB-047F-DADBC4935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6AD61-34C3-DA7C-D25D-2192C75D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CFC8D-3974-5F08-8DFD-AB1F676D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A2504-9500-1C3F-35E7-5C28E6AE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15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9F50-8966-0692-D5D4-A94FCD59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108A8-18B4-C9FA-D5AF-5AB6AE8FC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F19A4-31B8-5C6D-8A9F-DA96FCBF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90F97-C43D-1F79-5932-DCF2264D4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4924D-853B-41AE-06CF-37CFF87E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011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3FAD-0CDE-D2E0-EC45-881E9636B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B71AD-74A4-2FFF-4999-23937EDD0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B1488-4AF1-44AC-2FE3-7FED5FE64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37EB4-7C1F-4489-333A-3A8DF7D0E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0C954-4DAC-F9B0-4115-5861A359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6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EF653-FDFF-0F1D-665E-C46B3B7A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63B25-F4EE-40DC-E7E0-E0BEDFBF0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68C95-6604-3D63-EA5F-3D011BC65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FEB9D-E900-1ECF-57BD-F321C5CB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14F6F-D337-9F62-6ECB-F916D9B69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F7A5-8981-56FE-D272-0A4536F3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59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AC28-F9E6-82A3-62CD-B528A227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86630-C666-45D4-F2D1-597B3068C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E9CFB-6B0A-EB44-8EB7-C60524CDD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549F7-6942-A684-8453-7022228EF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55E4F-507C-BC3E-0F11-DF771B431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55685B-F426-B717-96C1-430C73079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E74756-20F7-B36E-8D4C-A7D49823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0384B-803D-5B29-44FA-A9879D34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93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EC03-40AE-2EAA-0E2F-51B49DBD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56161-DDDE-0375-B55D-101C4BC2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0778D-1FF3-006C-1615-12E2B3B8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0B94F-CB99-D076-5A18-B8F5A6E4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08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7E6D9-F080-7E06-629E-26D79F36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D2EE5-1B3C-9C47-A744-4692D3B1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F88BB-FD24-A1AE-C677-AA672F02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8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9055-42FA-C336-5D54-A7D777F3C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8259A-745F-C43A-9799-D79264904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AF769-64D2-517C-55D2-357784C42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53-DAE3-BD0A-F7D7-594B1FB4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D3484-4C22-3C88-AB3F-81928DC5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44274-EA28-7C54-0812-3887669D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5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39D2-378A-F64A-9F8B-32F503848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34581-B957-00BC-17F8-FC1036E26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6B6F0-8F1B-0AFD-B204-82DD63F1D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AF5AD-27FA-4B23-536E-46F336C77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4CA3B-CB2A-0BD9-E460-91332882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ED54-F793-9D10-9DE8-FA45647A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47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6B84-1FB2-449D-EFB0-D12BFBC0D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377A1-2004-044D-22EA-6E607EA6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2111E-BD5D-A351-C1EE-BF4451E4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12DD7-DA8A-2DF9-0F4F-C7972718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E0999-FF1E-FE9D-C5FB-F5FABF21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503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20A15-A28F-D24F-6BE1-ECC2627EF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6FDFC-EFB0-47E3-5B35-DC5556741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8C941-3472-40F9-C3A5-444654CB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CB2AC-3D9F-3BC5-AF66-4C095646F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A83B2-02B9-5C19-4297-16788517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769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592E2-7FF1-9250-6F34-5B1A260CD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82F08-8564-2471-C42E-49256A122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0557B-C632-78DF-720C-849FD76DC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E4968-B10D-4055-B309-0F8859C45544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5CCAB-7407-F0B1-94D6-850641FCD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4E88F-CBED-7EF1-8A25-6D9913EEC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150ED-B64B-4F80-BDFB-957F48686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1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azure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azure.com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E5A0D-CB91-FAB9-486F-B35AD632B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 up Azure Environment – Identity &amp; Access Management Basics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22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9BFE7-7F2D-E56F-A958-B5F1DBDD5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Prerequisites</a:t>
            </a:r>
          </a:p>
          <a:p>
            <a:r>
              <a:rPr lang="en-US" dirty="0"/>
              <a:t>Azure subscription (Free / Pay-As-You-Go)</a:t>
            </a:r>
          </a:p>
          <a:p>
            <a:r>
              <a:rPr lang="en-US" dirty="0"/>
              <a:t>Global Administrator or User Access Administrator role</a:t>
            </a:r>
          </a:p>
          <a:p>
            <a:r>
              <a:rPr lang="en-US" dirty="0"/>
              <a:t>Access to Azure Portal: </a:t>
            </a:r>
            <a:r>
              <a:rPr lang="en-US" dirty="0">
                <a:hlinkClick r:id="rId2"/>
              </a:rPr>
              <a:t>https://portal.azure.com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751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B8CEF-E014-5212-7630-561613DF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964971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Task 1: </a:t>
            </a:r>
            <a:r>
              <a:rPr lang="en-IN" sz="3600" b="1" dirty="0">
                <a:highlight>
                  <a:srgbClr val="FFFF00"/>
                </a:highlight>
              </a:rPr>
              <a:t>Azure Active Directory (Entra ID)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CDD3E-D5BE-92E4-2266-E5A1D483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16" y="1432334"/>
            <a:ext cx="11658600" cy="54256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Steps (Portal)</a:t>
            </a:r>
          </a:p>
          <a:p>
            <a:r>
              <a:rPr lang="en-IN" dirty="0"/>
              <a:t>Login to </a:t>
            </a:r>
            <a:r>
              <a:rPr lang="en-IN" b="1" dirty="0"/>
              <a:t>Azure Portal</a:t>
            </a:r>
            <a:endParaRPr lang="en-IN" dirty="0"/>
          </a:p>
          <a:p>
            <a:r>
              <a:rPr lang="en-IN" dirty="0"/>
              <a:t>Navigate to </a:t>
            </a:r>
            <a:r>
              <a:rPr lang="en-IN" b="1" dirty="0"/>
              <a:t>Microsoft Entra ID</a:t>
            </a:r>
            <a:endParaRPr lang="en-IN" dirty="0"/>
          </a:p>
          <a:p>
            <a:r>
              <a:rPr lang="en-IN" dirty="0"/>
              <a:t>Explore:</a:t>
            </a:r>
          </a:p>
          <a:p>
            <a:pPr lvl="1"/>
            <a:r>
              <a:rPr lang="en-IN" dirty="0"/>
              <a:t>Overview (Tenant ID, Primary domain)</a:t>
            </a:r>
          </a:p>
          <a:p>
            <a:pPr lvl="1"/>
            <a:r>
              <a:rPr lang="en-IN" dirty="0"/>
              <a:t>Licenses</a:t>
            </a:r>
          </a:p>
          <a:p>
            <a:pPr lvl="1"/>
            <a:r>
              <a:rPr lang="en-IN" dirty="0"/>
              <a:t>Security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b="1" dirty="0"/>
              <a:t>Expected Output</a:t>
            </a:r>
          </a:p>
          <a:p>
            <a:r>
              <a:rPr lang="en-IN" dirty="0"/>
              <a:t>Tenant information visible</a:t>
            </a:r>
          </a:p>
          <a:p>
            <a:r>
              <a:rPr lang="en-IN" dirty="0"/>
              <a:t>Default directory loaded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Validation</a:t>
            </a:r>
          </a:p>
          <a:p>
            <a:r>
              <a:rPr lang="en-IN" dirty="0"/>
              <a:t>Note down </a:t>
            </a:r>
            <a:r>
              <a:rPr lang="en-IN" b="1" dirty="0"/>
              <a:t>Tenant ID</a:t>
            </a:r>
            <a:endParaRPr lang="en-IN" dirty="0"/>
          </a:p>
          <a:p>
            <a:r>
              <a:rPr lang="en-IN" dirty="0"/>
              <a:t>Confirm directory name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45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3750-9C9A-D85F-BC39-31AE43F21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97822"/>
          </a:xfrm>
        </p:spPr>
        <p:txBody>
          <a:bodyPr/>
          <a:lstStyle/>
          <a:p>
            <a:r>
              <a:rPr lang="en-IN" dirty="0"/>
              <a:t>MICROSOFT ENTRA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261F6-F678-9691-953D-BE263EA9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6199" y="938698"/>
            <a:ext cx="12160044" cy="560466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Microsoft Entra</a:t>
            </a:r>
            <a:r>
              <a:rPr lang="en-IN" dirty="0"/>
              <a:t>, Microsoft’s </a:t>
            </a:r>
            <a:r>
              <a:rPr lang="en-IN" b="1" dirty="0"/>
              <a:t>identity and access management (IAM) platform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US" b="1" dirty="0"/>
              <a:t>Microsoft Entra</a:t>
            </a:r>
            <a:r>
              <a:rPr lang="en-US" dirty="0"/>
              <a:t> is a </a:t>
            </a:r>
            <a:r>
              <a:rPr lang="en-US" b="1" dirty="0"/>
              <a:t>cloud-based identity and access security platform</a:t>
            </a:r>
            <a:r>
              <a:rPr lang="en-US" dirty="0"/>
              <a:t> that helps organizations:</a:t>
            </a:r>
          </a:p>
          <a:p>
            <a:r>
              <a:rPr lang="en-US" dirty="0"/>
              <a:t>Manage </a:t>
            </a:r>
            <a:r>
              <a:rPr lang="en-US" b="1" dirty="0"/>
              <a:t>who users are</a:t>
            </a:r>
            <a:endParaRPr lang="en-US" dirty="0"/>
          </a:p>
          <a:p>
            <a:r>
              <a:rPr lang="en-US" dirty="0"/>
              <a:t>Control </a:t>
            </a:r>
            <a:r>
              <a:rPr lang="en-US" b="1" dirty="0"/>
              <a:t>what they can access</a:t>
            </a:r>
            <a:endParaRPr lang="en-US" dirty="0"/>
          </a:p>
          <a:p>
            <a:r>
              <a:rPr lang="en-US" dirty="0"/>
              <a:t>Enforce </a:t>
            </a:r>
            <a:r>
              <a:rPr lang="en-US" b="1" dirty="0"/>
              <a:t>secure access policies</a:t>
            </a:r>
            <a:endParaRPr lang="en-US" dirty="0"/>
          </a:p>
          <a:p>
            <a:r>
              <a:rPr lang="en-US" dirty="0"/>
              <a:t>It is used across:</a:t>
            </a:r>
          </a:p>
          <a:p>
            <a:r>
              <a:rPr lang="en-US" dirty="0"/>
              <a:t>Azure</a:t>
            </a:r>
          </a:p>
          <a:p>
            <a:r>
              <a:rPr lang="en-US" dirty="0"/>
              <a:t>Microsoft 365</a:t>
            </a:r>
          </a:p>
          <a:p>
            <a:r>
              <a:rPr lang="en-US" dirty="0"/>
              <a:t>Enterprise applications</a:t>
            </a:r>
          </a:p>
          <a:p>
            <a:r>
              <a:rPr lang="en-US" dirty="0"/>
              <a:t>APIs and cloud 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090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BD1D-A6FF-E17A-79B7-AC5352B7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71680"/>
          </a:xfrm>
        </p:spPr>
        <p:txBody>
          <a:bodyPr>
            <a:normAutofit fontScale="90000"/>
          </a:bodyPr>
          <a:lstStyle/>
          <a:p>
            <a:r>
              <a:rPr lang="en-IN" dirty="0"/>
              <a:t>Components of Microsoft Entra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A97C7-F369-8F9A-FF76-64E953E8F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2530"/>
            <a:ext cx="10515600" cy="611721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 Microsoft Entra ID (Core)</a:t>
            </a:r>
          </a:p>
          <a:p>
            <a:r>
              <a:rPr lang="en-US" dirty="0"/>
              <a:t>Identity store</a:t>
            </a:r>
          </a:p>
          <a:p>
            <a:r>
              <a:rPr lang="en-US" dirty="0"/>
              <a:t>Authentication &amp; authorization</a:t>
            </a:r>
          </a:p>
          <a:p>
            <a:r>
              <a:rPr lang="en-US" dirty="0"/>
              <a:t>Users, groups, apps</a:t>
            </a:r>
          </a:p>
          <a:p>
            <a:r>
              <a:rPr lang="en-US" dirty="0"/>
              <a:t>RBAC support</a:t>
            </a:r>
          </a:p>
          <a:p>
            <a:r>
              <a:rPr lang="en-US" dirty="0"/>
              <a:t>👉 This is what Azure AD used to be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dirty="0"/>
              <a:t>Entra Permissions Management</a:t>
            </a:r>
          </a:p>
          <a:p>
            <a:r>
              <a:rPr lang="en-IN" dirty="0"/>
              <a:t>Cloud Infrastructure Entitlement Management (CIEM)</a:t>
            </a:r>
          </a:p>
          <a:p>
            <a:r>
              <a:rPr lang="en-IN" dirty="0"/>
              <a:t>Finds </a:t>
            </a:r>
            <a:r>
              <a:rPr lang="en-IN" b="1" dirty="0"/>
              <a:t>excess permissions</a:t>
            </a:r>
            <a:endParaRPr lang="en-IN" dirty="0"/>
          </a:p>
          <a:p>
            <a:r>
              <a:rPr lang="en-IN" dirty="0"/>
              <a:t>Improves least-privilege access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User / App</a:t>
            </a:r>
          </a:p>
          <a:p>
            <a:pPr marL="0" indent="0">
              <a:buNone/>
            </a:pPr>
            <a:r>
              <a:rPr lang="en-IN" b="1" dirty="0"/>
              <a:t>   ↓</a:t>
            </a:r>
          </a:p>
          <a:p>
            <a:pPr marL="0" indent="0">
              <a:buNone/>
            </a:pPr>
            <a:r>
              <a:rPr lang="en-IN" b="1" dirty="0"/>
              <a:t>Microsoft Entra ID (Authentication)</a:t>
            </a:r>
          </a:p>
          <a:p>
            <a:pPr marL="0" indent="0">
              <a:buNone/>
            </a:pPr>
            <a:r>
              <a:rPr lang="en-IN" b="1" dirty="0"/>
              <a:t>   ↓</a:t>
            </a:r>
          </a:p>
          <a:p>
            <a:pPr marL="0" indent="0">
              <a:buNone/>
            </a:pPr>
            <a:r>
              <a:rPr lang="en-IN" b="1" dirty="0"/>
              <a:t>Azure RBAC (Authorization)</a:t>
            </a:r>
          </a:p>
          <a:p>
            <a:pPr marL="0" indent="0">
              <a:buNone/>
            </a:pPr>
            <a:r>
              <a:rPr lang="en-IN" b="1" dirty="0"/>
              <a:t>   ↓</a:t>
            </a:r>
          </a:p>
          <a:p>
            <a:pPr marL="0" indent="0">
              <a:buNone/>
            </a:pPr>
            <a:r>
              <a:rPr lang="en-IN" b="1" dirty="0"/>
              <a:t>Azure Resource Access</a:t>
            </a:r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987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F9DE-D801-B5BD-C446-D044E3C29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71680"/>
          </a:xfrm>
        </p:spPr>
        <p:txBody>
          <a:bodyPr>
            <a:normAutofit fontScale="90000"/>
          </a:bodyPr>
          <a:lstStyle/>
          <a:p>
            <a:r>
              <a:rPr lang="en-IN" dirty="0"/>
              <a:t>MICROSOFT ENTRA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BD8C5-4402-B9B7-652E-195633D86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Real-Time Example (Data Engineer)</a:t>
            </a:r>
          </a:p>
          <a:p>
            <a:r>
              <a:rPr lang="en-US" dirty="0"/>
              <a:t>ADF uses </a:t>
            </a:r>
            <a:r>
              <a:rPr lang="en-US" b="1" dirty="0"/>
              <a:t>Managed Identity</a:t>
            </a:r>
            <a:endParaRPr lang="en-US" dirty="0"/>
          </a:p>
          <a:p>
            <a:r>
              <a:rPr lang="en-US" dirty="0"/>
              <a:t>Identity is stored in </a:t>
            </a:r>
            <a:r>
              <a:rPr lang="en-US" b="1" dirty="0"/>
              <a:t>Entra ID</a:t>
            </a:r>
            <a:endParaRPr lang="en-US" dirty="0"/>
          </a:p>
          <a:p>
            <a:r>
              <a:rPr lang="en-US" dirty="0"/>
              <a:t>Storage account uses </a:t>
            </a:r>
            <a:r>
              <a:rPr lang="en-US" b="1" dirty="0"/>
              <a:t>RBAC</a:t>
            </a:r>
            <a:endParaRPr lang="en-US" dirty="0"/>
          </a:p>
          <a:p>
            <a:r>
              <a:rPr lang="en-US" dirty="0"/>
              <a:t>Secure access without keys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968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62E3-6A63-6200-AA79-B0623E20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/>
          </a:bodyPr>
          <a:lstStyle/>
          <a:p>
            <a:r>
              <a:rPr lang="fr-FR" sz="3200" b="1" dirty="0"/>
              <a:t>Microsoft Entra ID: </a:t>
            </a:r>
            <a:r>
              <a:rPr lang="fr-FR" sz="3200" b="1" dirty="0" err="1"/>
              <a:t>Users</a:t>
            </a:r>
            <a:r>
              <a:rPr lang="fr-FR" sz="3200" b="1" dirty="0"/>
              <a:t>, Groups &amp; Service </a:t>
            </a:r>
            <a:r>
              <a:rPr lang="fr-FR" sz="3200" b="1" dirty="0" err="1"/>
              <a:t>Principals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FEB0-EA0E-66D5-E88D-411F35772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3" y="800459"/>
            <a:ext cx="10515600" cy="59248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 What is a User?</a:t>
            </a:r>
          </a:p>
          <a:p>
            <a:r>
              <a:rPr lang="en-IN" dirty="0"/>
              <a:t>A </a:t>
            </a:r>
            <a:r>
              <a:rPr lang="en-IN" b="1" dirty="0"/>
              <a:t>User</a:t>
            </a:r>
            <a:r>
              <a:rPr lang="en-IN" dirty="0"/>
              <a:t> represents a </a:t>
            </a:r>
            <a:r>
              <a:rPr lang="en-IN" b="1" dirty="0"/>
              <a:t>human identity</a:t>
            </a:r>
            <a:r>
              <a:rPr lang="en-IN" dirty="0"/>
              <a:t> in Entra ID.</a:t>
            </a:r>
          </a:p>
          <a:p>
            <a:pPr marL="0" indent="0">
              <a:buNone/>
            </a:pPr>
            <a:r>
              <a:rPr lang="en-IN" b="1" dirty="0"/>
              <a:t> Types of Users</a:t>
            </a:r>
          </a:p>
          <a:p>
            <a:r>
              <a:rPr lang="en-IN" b="1" dirty="0"/>
              <a:t>Member user</a:t>
            </a:r>
            <a:r>
              <a:rPr lang="en-IN" dirty="0"/>
              <a:t> → Internal employee</a:t>
            </a:r>
          </a:p>
          <a:p>
            <a:r>
              <a:rPr lang="en-IN" b="1" dirty="0"/>
              <a:t>Guest user</a:t>
            </a:r>
            <a:r>
              <a:rPr lang="en-IN" dirty="0"/>
              <a:t> → External (B2B partner, vendor)</a:t>
            </a:r>
          </a:p>
          <a:p>
            <a:r>
              <a:rPr lang="en-US" dirty="0"/>
              <a:t>2️⃣ Groups 👥</a:t>
            </a:r>
          </a:p>
          <a:p>
            <a:r>
              <a:rPr lang="en-US" dirty="0"/>
              <a:t>🔷 What is a Group?</a:t>
            </a:r>
          </a:p>
          <a:p>
            <a:endParaRPr lang="en-US" dirty="0"/>
          </a:p>
          <a:p>
            <a:r>
              <a:rPr lang="en-US" dirty="0"/>
              <a:t>A Group is a collection of users or identities used to manage access centrally.</a:t>
            </a:r>
          </a:p>
          <a:p>
            <a:endParaRPr lang="en-US" dirty="0"/>
          </a:p>
          <a:p>
            <a:r>
              <a:rPr lang="en-US" dirty="0"/>
              <a:t>Best practice: Assign roles to groups, not individual users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Types of Groups</a:t>
            </a:r>
          </a:p>
          <a:p>
            <a:r>
              <a:rPr lang="en-US" dirty="0"/>
              <a:t>Group Type	Purpose</a:t>
            </a:r>
          </a:p>
          <a:p>
            <a:r>
              <a:rPr lang="en-US" dirty="0"/>
              <a:t>Security Group	RBAC, access control</a:t>
            </a:r>
          </a:p>
          <a:p>
            <a:r>
              <a:rPr lang="en-US" dirty="0"/>
              <a:t>Microsoft 365 Group	Collaboration (Email, Teams)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77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650E-E390-F363-873D-A2F44D753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Service Principal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What is a Service Principal?</a:t>
            </a:r>
          </a:p>
          <a:p>
            <a:r>
              <a:rPr lang="en-US" dirty="0"/>
              <a:t>A </a:t>
            </a:r>
            <a:r>
              <a:rPr lang="en-US" b="1" dirty="0"/>
              <a:t>Service Principal</a:t>
            </a:r>
            <a:r>
              <a:rPr lang="en-US" dirty="0"/>
              <a:t> is an </a:t>
            </a:r>
            <a:r>
              <a:rPr lang="en-US" b="1" dirty="0"/>
              <a:t>identity for an application or service</a:t>
            </a:r>
            <a:r>
              <a:rPr lang="en-US" dirty="0"/>
              <a:t>, not a human.</a:t>
            </a:r>
          </a:p>
          <a:p>
            <a:r>
              <a:rPr lang="en-US" dirty="0"/>
              <a:t>Used when </a:t>
            </a:r>
            <a:r>
              <a:rPr lang="en-US" b="1" dirty="0"/>
              <a:t>applications</a:t>
            </a:r>
            <a:r>
              <a:rPr lang="en-US" dirty="0"/>
              <a:t> need to access Azure resources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Where It Comes From</a:t>
            </a:r>
          </a:p>
          <a:p>
            <a:r>
              <a:rPr lang="en-US" dirty="0"/>
              <a:t>Created when:</a:t>
            </a:r>
          </a:p>
          <a:p>
            <a:pPr lvl="1"/>
            <a:r>
              <a:rPr lang="en-US" dirty="0"/>
              <a:t>App Registration is created</a:t>
            </a:r>
          </a:p>
          <a:p>
            <a:pPr lvl="1"/>
            <a:r>
              <a:rPr lang="en-US" dirty="0"/>
              <a:t>Azure service is enabled (ADF, Databricks)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Used By</a:t>
            </a:r>
          </a:p>
          <a:p>
            <a:r>
              <a:rPr lang="en-US" dirty="0"/>
              <a:t>Azure Data Factory</a:t>
            </a:r>
          </a:p>
          <a:p>
            <a:r>
              <a:rPr lang="en-US" dirty="0"/>
              <a:t>Databricks</a:t>
            </a:r>
          </a:p>
          <a:p>
            <a:r>
              <a:rPr lang="en-US" dirty="0"/>
              <a:t>Snowflake</a:t>
            </a:r>
          </a:p>
          <a:p>
            <a:r>
              <a:rPr lang="en-US" dirty="0"/>
              <a:t>CI/CD pipelines</a:t>
            </a:r>
          </a:p>
          <a:p>
            <a:r>
              <a:rPr lang="en-US" dirty="0"/>
              <a:t>Automation scripts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Authentication Methods</a:t>
            </a:r>
          </a:p>
          <a:p>
            <a:r>
              <a:rPr lang="en-US" dirty="0"/>
              <a:t>Client ID + Secret</a:t>
            </a:r>
          </a:p>
          <a:p>
            <a:r>
              <a:rPr lang="en-US" dirty="0"/>
              <a:t>Certificate</a:t>
            </a:r>
          </a:p>
          <a:p>
            <a:r>
              <a:rPr lang="en-US" dirty="0"/>
              <a:t>Managed Identity ⭐ (Best)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86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C6B5-8E3C-7B66-4AE7-CA0A902C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 VS SP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A040D3-3086-0470-6E54-D39B64D679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902619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595211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68894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Service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Managed Identity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771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Identity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identity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Azure-managed 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10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 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31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practice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371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762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B511-2A37-C4C6-1130-44C69E84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Task 2: Create Users and Groups</a:t>
            </a:r>
            <a:endParaRPr lang="en-IN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337ED-C15A-C871-1F3E-B2E2F1A4E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13" y="1144587"/>
            <a:ext cx="10515600" cy="559050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Create a User</a:t>
            </a:r>
          </a:p>
          <a:p>
            <a:r>
              <a:rPr lang="en-IN" dirty="0"/>
              <a:t>Entra ID → </a:t>
            </a:r>
            <a:r>
              <a:rPr lang="en-IN" b="1" dirty="0"/>
              <a:t>Users</a:t>
            </a:r>
            <a:r>
              <a:rPr lang="en-IN" dirty="0"/>
              <a:t> → </a:t>
            </a:r>
            <a:r>
              <a:rPr lang="en-IN" b="1" dirty="0"/>
              <a:t>New user</a:t>
            </a:r>
            <a:endParaRPr lang="en-IN" dirty="0"/>
          </a:p>
          <a:p>
            <a:r>
              <a:rPr lang="en-IN" dirty="0"/>
              <a:t>Username: iam.user1@&lt;tenant&gt;.onmicrosoft.com</a:t>
            </a:r>
          </a:p>
          <a:p>
            <a:r>
              <a:rPr lang="en-IN" dirty="0"/>
              <a:t>Assign temporary password</a:t>
            </a:r>
          </a:p>
          <a:p>
            <a:r>
              <a:rPr lang="en-IN" dirty="0"/>
              <a:t>Role: </a:t>
            </a:r>
            <a:r>
              <a:rPr lang="en-IN" b="1" dirty="0"/>
              <a:t>User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Create a Group</a:t>
            </a:r>
          </a:p>
          <a:p>
            <a:r>
              <a:rPr lang="en-IN" dirty="0"/>
              <a:t>Entra ID → </a:t>
            </a:r>
            <a:r>
              <a:rPr lang="en-IN" b="1" dirty="0"/>
              <a:t>Groups</a:t>
            </a:r>
            <a:r>
              <a:rPr lang="en-IN" dirty="0"/>
              <a:t> → </a:t>
            </a:r>
            <a:r>
              <a:rPr lang="en-IN" b="1" dirty="0"/>
              <a:t>New group</a:t>
            </a:r>
            <a:endParaRPr lang="en-IN" dirty="0"/>
          </a:p>
          <a:p>
            <a:r>
              <a:rPr lang="en-IN" dirty="0"/>
              <a:t>Group type: </a:t>
            </a:r>
            <a:r>
              <a:rPr lang="en-IN" b="1" dirty="0"/>
              <a:t>Security</a:t>
            </a:r>
            <a:endParaRPr lang="en-IN" dirty="0"/>
          </a:p>
          <a:p>
            <a:r>
              <a:rPr lang="en-IN" dirty="0"/>
              <a:t>Name: IAM-Admins</a:t>
            </a:r>
          </a:p>
          <a:p>
            <a:r>
              <a:rPr lang="en-IN" dirty="0"/>
              <a:t>Add the created user to the group</a:t>
            </a:r>
          </a:p>
          <a:p>
            <a:pPr marL="0" indent="0">
              <a:buNone/>
            </a:pPr>
            <a:r>
              <a:rPr lang="en-IN" b="1" dirty="0"/>
              <a:t>Expected Output</a:t>
            </a:r>
          </a:p>
          <a:p>
            <a:r>
              <a:rPr lang="en-IN" dirty="0"/>
              <a:t>User and group created successfully</a:t>
            </a:r>
          </a:p>
          <a:p>
            <a:pPr marL="0" indent="0">
              <a:buNone/>
            </a:pPr>
            <a:r>
              <a:rPr lang="en-IN" b="1" dirty="0"/>
              <a:t>Validation</a:t>
            </a:r>
          </a:p>
          <a:p>
            <a:r>
              <a:rPr lang="en-IN" dirty="0"/>
              <a:t>User appears under group members</a:t>
            </a:r>
          </a:p>
          <a:p>
            <a:r>
              <a:rPr lang="en-IN" dirty="0"/>
              <a:t>User can sign in to Azure Portal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101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B3A5-D59A-450D-3A66-BE177C00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Task 3: Service Principals &amp; App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1C53C-5081-7AE1-8FA4-E46D6643F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13" y="1144587"/>
            <a:ext cx="10515600" cy="55905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Steps</a:t>
            </a:r>
          </a:p>
          <a:p>
            <a:r>
              <a:rPr lang="en-IN" dirty="0"/>
              <a:t>Entra ID → </a:t>
            </a:r>
            <a:r>
              <a:rPr lang="en-IN" b="1" dirty="0"/>
              <a:t>App registrations</a:t>
            </a:r>
            <a:r>
              <a:rPr lang="en-IN" dirty="0"/>
              <a:t> → </a:t>
            </a:r>
            <a:r>
              <a:rPr lang="en-IN" b="1" dirty="0"/>
              <a:t>New registration</a:t>
            </a:r>
            <a:endParaRPr lang="en-IN" dirty="0"/>
          </a:p>
          <a:p>
            <a:r>
              <a:rPr lang="en-IN" dirty="0"/>
              <a:t>Name: </a:t>
            </a:r>
            <a:r>
              <a:rPr lang="en-IN" dirty="0" err="1"/>
              <a:t>iam</a:t>
            </a:r>
            <a:r>
              <a:rPr lang="en-IN" dirty="0"/>
              <a:t>-demo-app</a:t>
            </a:r>
          </a:p>
          <a:p>
            <a:r>
              <a:rPr lang="en-IN" dirty="0"/>
              <a:t>Register → Note </a:t>
            </a:r>
            <a:r>
              <a:rPr lang="en-IN" b="1" dirty="0"/>
              <a:t>Application (Client) ID</a:t>
            </a:r>
            <a:endParaRPr lang="en-IN" dirty="0"/>
          </a:p>
          <a:p>
            <a:r>
              <a:rPr lang="en-IN" dirty="0"/>
              <a:t>Go to </a:t>
            </a:r>
            <a:r>
              <a:rPr lang="en-IN" b="1" dirty="0"/>
              <a:t>Certificates &amp; Secrets</a:t>
            </a:r>
            <a:endParaRPr lang="en-IN" dirty="0"/>
          </a:p>
          <a:p>
            <a:r>
              <a:rPr lang="en-IN" dirty="0"/>
              <a:t>Create a </a:t>
            </a:r>
            <a:r>
              <a:rPr lang="en-IN" b="1" dirty="0"/>
              <a:t>Client Secret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Expected Output</a:t>
            </a:r>
          </a:p>
          <a:p>
            <a:r>
              <a:rPr lang="en-IN" dirty="0"/>
              <a:t>App registration created</a:t>
            </a:r>
          </a:p>
          <a:p>
            <a:r>
              <a:rPr lang="en-IN" dirty="0"/>
              <a:t>Secret generated</a:t>
            </a:r>
          </a:p>
          <a:p>
            <a:pPr marL="0" indent="0">
              <a:buNone/>
            </a:pPr>
            <a:r>
              <a:rPr lang="en-IN" b="1" dirty="0"/>
              <a:t>Validation</a:t>
            </a:r>
          </a:p>
          <a:p>
            <a:r>
              <a:rPr lang="en-IN" dirty="0"/>
              <a:t>Client ID &amp; Tenant ID available</a:t>
            </a:r>
          </a:p>
          <a:p>
            <a:r>
              <a:rPr lang="en-IN" dirty="0"/>
              <a:t>Secret copied securely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165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FD67-A743-1103-91EE-1FB68D08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RBAC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56A56-9852-DBB1-C120-058855838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RBAC?</a:t>
            </a:r>
          </a:p>
          <a:p>
            <a:r>
              <a:rPr lang="en-US" b="1" dirty="0"/>
              <a:t>RBAC (Role-Based Access Control)</a:t>
            </a:r>
            <a:r>
              <a:rPr lang="en-US" dirty="0"/>
              <a:t> is the </a:t>
            </a:r>
            <a:r>
              <a:rPr lang="en-US" b="1" dirty="0"/>
              <a:t>authorization system</a:t>
            </a:r>
            <a:r>
              <a:rPr lang="en-US" dirty="0"/>
              <a:t> in Azure that controls</a:t>
            </a:r>
            <a:br>
              <a:rPr lang="en-US" dirty="0"/>
            </a:br>
            <a:r>
              <a:rPr lang="en-US" b="1" dirty="0"/>
              <a:t>who can do what on which resource</a:t>
            </a:r>
            <a:r>
              <a:rPr lang="en-US" dirty="0"/>
              <a:t>.</a:t>
            </a:r>
          </a:p>
          <a:p>
            <a:r>
              <a:rPr lang="en-US" dirty="0"/>
              <a:t>In simple terms:</a:t>
            </a:r>
            <a:br>
              <a:rPr lang="en-US" dirty="0"/>
            </a:br>
            <a:r>
              <a:rPr lang="en-US" b="1" dirty="0"/>
              <a:t>RBAC = Permissions</a:t>
            </a:r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8AF3A9-554C-A646-AE23-1A5FF092C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402888"/>
              </p:ext>
            </p:extLst>
          </p:nvPr>
        </p:nvGraphicFramePr>
        <p:xfrm>
          <a:off x="1418303" y="4730847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75039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1622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951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Who are you? (Entra 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110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can you do? (RBAC)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572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239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4B1D-D0F7-8F93-1D9E-3CB2DED7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10618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Core RBAC Components (VERY IMPORTANT)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845C4-D0EF-47A7-43D1-7BC80FA4E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8" y="675251"/>
            <a:ext cx="10515600" cy="6182748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>
                <a:solidFill>
                  <a:srgbClr val="FF0000"/>
                </a:solidFill>
                <a:highlight>
                  <a:srgbClr val="FFFF00"/>
                </a:highlight>
              </a:rPr>
              <a:t>RBAC is based on 3 pillars:</a:t>
            </a:r>
          </a:p>
          <a:p>
            <a:pPr marL="0" indent="0">
              <a:buNone/>
            </a:pPr>
            <a:r>
              <a:rPr lang="en-US" sz="2200" b="1" dirty="0">
                <a:highlight>
                  <a:srgbClr val="FFFF00"/>
                </a:highlight>
              </a:rPr>
              <a:t>1️⃣ Security Principal (WHO)</a:t>
            </a:r>
          </a:p>
          <a:p>
            <a:r>
              <a:rPr lang="en-US" dirty="0"/>
              <a:t>User</a:t>
            </a:r>
          </a:p>
          <a:p>
            <a:r>
              <a:rPr lang="en-US" dirty="0"/>
              <a:t>Group</a:t>
            </a:r>
          </a:p>
          <a:p>
            <a:r>
              <a:rPr lang="en-US" dirty="0"/>
              <a:t>Service Principal</a:t>
            </a:r>
          </a:p>
          <a:p>
            <a:r>
              <a:rPr lang="en-US" dirty="0"/>
              <a:t>Managed Identity</a:t>
            </a:r>
          </a:p>
          <a:p>
            <a:pPr marL="0" indent="0">
              <a:buNone/>
            </a:pPr>
            <a:r>
              <a:rPr lang="en-US" sz="2600" b="1" dirty="0">
                <a:highlight>
                  <a:srgbClr val="FFFF00"/>
                </a:highlight>
              </a:rPr>
              <a:t>2️⃣ Role Definition (WHAT)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RBAC role</a:t>
            </a:r>
            <a:r>
              <a:rPr lang="en-US" dirty="0"/>
              <a:t> is a </a:t>
            </a:r>
            <a:r>
              <a:rPr lang="en-US" b="1" dirty="0"/>
              <a:t>set of permissions</a:t>
            </a:r>
            <a:r>
              <a:rPr lang="en-US" dirty="0"/>
              <a:t> that defines </a:t>
            </a:r>
            <a:r>
              <a:rPr lang="en-US" b="1" dirty="0"/>
              <a:t>what actions are allowed</a:t>
            </a:r>
            <a:r>
              <a:rPr lang="en-US" dirty="0"/>
              <a:t> on Azure resources.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r>
              <a:rPr lang="en-US" dirty="0"/>
              <a:t>Reader</a:t>
            </a:r>
          </a:p>
          <a:p>
            <a:r>
              <a:rPr lang="en-US" dirty="0"/>
              <a:t>Contributor</a:t>
            </a:r>
          </a:p>
          <a:p>
            <a:r>
              <a:rPr lang="en-US" dirty="0"/>
              <a:t>Owner</a:t>
            </a:r>
          </a:p>
          <a:p>
            <a:r>
              <a:rPr lang="en-US" dirty="0"/>
              <a:t>Storage Blob Data Contributor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599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540B-93BF-B1BC-CC4E-293039D4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TASK 4: RBAC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38170-E6B2-CE04-52D2-09549BB54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970218"/>
            <a:ext cx="10515600" cy="57943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500" b="1" dirty="0"/>
              <a:t>3️⃣ Scope (WHERE)</a:t>
            </a:r>
          </a:p>
          <a:p>
            <a:r>
              <a:rPr lang="en-US" dirty="0"/>
              <a:t>Where the permission applies.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Scopes:</a:t>
            </a:r>
          </a:p>
          <a:p>
            <a:r>
              <a:rPr lang="en-US" dirty="0"/>
              <a:t>Management Group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Subscription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Resource Group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Resource</a:t>
            </a:r>
          </a:p>
          <a:p>
            <a:pPr marL="0" indent="0">
              <a:buNone/>
            </a:pPr>
            <a:r>
              <a:rPr lang="en-US" dirty="0"/>
              <a:t>✔️ Permissions are </a:t>
            </a:r>
            <a:r>
              <a:rPr lang="en-US" b="1" dirty="0"/>
              <a:t>inherited downward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RBAC Formula</a:t>
            </a:r>
          </a:p>
          <a:p>
            <a:endParaRPr lang="en-IN" dirty="0"/>
          </a:p>
          <a:p>
            <a:r>
              <a:rPr lang="en-US" dirty="0"/>
              <a:t>Security Principal + Role + Scope =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367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12FC-D481-4787-2F1E-F648BB0CE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07655"/>
          </a:xfrm>
        </p:spPr>
        <p:txBody>
          <a:bodyPr/>
          <a:lstStyle/>
          <a:p>
            <a:r>
              <a:rPr lang="en-IN" dirty="0"/>
              <a:t>TASK4 : RBAC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783AA-459D-B6D5-AA7C-ACA9E35DE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101797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How RBAC Works (Flow)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User / App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Authenticated by Entra ID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RBAC checks role + scope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Access granted or denied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414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9BCD-C380-DB32-F5BC-B13C44D3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RBAC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A3B5-000F-1C81-1774-89D776DED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1496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Real-Time Example (Data Engineering)</a:t>
            </a:r>
          </a:p>
          <a:p>
            <a:r>
              <a:rPr lang="en-IN" b="1" dirty="0"/>
              <a:t>Scenario: Databricks reads from Blob</a:t>
            </a:r>
          </a:p>
          <a:p>
            <a:r>
              <a:rPr lang="en-IN" dirty="0"/>
              <a:t>Databricks has </a:t>
            </a:r>
            <a:r>
              <a:rPr lang="en-IN" b="1" dirty="0"/>
              <a:t>Managed Identity</a:t>
            </a:r>
            <a:endParaRPr lang="en-IN" dirty="0"/>
          </a:p>
          <a:p>
            <a:r>
              <a:rPr lang="en-IN" dirty="0"/>
              <a:t>Identity exists in Entra ID</a:t>
            </a:r>
          </a:p>
          <a:p>
            <a:r>
              <a:rPr lang="en-IN" dirty="0"/>
              <a:t>Storage Account IAM:</a:t>
            </a:r>
          </a:p>
          <a:p>
            <a:pPr lvl="1"/>
            <a:r>
              <a:rPr lang="en-IN" dirty="0"/>
              <a:t>Assign role: Storage Blob Data Reader</a:t>
            </a:r>
          </a:p>
          <a:p>
            <a:pPr lvl="1"/>
            <a:r>
              <a:rPr lang="en-IN" dirty="0"/>
              <a:t>Scope: Container or Storage Account</a:t>
            </a:r>
          </a:p>
          <a:p>
            <a:r>
              <a:rPr lang="en-IN" dirty="0"/>
              <a:t>✔️ Secure</a:t>
            </a:r>
            <a:br>
              <a:rPr lang="en-IN" dirty="0"/>
            </a:br>
            <a:r>
              <a:rPr lang="en-IN" dirty="0"/>
              <a:t>✔️ No keys</a:t>
            </a:r>
            <a:br>
              <a:rPr lang="en-IN" dirty="0"/>
            </a:br>
            <a:r>
              <a:rPr lang="en-IN" dirty="0"/>
              <a:t>✔️ Auditable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836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4566-403B-626C-A34F-E6397089D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Task 4: Role-Based Access Control (RBAC)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2901-B442-5227-57D8-3A279E08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12" y="1019380"/>
            <a:ext cx="10515600" cy="56173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Assign Built-in Role</a:t>
            </a:r>
          </a:p>
          <a:p>
            <a:r>
              <a:rPr lang="en-US" dirty="0"/>
              <a:t>Go to a </a:t>
            </a:r>
            <a:r>
              <a:rPr lang="en-US" b="1" dirty="0"/>
              <a:t>Resource Group</a:t>
            </a:r>
            <a:endParaRPr lang="en-US" dirty="0"/>
          </a:p>
          <a:p>
            <a:r>
              <a:rPr lang="en-US" dirty="0"/>
              <a:t>Access Control (IAM) → </a:t>
            </a:r>
            <a:r>
              <a:rPr lang="en-US" b="1" dirty="0"/>
              <a:t>Add role assignment</a:t>
            </a:r>
            <a:endParaRPr lang="en-US" dirty="0"/>
          </a:p>
          <a:p>
            <a:r>
              <a:rPr lang="en-US" dirty="0"/>
              <a:t>Role: </a:t>
            </a:r>
            <a:r>
              <a:rPr lang="en-US" b="1" dirty="0"/>
              <a:t>Reader</a:t>
            </a:r>
            <a:endParaRPr lang="en-US" dirty="0"/>
          </a:p>
          <a:p>
            <a:r>
              <a:rPr lang="en-US" dirty="0"/>
              <a:t>Assign to: IAM-Admins group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Test Access</a:t>
            </a:r>
          </a:p>
          <a:p>
            <a:r>
              <a:rPr lang="en-US" dirty="0"/>
              <a:t>Login as iam.user1</a:t>
            </a:r>
          </a:p>
          <a:p>
            <a:r>
              <a:rPr lang="en-US" dirty="0"/>
              <a:t>Try accessing the Resource Group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Expected Output</a:t>
            </a:r>
          </a:p>
          <a:p>
            <a:r>
              <a:rPr lang="en-US" dirty="0"/>
              <a:t>Read-only access granted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Validation</a:t>
            </a:r>
          </a:p>
          <a:p>
            <a:r>
              <a:rPr lang="en-US" dirty="0"/>
              <a:t>User cannot create/delete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374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8321-BE4A-5DF8-CFC8-065066CE3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Built-in Roles vs Custom Roles (Azure RBAC)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962E8-ABDF-1BD4-440C-BC81ECEA6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0" y="68103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highlight>
                  <a:srgbClr val="FFFF00"/>
                </a:highlight>
              </a:rPr>
              <a:t>1️⃣ Built-in Roles (Provided by Microsoft)</a:t>
            </a:r>
          </a:p>
          <a:p>
            <a:pPr marL="0" indent="0">
              <a:buNone/>
            </a:pPr>
            <a:r>
              <a:rPr lang="en-US" sz="1600" b="1" dirty="0">
                <a:highlight>
                  <a:srgbClr val="FFFF00"/>
                </a:highlight>
              </a:rPr>
              <a:t> What are Built-in Roles?</a:t>
            </a:r>
          </a:p>
          <a:p>
            <a:r>
              <a:rPr lang="en-US" dirty="0"/>
              <a:t>Predefined by Microsoft</a:t>
            </a:r>
          </a:p>
          <a:p>
            <a:r>
              <a:rPr lang="en-US" dirty="0"/>
              <a:t>Ready to use</a:t>
            </a:r>
          </a:p>
          <a:p>
            <a:r>
              <a:rPr lang="en-US" dirty="0"/>
              <a:t>Cover most common scenarios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FC9B34-12D6-1FED-38A8-CC5BD840AB71}"/>
              </a:ext>
            </a:extLst>
          </p:cNvPr>
          <p:cNvGraphicFramePr>
            <a:graphicFrameLocks noGrp="1"/>
          </p:cNvGraphicFramePr>
          <p:nvPr/>
        </p:nvGraphicFramePr>
        <p:xfrm>
          <a:off x="100780" y="3429000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12104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16819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684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resources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731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Create/manage resources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38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access + role assignment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897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Blob Data Reader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blobs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518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Blob Data 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Read/write blobs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28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Virtual Machine 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Manage VMs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885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019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114A1-9D65-5878-42BB-80EF99723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/>
          </a:bodyPr>
          <a:lstStyle/>
          <a:p>
            <a:r>
              <a:rPr lang="en-IN" dirty="0"/>
              <a:t>2️⃣ Custom Roles (User-Defined)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🔹 What are Custom Roles?</a:t>
            </a:r>
          </a:p>
          <a:p>
            <a:r>
              <a:rPr lang="en-US" dirty="0"/>
              <a:t>Created by users</a:t>
            </a:r>
          </a:p>
          <a:p>
            <a:r>
              <a:rPr lang="en-US" dirty="0"/>
              <a:t>Define </a:t>
            </a:r>
            <a:r>
              <a:rPr lang="en-US" b="1" dirty="0"/>
              <a:t>exact permissions</a:t>
            </a:r>
            <a:endParaRPr lang="en-US" dirty="0"/>
          </a:p>
          <a:p>
            <a:r>
              <a:rPr lang="en-US" dirty="0"/>
              <a:t>Follow </a:t>
            </a:r>
            <a:r>
              <a:rPr lang="en-US" b="1" dirty="0"/>
              <a:t>least privilege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🔹 Why Custom Roles?</a:t>
            </a:r>
          </a:p>
          <a:p>
            <a:r>
              <a:rPr lang="en-US" dirty="0"/>
              <a:t>When built-in roles:</a:t>
            </a:r>
          </a:p>
          <a:p>
            <a:r>
              <a:rPr lang="en-US" dirty="0"/>
              <a:t>Give more permissions than required</a:t>
            </a:r>
          </a:p>
          <a:p>
            <a:r>
              <a:rPr lang="en-US" dirty="0"/>
              <a:t>Do not match security policy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🔹 Example Use Case</a:t>
            </a:r>
          </a:p>
          <a:p>
            <a:r>
              <a:rPr lang="en-US" dirty="0"/>
              <a:t>A user can </a:t>
            </a:r>
            <a:r>
              <a:rPr lang="en-US" b="1" dirty="0"/>
              <a:t>upload blobs</a:t>
            </a:r>
            <a:r>
              <a:rPr lang="en-US" dirty="0"/>
              <a:t> but </a:t>
            </a:r>
            <a:r>
              <a:rPr lang="en-US" b="1" dirty="0"/>
              <a:t>cannot delete</a:t>
            </a:r>
            <a:endParaRPr lang="en-US" dirty="0"/>
          </a:p>
          <a:p>
            <a:r>
              <a:rPr lang="en-US" dirty="0"/>
              <a:t>Built-in roles don’t support this exactly → </a:t>
            </a:r>
            <a:r>
              <a:rPr lang="en-US" b="1" dirty="0"/>
              <a:t>Custom role needed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730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53DB-40CA-A1D4-60E5-472D8827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48661"/>
          </a:xfrm>
        </p:spPr>
        <p:txBody>
          <a:bodyPr/>
          <a:lstStyle/>
          <a:p>
            <a:r>
              <a:rPr lang="en-IN" dirty="0"/>
              <a:t>CUSTOM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1FF06-8935-C6F1-3D24-A9EFC0469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950554"/>
            <a:ext cx="10515600" cy="58140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Example Custom Role Permissions</a:t>
            </a:r>
          </a:p>
          <a:p>
            <a:pPr marL="0" indent="0">
              <a:buNone/>
            </a:pPr>
            <a:r>
              <a:rPr lang="en-IN" b="1" i="1" dirty="0"/>
              <a:t>{</a:t>
            </a:r>
          </a:p>
          <a:p>
            <a:pPr marL="0" indent="0">
              <a:buNone/>
            </a:pPr>
            <a:r>
              <a:rPr lang="en-IN" b="1" i="1" dirty="0"/>
              <a:t>  "actions": [</a:t>
            </a:r>
          </a:p>
          <a:p>
            <a:pPr marL="0" indent="0">
              <a:buNone/>
            </a:pPr>
            <a:r>
              <a:rPr lang="en-IN" b="1" i="1" dirty="0"/>
              <a:t>    "</a:t>
            </a:r>
            <a:r>
              <a:rPr lang="en-IN" b="1" i="1" dirty="0" err="1"/>
              <a:t>Microsoft.Storage</a:t>
            </a:r>
            <a:r>
              <a:rPr lang="en-IN" b="1" i="1" dirty="0"/>
              <a:t>/</a:t>
            </a:r>
            <a:r>
              <a:rPr lang="en-IN" b="1" i="1" dirty="0" err="1"/>
              <a:t>storageAccounts</a:t>
            </a:r>
            <a:r>
              <a:rPr lang="en-IN" b="1" i="1" dirty="0"/>
              <a:t>/</a:t>
            </a:r>
            <a:r>
              <a:rPr lang="en-IN" b="1" i="1" dirty="0" err="1"/>
              <a:t>blobServices</a:t>
            </a:r>
            <a:r>
              <a:rPr lang="en-IN" b="1" i="1" dirty="0"/>
              <a:t>/containers/blobs/read",</a:t>
            </a:r>
          </a:p>
          <a:p>
            <a:pPr marL="0" indent="0">
              <a:buNone/>
            </a:pPr>
            <a:r>
              <a:rPr lang="en-IN" b="1" i="1" dirty="0"/>
              <a:t>    "</a:t>
            </a:r>
            <a:r>
              <a:rPr lang="en-IN" b="1" i="1" dirty="0" err="1"/>
              <a:t>Microsoft.Storage</a:t>
            </a:r>
            <a:r>
              <a:rPr lang="en-IN" b="1" i="1" dirty="0"/>
              <a:t>/</a:t>
            </a:r>
            <a:r>
              <a:rPr lang="en-IN" b="1" i="1" dirty="0" err="1"/>
              <a:t>storageAccounts</a:t>
            </a:r>
            <a:r>
              <a:rPr lang="en-IN" b="1" i="1" dirty="0"/>
              <a:t>/</a:t>
            </a:r>
            <a:r>
              <a:rPr lang="en-IN" b="1" i="1" dirty="0" err="1"/>
              <a:t>blobServices</a:t>
            </a:r>
            <a:r>
              <a:rPr lang="en-IN" b="1" i="1" dirty="0"/>
              <a:t>/containers/blobs/write"</a:t>
            </a:r>
          </a:p>
          <a:p>
            <a:pPr marL="0" indent="0">
              <a:buNone/>
            </a:pPr>
            <a:r>
              <a:rPr lang="en-IN" b="1" i="1" dirty="0"/>
              <a:t>  ],</a:t>
            </a:r>
          </a:p>
          <a:p>
            <a:pPr marL="0" indent="0">
              <a:buNone/>
            </a:pPr>
            <a:r>
              <a:rPr lang="en-IN" b="1" i="1" dirty="0"/>
              <a:t>  "</a:t>
            </a:r>
            <a:r>
              <a:rPr lang="en-IN" b="1" i="1" dirty="0" err="1"/>
              <a:t>notActions</a:t>
            </a:r>
            <a:r>
              <a:rPr lang="en-IN" b="1" i="1" dirty="0"/>
              <a:t>": [</a:t>
            </a:r>
          </a:p>
          <a:p>
            <a:pPr marL="0" indent="0">
              <a:buNone/>
            </a:pPr>
            <a:r>
              <a:rPr lang="en-IN" b="1" i="1" dirty="0"/>
              <a:t>    "</a:t>
            </a:r>
            <a:r>
              <a:rPr lang="en-IN" b="1" i="1" dirty="0" err="1"/>
              <a:t>Microsoft.Storage</a:t>
            </a:r>
            <a:r>
              <a:rPr lang="en-IN" b="1" i="1" dirty="0"/>
              <a:t>/</a:t>
            </a:r>
            <a:r>
              <a:rPr lang="en-IN" b="1" i="1" dirty="0" err="1"/>
              <a:t>storageAccounts</a:t>
            </a:r>
            <a:r>
              <a:rPr lang="en-IN" b="1" i="1" dirty="0"/>
              <a:t>/</a:t>
            </a:r>
            <a:r>
              <a:rPr lang="en-IN" b="1" i="1" dirty="0" err="1"/>
              <a:t>blobServices</a:t>
            </a:r>
            <a:r>
              <a:rPr lang="en-IN" b="1" i="1" dirty="0"/>
              <a:t>/containers/blobs/delete"</a:t>
            </a:r>
          </a:p>
          <a:p>
            <a:pPr marL="0" indent="0">
              <a:buNone/>
            </a:pPr>
            <a:r>
              <a:rPr lang="en-IN" b="1" i="1" dirty="0"/>
              <a:t>  ]</a:t>
            </a:r>
          </a:p>
          <a:p>
            <a:pPr marL="0" indent="0">
              <a:buNone/>
            </a:pPr>
            <a:r>
              <a:rPr lang="en-IN" b="1" i="1" dirty="0"/>
              <a:t>}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🔹 Scope of Custom Roles</a:t>
            </a:r>
          </a:p>
          <a:p>
            <a:r>
              <a:rPr lang="en-US" dirty="0"/>
              <a:t>Subscription</a:t>
            </a:r>
          </a:p>
          <a:p>
            <a:r>
              <a:rPr lang="en-US" dirty="0"/>
              <a:t>Resource Group</a:t>
            </a:r>
          </a:p>
          <a:p>
            <a:r>
              <a:rPr lang="en-US" dirty="0"/>
              <a:t>Management Group</a:t>
            </a:r>
          </a:p>
          <a:p>
            <a:r>
              <a:rPr lang="en-US" dirty="0"/>
              <a:t>⚠️ Cannot be created at </a:t>
            </a:r>
            <a:r>
              <a:rPr lang="en-US" b="1" dirty="0"/>
              <a:t>resource level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03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E1CD-8E46-991D-47BE-02C54381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🔷 Real-Time Example (Data Engineering)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8AAC1-F934-EDBC-23E2-44D18CA09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Scenario: Data Analyst</a:t>
            </a:r>
          </a:p>
          <a:p>
            <a:r>
              <a:rPr lang="en-IN" dirty="0"/>
              <a:t>Needs:</a:t>
            </a:r>
          </a:p>
          <a:p>
            <a:pPr lvl="1"/>
            <a:r>
              <a:rPr lang="en-IN" dirty="0"/>
              <a:t>Read blobs</a:t>
            </a:r>
          </a:p>
          <a:p>
            <a:pPr lvl="1"/>
            <a:r>
              <a:rPr lang="en-IN" dirty="0"/>
              <a:t>List containers</a:t>
            </a:r>
          </a:p>
          <a:p>
            <a:r>
              <a:rPr lang="en-IN" dirty="0"/>
              <a:t>Must NOT:</a:t>
            </a:r>
          </a:p>
          <a:p>
            <a:pPr lvl="1"/>
            <a:r>
              <a:rPr lang="en-IN" dirty="0"/>
              <a:t>Delete data</a:t>
            </a:r>
          </a:p>
          <a:p>
            <a:r>
              <a:rPr lang="en-IN" dirty="0"/>
              <a:t>✔️ Built-in role gives delete → ❌</a:t>
            </a:r>
            <a:br>
              <a:rPr lang="en-IN" dirty="0"/>
            </a:br>
            <a:r>
              <a:rPr lang="en-IN" dirty="0"/>
              <a:t>✔️ Custom role created → ✅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512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0016-C65B-FF55-3CF2-A3A131EC6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91345"/>
          </a:xfrm>
        </p:spPr>
        <p:txBody>
          <a:bodyPr>
            <a:normAutofit fontScale="90000"/>
          </a:bodyPr>
          <a:lstStyle/>
          <a:p>
            <a:r>
              <a:rPr lang="en-US" dirty="0"/>
              <a:t>Task 5: Built-in Roles vs Custom Roles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32383-74BB-A5A0-4616-8EB5ADC91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17" y="1019379"/>
            <a:ext cx="10515600" cy="5253601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Create Custom Role</a:t>
            </a:r>
          </a:p>
          <a:p>
            <a:r>
              <a:rPr lang="en-IN" dirty="0"/>
              <a:t>Subscription → </a:t>
            </a:r>
            <a:r>
              <a:rPr lang="en-IN" b="1" dirty="0"/>
              <a:t>Access Control (IAM)</a:t>
            </a:r>
            <a:endParaRPr lang="en-IN" dirty="0"/>
          </a:p>
          <a:p>
            <a:r>
              <a:rPr lang="en-IN" dirty="0"/>
              <a:t>Roles → </a:t>
            </a:r>
            <a:r>
              <a:rPr lang="en-IN" b="1" dirty="0"/>
              <a:t>+ Create custom role</a:t>
            </a:r>
            <a:endParaRPr lang="en-IN" dirty="0"/>
          </a:p>
          <a:p>
            <a:r>
              <a:rPr lang="en-IN" dirty="0"/>
              <a:t>Name: Custom-VM-Start-Stop</a:t>
            </a:r>
          </a:p>
          <a:p>
            <a:r>
              <a:rPr lang="en-IN" dirty="0"/>
              <a:t>Permissions:</a:t>
            </a:r>
          </a:p>
          <a:p>
            <a:pPr lvl="1"/>
            <a:r>
              <a:rPr lang="en-IN" dirty="0" err="1"/>
              <a:t>Microsoft.Compute</a:t>
            </a:r>
            <a:r>
              <a:rPr lang="en-IN" dirty="0"/>
              <a:t>/</a:t>
            </a:r>
            <a:r>
              <a:rPr lang="en-IN" dirty="0" err="1"/>
              <a:t>virtualMachines</a:t>
            </a:r>
            <a:r>
              <a:rPr lang="en-IN" dirty="0"/>
              <a:t>/start/action</a:t>
            </a:r>
          </a:p>
          <a:p>
            <a:pPr lvl="1"/>
            <a:r>
              <a:rPr lang="en-IN" dirty="0" err="1"/>
              <a:t>Microsoft.Compute</a:t>
            </a:r>
            <a:r>
              <a:rPr lang="en-IN" dirty="0"/>
              <a:t>/</a:t>
            </a:r>
            <a:r>
              <a:rPr lang="en-IN" dirty="0" err="1"/>
              <a:t>virtualMachines</a:t>
            </a:r>
            <a:r>
              <a:rPr lang="en-IN" dirty="0"/>
              <a:t>/deallocate/action</a:t>
            </a:r>
          </a:p>
          <a:p>
            <a:r>
              <a:rPr lang="en-IN" dirty="0"/>
              <a:t>Assign role to user</a:t>
            </a:r>
          </a:p>
          <a:p>
            <a:r>
              <a:rPr lang="en-IN" b="1" dirty="0"/>
              <a:t>Expected Output</a:t>
            </a:r>
          </a:p>
          <a:p>
            <a:r>
              <a:rPr lang="en-IN" dirty="0"/>
              <a:t>Custom role visible and assigned</a:t>
            </a:r>
          </a:p>
          <a:p>
            <a:r>
              <a:rPr lang="en-IN" b="1" dirty="0"/>
              <a:t>Validation</a:t>
            </a:r>
          </a:p>
          <a:p>
            <a:r>
              <a:rPr lang="en-IN" dirty="0"/>
              <a:t>User can start/stop VM</a:t>
            </a:r>
          </a:p>
          <a:p>
            <a:r>
              <a:rPr lang="en-IN" dirty="0"/>
              <a:t>User cannot delete VM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460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ABD9-D84D-6B7A-6849-8059C3F9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768326"/>
          </a:xfrm>
        </p:spPr>
        <p:txBody>
          <a:bodyPr/>
          <a:lstStyle/>
          <a:p>
            <a:r>
              <a:rPr lang="en-IN" dirty="0"/>
              <a:t>🔐 Conditional Access Policies – Microsoft Entra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9D394-99A3-081C-523F-2EB492C7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57030"/>
            <a:ext cx="12191999" cy="568271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🔷 What is Conditional Access?</a:t>
            </a:r>
          </a:p>
          <a:p>
            <a:r>
              <a:rPr lang="en-US" b="1" dirty="0"/>
              <a:t>Conditional Access (CA)</a:t>
            </a:r>
            <a:r>
              <a:rPr lang="en-US" dirty="0"/>
              <a:t> is a </a:t>
            </a:r>
            <a:r>
              <a:rPr lang="en-US" b="1" dirty="0"/>
              <a:t>policy engine</a:t>
            </a:r>
            <a:r>
              <a:rPr lang="en-US" dirty="0"/>
              <a:t> in Microsoft Entra ID that </a:t>
            </a:r>
            <a:r>
              <a:rPr lang="en-US" b="1" dirty="0"/>
              <a:t>controls access based on conditions</a:t>
            </a:r>
            <a:r>
              <a:rPr lang="en-US" dirty="0"/>
              <a:t>.</a:t>
            </a:r>
          </a:p>
          <a:p>
            <a:r>
              <a:rPr lang="en-US" dirty="0"/>
              <a:t>In simple words:</a:t>
            </a:r>
            <a:br>
              <a:rPr lang="en-US" dirty="0"/>
            </a:br>
            <a:r>
              <a:rPr lang="en-US" b="1" dirty="0"/>
              <a:t>Allow access ONLY if conditions are met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🔷 Why Conditional Access Is Needed</a:t>
            </a:r>
          </a:p>
          <a:p>
            <a:r>
              <a:rPr lang="en-US" dirty="0"/>
              <a:t>✔️ Protects against stolen passwords</a:t>
            </a:r>
            <a:br>
              <a:rPr lang="en-US" dirty="0"/>
            </a:br>
            <a:r>
              <a:rPr lang="en-US" dirty="0"/>
              <a:t>✔️ Enforces MFA only when needed</a:t>
            </a:r>
            <a:br>
              <a:rPr lang="en-US" dirty="0"/>
            </a:br>
            <a:r>
              <a:rPr lang="en-US" dirty="0"/>
              <a:t>✔️ Controls access by location, device, risk</a:t>
            </a:r>
            <a:br>
              <a:rPr lang="en-US" dirty="0"/>
            </a:br>
            <a:r>
              <a:rPr lang="en-US" dirty="0"/>
              <a:t>✔️ Core of </a:t>
            </a:r>
            <a:r>
              <a:rPr lang="en-US" b="1" dirty="0"/>
              <a:t>Zero Trust Security</a:t>
            </a:r>
          </a:p>
          <a:p>
            <a:pPr marL="0" indent="0">
              <a:buNone/>
            </a:pPr>
            <a:r>
              <a:rPr lang="en-US" b="1" dirty="0"/>
              <a:t>🔷 How Conditional Access Works (Flow)</a:t>
            </a:r>
          </a:p>
          <a:p>
            <a:r>
              <a:rPr lang="en-US" dirty="0"/>
              <a:t>User / App tries to sign in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Entra ID authenticates user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Conditional Access evaluates conditions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Access allowed / blocked / challenged (MFA)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495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53615-2CB4-5100-4F0E-B654739BF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980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🔷 Core Components of a CA Policy (VERY IMPORTANT)</a:t>
            </a:r>
          </a:p>
          <a:p>
            <a:pPr marL="0" indent="0">
              <a:buNone/>
            </a:pPr>
            <a:r>
              <a:rPr lang="en-IN" b="1" dirty="0"/>
              <a:t>1️⃣ Assignments (WHO &amp; WHAT)</a:t>
            </a:r>
          </a:p>
          <a:p>
            <a:r>
              <a:rPr lang="en-IN" b="1" dirty="0"/>
              <a:t>👤 Users / Groups</a:t>
            </a:r>
          </a:p>
          <a:p>
            <a:r>
              <a:rPr lang="en-IN" dirty="0"/>
              <a:t>All users</a:t>
            </a:r>
          </a:p>
          <a:p>
            <a:r>
              <a:rPr lang="en-IN" dirty="0"/>
              <a:t>Selected users</a:t>
            </a:r>
          </a:p>
          <a:p>
            <a:r>
              <a:rPr lang="en-IN" dirty="0"/>
              <a:t>Exclude break-glass admin</a:t>
            </a:r>
          </a:p>
          <a:p>
            <a:endParaRPr lang="en-IN" dirty="0"/>
          </a:p>
          <a:p>
            <a:r>
              <a:rPr lang="en-IN" b="1" dirty="0"/>
              <a:t>📱 Cloud Apps</a:t>
            </a:r>
          </a:p>
          <a:p>
            <a:r>
              <a:rPr lang="en-IN" dirty="0"/>
              <a:t>Azure Portal</a:t>
            </a:r>
          </a:p>
          <a:p>
            <a:r>
              <a:rPr lang="en-IN" dirty="0"/>
              <a:t>Office 365</a:t>
            </a:r>
          </a:p>
          <a:p>
            <a:r>
              <a:rPr lang="en-IN" dirty="0"/>
              <a:t>Custom apps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2️⃣ Conditions (WHEN / WHERE)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065B22-7F91-0763-1EC0-54C7753A7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83584"/>
              </p:ext>
            </p:extLst>
          </p:nvPr>
        </p:nvGraphicFramePr>
        <p:xfrm>
          <a:off x="208936" y="4456318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967241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71363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359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 access from outside India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918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 only compliant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07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Sign-in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risk → 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143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Windows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37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Client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Browser / 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044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608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D659B-3DDB-1507-CC14-E32EA122F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Conditional Access vs RBAC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635589-17B0-381E-C463-EF683ABA9D4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306374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613824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705464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Conditional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RBAC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12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005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you sign in?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can you do?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151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Applied when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During 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After 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6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210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C9CC-D892-6CAC-E717-FBBF335E9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12319819" cy="546101"/>
          </a:xfrm>
        </p:spPr>
        <p:txBody>
          <a:bodyPr>
            <a:normAutofit fontScale="90000"/>
          </a:bodyPr>
          <a:lstStyle/>
          <a:p>
            <a:r>
              <a:rPr lang="en-IN" dirty="0"/>
              <a:t>Conditional Access Policies – Microsoft Entra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474D-B7DE-109D-AD9F-CFE7E411C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3️⃣ Access Controls (WHAT TO DO)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6618FC-F766-B2DD-DF78-D3E1A6EAA9E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954446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73187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62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Grant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3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 MFA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187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 compliant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40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Block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0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66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E88D-361A-F09E-579F-3B70E5A6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Conditional Access Policies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D55CD-51ED-BEF5-3E8B-DE4CEEE26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Steps</a:t>
            </a:r>
          </a:p>
          <a:p>
            <a:r>
              <a:rPr lang="en-IN" dirty="0"/>
              <a:t>Entra ID → </a:t>
            </a:r>
            <a:r>
              <a:rPr lang="en-IN" b="1" dirty="0"/>
              <a:t>Security</a:t>
            </a:r>
            <a:r>
              <a:rPr lang="en-IN" dirty="0"/>
              <a:t> → </a:t>
            </a:r>
            <a:r>
              <a:rPr lang="en-IN" b="1" dirty="0"/>
              <a:t>Conditional Access</a:t>
            </a:r>
            <a:endParaRPr lang="en-IN" dirty="0"/>
          </a:p>
          <a:p>
            <a:r>
              <a:rPr lang="en-IN" dirty="0"/>
              <a:t>Create policy:</a:t>
            </a:r>
          </a:p>
          <a:p>
            <a:pPr lvl="1"/>
            <a:r>
              <a:rPr lang="en-IN" dirty="0"/>
              <a:t>Users: iam.user1</a:t>
            </a:r>
          </a:p>
          <a:p>
            <a:pPr lvl="1"/>
            <a:r>
              <a:rPr lang="en-IN" dirty="0"/>
              <a:t>Cloud apps: All</a:t>
            </a:r>
          </a:p>
          <a:p>
            <a:pPr lvl="1"/>
            <a:r>
              <a:rPr lang="en-IN" dirty="0"/>
              <a:t>Condition: Location (Any)</a:t>
            </a:r>
          </a:p>
          <a:p>
            <a:pPr lvl="1"/>
            <a:r>
              <a:rPr lang="en-IN" dirty="0"/>
              <a:t>Access control: Require MFA</a:t>
            </a:r>
          </a:p>
          <a:p>
            <a:r>
              <a:rPr lang="en-IN" dirty="0"/>
              <a:t>Enable policy</a:t>
            </a:r>
          </a:p>
          <a:p>
            <a:r>
              <a:rPr lang="en-IN" b="1" dirty="0"/>
              <a:t>Expected Output</a:t>
            </a:r>
          </a:p>
          <a:p>
            <a:r>
              <a:rPr lang="en-IN" dirty="0"/>
              <a:t>Conditional access policy enabled</a:t>
            </a:r>
          </a:p>
          <a:p>
            <a:r>
              <a:rPr lang="en-IN" b="1" dirty="0"/>
              <a:t>Validation</a:t>
            </a:r>
          </a:p>
          <a:p>
            <a:r>
              <a:rPr lang="en-IN" dirty="0"/>
              <a:t>User prompted for MFA at next login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859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3294-7B7E-5ECC-91E5-D655D050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🔐 MFA Setup – Microsoft Entra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C101C-A165-318C-F787-45BFE76F8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🔷 What is MFA?</a:t>
            </a:r>
          </a:p>
          <a:p>
            <a:r>
              <a:rPr lang="en-US" b="1" dirty="0"/>
              <a:t>Multi-Factor Authentication (MFA)</a:t>
            </a:r>
            <a:r>
              <a:rPr lang="en-US" dirty="0"/>
              <a:t> requires </a:t>
            </a:r>
            <a:r>
              <a:rPr lang="en-US" b="1" dirty="0"/>
              <a:t>more than one verification method</a:t>
            </a:r>
            <a:r>
              <a:rPr lang="en-US" dirty="0"/>
              <a:t> to sign in.</a:t>
            </a:r>
          </a:p>
          <a:p>
            <a:r>
              <a:rPr lang="en-US" dirty="0"/>
              <a:t>Something you </a:t>
            </a:r>
            <a:r>
              <a:rPr lang="en-US" b="1" dirty="0"/>
              <a:t>know</a:t>
            </a:r>
            <a:r>
              <a:rPr lang="en-US" dirty="0"/>
              <a:t> (password)</a:t>
            </a:r>
          </a:p>
          <a:p>
            <a:r>
              <a:rPr lang="en-US" dirty="0"/>
              <a:t>Something you </a:t>
            </a:r>
            <a:r>
              <a:rPr lang="en-US" b="1" dirty="0"/>
              <a:t>have</a:t>
            </a:r>
            <a:r>
              <a:rPr lang="en-US" dirty="0"/>
              <a:t> (OTP / Authenticator app)</a:t>
            </a:r>
          </a:p>
          <a:p>
            <a:endParaRPr lang="en-IN" dirty="0"/>
          </a:p>
          <a:p>
            <a:r>
              <a:rPr lang="en-US" b="1" dirty="0"/>
              <a:t>🔷 Why MFA is Important</a:t>
            </a:r>
          </a:p>
          <a:p>
            <a:r>
              <a:rPr lang="en-US" dirty="0"/>
              <a:t>✔️ Protects against stolen passwords</a:t>
            </a:r>
            <a:br>
              <a:rPr lang="en-US" dirty="0"/>
            </a:br>
            <a:r>
              <a:rPr lang="en-US" dirty="0"/>
              <a:t>✔️ Mandatory for admins (best practice)</a:t>
            </a:r>
            <a:br>
              <a:rPr lang="en-US" dirty="0"/>
            </a:br>
            <a:r>
              <a:rPr lang="en-US" dirty="0"/>
              <a:t>✔️ Required by many compliance standards</a:t>
            </a:r>
            <a:br>
              <a:rPr lang="en-US" dirty="0"/>
            </a:br>
            <a:r>
              <a:rPr lang="en-US" dirty="0"/>
              <a:t>✔️ Core part of </a:t>
            </a:r>
            <a:r>
              <a:rPr lang="en-US" b="1" dirty="0"/>
              <a:t>Zero Trust Security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539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99DD-4918-3D59-ED02-BE170D0C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Task 7: Multi-Factor Authentication (MFA) Setup Steps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DACF-D43A-AD24-2FD4-C1DD2FB7C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7870"/>
            <a:ext cx="11887200" cy="55289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METHOD 1: MFA Setup for a User (Manual)</a:t>
            </a:r>
            <a:r>
              <a:rPr lang="en-IN" dirty="0"/>
              <a:t>Entra ID → </a:t>
            </a:r>
            <a:r>
              <a:rPr lang="en-IN" b="1" dirty="0"/>
              <a:t>Users</a:t>
            </a:r>
            <a:r>
              <a:rPr lang="en-IN" dirty="0"/>
              <a:t> → Select user</a:t>
            </a:r>
          </a:p>
          <a:p>
            <a:r>
              <a:rPr lang="en-IN" b="1" dirty="0"/>
              <a:t>Step-by-Step:</a:t>
            </a:r>
          </a:p>
          <a:p>
            <a:r>
              <a:rPr lang="en-IN" dirty="0"/>
              <a:t>Login to </a:t>
            </a:r>
            <a:r>
              <a:rPr lang="en-IN" b="1" dirty="0">
                <a:hlinkClick r:id="rId2"/>
              </a:rPr>
              <a:t>https://portal.azure.com</a:t>
            </a:r>
            <a:endParaRPr lang="en-IN" dirty="0"/>
          </a:p>
          <a:p>
            <a:r>
              <a:rPr lang="en-IN" dirty="0"/>
              <a:t>Go to </a:t>
            </a:r>
            <a:r>
              <a:rPr lang="en-IN" b="1" dirty="0"/>
              <a:t>Microsoft Entra ID</a:t>
            </a:r>
            <a:endParaRPr lang="en-IN" dirty="0"/>
          </a:p>
          <a:p>
            <a:r>
              <a:rPr lang="en-IN" dirty="0"/>
              <a:t>Select </a:t>
            </a:r>
            <a:r>
              <a:rPr lang="en-IN" b="1" dirty="0"/>
              <a:t>Users</a:t>
            </a:r>
            <a:endParaRPr lang="en-IN" dirty="0"/>
          </a:p>
          <a:p>
            <a:r>
              <a:rPr lang="en-IN" dirty="0"/>
              <a:t>Click the user</a:t>
            </a:r>
          </a:p>
          <a:p>
            <a:r>
              <a:rPr lang="en-IN" dirty="0"/>
              <a:t>Click </a:t>
            </a:r>
            <a:r>
              <a:rPr lang="en-IN" b="1" dirty="0"/>
              <a:t>Authentication methods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+ Add authentication method</a:t>
            </a:r>
            <a:endParaRPr lang="en-IN" dirty="0"/>
          </a:p>
          <a:p>
            <a:r>
              <a:rPr lang="en-IN" dirty="0"/>
              <a:t>Choose:</a:t>
            </a:r>
          </a:p>
          <a:p>
            <a:pPr lvl="1"/>
            <a:r>
              <a:rPr lang="en-IN" dirty="0"/>
              <a:t>Microsoft Authenticator</a:t>
            </a:r>
          </a:p>
          <a:p>
            <a:pPr lvl="1"/>
            <a:r>
              <a:rPr lang="en-IN" dirty="0"/>
              <a:t>SMS / Phone</a:t>
            </a:r>
          </a:p>
          <a:p>
            <a:r>
              <a:rPr lang="en-IN" dirty="0"/>
              <a:t>Save</a:t>
            </a:r>
          </a:p>
          <a:p>
            <a:r>
              <a:rPr lang="en-IN" dirty="0"/>
              <a:t>➡️ User will be prompted to complete MFA on next login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290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B9B9-C2EB-466A-8150-61C69634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MFA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7738-C350-C4A7-691E-65EAFA407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1343817"/>
            <a:ext cx="10515600" cy="526345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METHOD 2: MFA Using Conditional Access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Step-by-Step:</a:t>
            </a:r>
          </a:p>
          <a:p>
            <a:r>
              <a:rPr lang="en-US" dirty="0"/>
              <a:t>Azure Portal → </a:t>
            </a:r>
            <a:r>
              <a:rPr lang="en-US" b="1" dirty="0"/>
              <a:t>Microsoft Entra ID</a:t>
            </a:r>
            <a:endParaRPr lang="en-US" dirty="0"/>
          </a:p>
          <a:p>
            <a:r>
              <a:rPr lang="en-US" dirty="0"/>
              <a:t>Go to </a:t>
            </a:r>
            <a:r>
              <a:rPr lang="en-US" b="1" dirty="0"/>
              <a:t>Security</a:t>
            </a:r>
            <a:endParaRPr lang="en-US" dirty="0"/>
          </a:p>
          <a:p>
            <a:r>
              <a:rPr lang="en-US" dirty="0"/>
              <a:t>Click </a:t>
            </a:r>
            <a:r>
              <a:rPr lang="en-US" b="1" dirty="0"/>
              <a:t>Conditional Access</a:t>
            </a:r>
            <a:endParaRPr lang="en-US" dirty="0"/>
          </a:p>
          <a:p>
            <a:r>
              <a:rPr lang="en-US" dirty="0"/>
              <a:t>Click </a:t>
            </a:r>
            <a:r>
              <a:rPr lang="en-US" b="1" dirty="0"/>
              <a:t>+ Create new policy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190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1982-B4E2-5098-D238-5AE36D12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Errors &amp; Troubleshooting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494438-3FB4-A542-F2B9-98C1C320DB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701991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13121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25866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54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denied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Role not assigned at correct 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Assign at RG / Subscription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72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MFA not triggered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 policy disabled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Enable policy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121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auth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Secret expired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Regenerate secret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626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can’t 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License missing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Assign Entra ID license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534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813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5B9F9-B2C4-931B-03B0-66C9D3EE2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🔹 Configure Policy</a:t>
            </a:r>
          </a:p>
          <a:p>
            <a:pPr marL="0" indent="0">
              <a:buNone/>
            </a:pPr>
            <a:r>
              <a:rPr lang="en-IN" b="1" dirty="0"/>
              <a:t>1️⃣ Assignments</a:t>
            </a:r>
            <a:endParaRPr lang="en-IN" dirty="0"/>
          </a:p>
          <a:p>
            <a:r>
              <a:rPr lang="en-IN" dirty="0"/>
              <a:t>Users:</a:t>
            </a:r>
          </a:p>
          <a:p>
            <a:pPr lvl="1"/>
            <a:r>
              <a:rPr lang="en-IN" dirty="0"/>
              <a:t>Select users or groups</a:t>
            </a:r>
          </a:p>
          <a:p>
            <a:pPr lvl="1"/>
            <a:r>
              <a:rPr lang="en-IN" dirty="0"/>
              <a:t>Exclude break-glass admin</a:t>
            </a:r>
          </a:p>
          <a:p>
            <a:r>
              <a:rPr lang="en-IN" dirty="0"/>
              <a:t>Cloud apps:</a:t>
            </a:r>
          </a:p>
          <a:p>
            <a:pPr lvl="1"/>
            <a:r>
              <a:rPr lang="en-IN" dirty="0"/>
              <a:t>Azure Management / All cloud apps</a:t>
            </a:r>
          </a:p>
          <a:p>
            <a:pPr marL="0" indent="0">
              <a:buNone/>
            </a:pPr>
            <a:r>
              <a:rPr lang="en-IN" b="1" dirty="0"/>
              <a:t>2️⃣ Conditions (Optional)</a:t>
            </a:r>
            <a:endParaRPr lang="en-IN" dirty="0"/>
          </a:p>
          <a:p>
            <a:r>
              <a:rPr lang="en-IN" dirty="0"/>
              <a:t>Location</a:t>
            </a:r>
          </a:p>
          <a:p>
            <a:r>
              <a:rPr lang="en-IN" dirty="0"/>
              <a:t>Device</a:t>
            </a:r>
          </a:p>
          <a:p>
            <a:r>
              <a:rPr lang="en-IN" dirty="0"/>
              <a:t>Risk</a:t>
            </a:r>
          </a:p>
          <a:p>
            <a:pPr marL="0" indent="0">
              <a:buNone/>
            </a:pPr>
            <a:r>
              <a:rPr lang="en-IN" b="1" dirty="0"/>
              <a:t>3️⃣ Access Controls</a:t>
            </a:r>
            <a:endParaRPr lang="en-IN" dirty="0"/>
          </a:p>
          <a:p>
            <a:r>
              <a:rPr lang="en-IN" dirty="0"/>
              <a:t>Grant access</a:t>
            </a:r>
          </a:p>
          <a:p>
            <a:r>
              <a:rPr lang="en-IN" dirty="0"/>
              <a:t>✅ Require multi-factor authentication</a:t>
            </a:r>
          </a:p>
          <a:p>
            <a:pPr marL="0" indent="0">
              <a:buNone/>
            </a:pPr>
            <a:r>
              <a:rPr lang="en-IN" b="1" dirty="0"/>
              <a:t>4️⃣ Enable Policy</a:t>
            </a:r>
            <a:endParaRPr lang="en-IN" dirty="0"/>
          </a:p>
          <a:p>
            <a:r>
              <a:rPr lang="en-IN" dirty="0"/>
              <a:t>Start with </a:t>
            </a:r>
            <a:r>
              <a:rPr lang="en-IN" b="1" dirty="0"/>
              <a:t>Report-only</a:t>
            </a:r>
            <a:endParaRPr lang="en-IN" dirty="0"/>
          </a:p>
          <a:p>
            <a:r>
              <a:rPr lang="en-IN" dirty="0"/>
              <a:t>Then turn </a:t>
            </a:r>
            <a:r>
              <a:rPr lang="en-IN" b="1" dirty="0"/>
              <a:t>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90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1785</Words>
  <Application>Microsoft Office PowerPoint</Application>
  <PresentationFormat>Widescreen</PresentationFormat>
  <Paragraphs>431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Setting up Azure Environment – Identity &amp; Access Management Basics</vt:lpstr>
      <vt:lpstr>PowerPoint Presentation</vt:lpstr>
      <vt:lpstr>Task 1: Azure Active Directory (Entra ID) Fundamentals</vt:lpstr>
      <vt:lpstr>MICROSOFT ENTRA</vt:lpstr>
      <vt:lpstr>Components of Microsoft Entra</vt:lpstr>
      <vt:lpstr>MICROSOFT ENTRA</vt:lpstr>
      <vt:lpstr>Microsoft Entra ID: Users, Groups &amp; Service Principals</vt:lpstr>
      <vt:lpstr>PowerPoint Presentation</vt:lpstr>
      <vt:lpstr>MI VS SP</vt:lpstr>
      <vt:lpstr>Task 2: Create Users and Groups</vt:lpstr>
      <vt:lpstr>Task 3: Service Principals &amp; App Registration</vt:lpstr>
      <vt:lpstr>TASK 4: RBAC</vt:lpstr>
      <vt:lpstr>Core RBAC Components (VERY IMPORTANT) </vt:lpstr>
      <vt:lpstr>TASK 4: RBAC</vt:lpstr>
      <vt:lpstr>TASK4 : RBAC</vt:lpstr>
      <vt:lpstr>RBAC</vt:lpstr>
      <vt:lpstr>Task 4: Role-Based Access Control (RBAC)</vt:lpstr>
      <vt:lpstr>Built-in Roles vs Custom Roles (Azure RBAC)</vt:lpstr>
      <vt:lpstr>PowerPoint Presentation</vt:lpstr>
      <vt:lpstr>CUSTOM ROLES</vt:lpstr>
      <vt:lpstr>🔷 Real-Time Example (Data Engineering) </vt:lpstr>
      <vt:lpstr>Task 5: Built-in Roles vs Custom Roles</vt:lpstr>
      <vt:lpstr>🔐 Conditional Access Policies – Microsoft Entra ID</vt:lpstr>
      <vt:lpstr>PowerPoint Presentation</vt:lpstr>
      <vt:lpstr>PowerPoint Presentation</vt:lpstr>
      <vt:lpstr>Conditional Access Policies – Microsoft Entra ID</vt:lpstr>
      <vt:lpstr>Task 6: Conditional Access Policies</vt:lpstr>
      <vt:lpstr>🔐 MFA Setup – Microsoft Entra ID</vt:lpstr>
      <vt:lpstr>Task 7: Multi-Factor Authentication (MFA) Setup Steps </vt:lpstr>
      <vt:lpstr>MFA SETUP</vt:lpstr>
      <vt:lpstr>Common Errors &amp; Troubleshooting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34</cp:revision>
  <dcterms:created xsi:type="dcterms:W3CDTF">2025-12-15T03:24:10Z</dcterms:created>
  <dcterms:modified xsi:type="dcterms:W3CDTF">2026-01-05T23:41:24Z</dcterms:modified>
</cp:coreProperties>
</file>